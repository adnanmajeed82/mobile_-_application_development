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B8BE2-808F-4DFB-6459-409C98F48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94257-55BB-7324-4CB4-5EA6A79EA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A77C4-E93C-5B62-06D9-EE2B647AE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762B-E885-4044-AC02-16F6EC40FCF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19BAC-3224-B7E2-CE38-BCA28CE04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5BE49-E912-6E22-77E4-BEE3394CC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0E6F-BDD9-4974-AE92-47A81A0B1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5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CB488-1EDB-C654-EE3B-C1241AAC0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64777-88C9-F5C9-D5AE-FDD37EB17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85D8A-B67A-D6DC-B090-C1D69BEC4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762B-E885-4044-AC02-16F6EC40FCF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F9EB5-6A15-F2FE-E4A3-26C4BA611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24A61-5F51-82EE-9DD8-03F039373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0E6F-BDD9-4974-AE92-47A81A0B1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645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E64C-F08B-42F5-6B61-7C8133FCE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68F99-3E8E-50E1-419A-13F39DE49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8F7E5-7AA1-AC01-63F8-B683EE471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762B-E885-4044-AC02-16F6EC40FCF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FFE69-A03A-3FDA-1620-7B61E377C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887E8-5C67-F790-3FDE-CE0FC4407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0E6F-BDD9-4974-AE92-47A81A0B1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74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9DC49-3B31-A0BE-49DC-9C821AF66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37234-2145-3DD2-7998-BF59D3D0BC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44C1E-2EDA-45E5-C9EB-00DF56A2E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E1BEC-D08F-CC8B-41A5-43DB9434B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762B-E885-4044-AC02-16F6EC40FCF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10747-B516-D607-423F-54C8B6186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E13FE-6FA5-9973-00D4-2620FFCF8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0E6F-BDD9-4974-AE92-47A81A0B1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863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0BBE6-1263-3348-FED7-8C3E83EEC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E7C4A-AF84-7A20-930E-A6DC09EB5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E28187-FBC4-DE61-80E3-4AF5042E6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A58E2D-845D-6637-2D45-2492D8768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0C8606-9894-E8CD-5B82-4C4E48DF3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CCE40A-D353-CFAD-4448-535686D43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762B-E885-4044-AC02-16F6EC40FCF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3599E8-3895-7BB4-06C8-959190E7A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8F6081-B361-4337-6456-5594C6511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0E6F-BDD9-4974-AE92-47A81A0B1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90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EE21-2015-5188-1121-CA64B74C2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EE0AE-82C5-836E-F10A-66DA818E3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762B-E885-4044-AC02-16F6EC40FCF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8D5B93-7E68-2458-2DB9-BC73809FF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FB53C1-3BA0-1A75-10B6-655ED8DCE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0E6F-BDD9-4974-AE92-47A81A0B1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62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00DCF7-A066-7F6B-94BE-4584D869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762B-E885-4044-AC02-16F6EC40FCF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20A3A4-F0F9-1192-CD4E-29AD21663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0DC37-20C3-4BA8-6526-69CEADF7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0E6F-BDD9-4974-AE92-47A81A0B1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72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2C779-5D73-7D10-D90B-2A2415FD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69AEC-DC0F-2D8E-841A-612E88748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2D2BA-C660-FB9E-0E0D-BFFEA5107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E75304-335C-F97A-0FD6-9DFB30A3D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762B-E885-4044-AC02-16F6EC40FCF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F83C6-12E3-369F-92CD-7D688481B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99EFF-F50F-F43E-FAD2-8A9E7F545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0E6F-BDD9-4974-AE92-47A81A0B1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09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F1B4-2C67-108F-3B31-8FC4C2B22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00E355-66B5-9B74-B15D-546BC2C275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1F92B4-5DB1-1146-6ED1-2D62FDBE4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248A2-59CA-3A5E-E8B9-3BA126F76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762B-E885-4044-AC02-16F6EC40FCF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22F7B-CCA3-202C-D612-AD7B026C7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557EED-0D65-FECE-DF44-1684A765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0E6F-BDD9-4974-AE92-47A81A0B1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97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07CEB-4D85-3A21-22AB-33E35A10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D58061-90E7-8EA9-E4C4-EAADC565A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CADFC-E9CD-B444-6BE0-B363DA547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762B-E885-4044-AC02-16F6EC40FCF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594A8-E4DE-EF6A-3C63-D54B461C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91BEF-42A2-2C19-BF1F-4E4100C9D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0E6F-BDD9-4974-AE92-47A81A0B1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187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6DC77F-9766-A998-1465-549E620A39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329B9F-16BC-11AB-89C0-4758EEA56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128B6-CAAE-72CC-4089-F5D8AD302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762B-E885-4044-AC02-16F6EC40FCF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28380-2D59-83D9-B168-B290EF0D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3FD34-3E2F-5D4B-1F02-9C648FD10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50E6F-BDD9-4974-AE92-47A81A0B1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872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7BA38A-4374-3D87-9707-D40113969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36EE5-1713-611F-F454-16E90F451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0F995-4D17-522C-03B5-AE33AA3AFE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6762B-E885-4044-AC02-16F6EC40FCF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C3098-5D9C-E23A-7AE5-7517DE1C49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50B4F-647B-A0D9-5EBF-930E04FDE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50E6F-BDD9-4974-AE92-47A81A0B1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5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14FCC-42EE-D8CF-91BB-1A73CED65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8871" y="328617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3100" b="1" dirty="0"/>
              <a:t>Course: Mobile &amp; Application Development</a:t>
            </a:r>
            <a:br>
              <a:rPr lang="en-US" sz="3100" b="1" dirty="0"/>
            </a:br>
            <a:r>
              <a:rPr lang="en-US" sz="3100" b="1" dirty="0"/>
              <a:t>Semester:</a:t>
            </a:r>
            <a:r>
              <a:rPr lang="en-US" sz="3100" dirty="0"/>
              <a:t> BSCS 7th</a:t>
            </a:r>
            <a:br>
              <a:rPr lang="en-US" sz="3100" dirty="0"/>
            </a:br>
            <a:r>
              <a:rPr lang="en-US" sz="3100" b="1" dirty="0"/>
              <a:t>Instructor:</a:t>
            </a:r>
            <a:r>
              <a:rPr lang="en-US" sz="3100" dirty="0"/>
              <a:t> Adnan Majeed</a:t>
            </a:r>
            <a:br>
              <a:rPr lang="en-US" sz="3100" dirty="0"/>
            </a:br>
            <a:r>
              <a:rPr lang="en-US" sz="3100" b="1" dirty="0"/>
              <a:t>University:</a:t>
            </a:r>
            <a:r>
              <a:rPr lang="en-US" sz="3100" dirty="0"/>
              <a:t> GC University Faisalabad (Lahore Campus)</a:t>
            </a:r>
            <a:br>
              <a:rPr lang="en-US" sz="3100" dirty="0"/>
            </a:br>
            <a:br>
              <a:rPr lang="en-US" sz="4400" dirty="0"/>
            </a:br>
            <a:r>
              <a:rPr lang="en-US" sz="4400" dirty="0"/>
              <a:t>Components of Screen &amp; Adapting to Display Orientation</a:t>
            </a:r>
            <a:br>
              <a:rPr lang="en-US" sz="4400" dirty="0"/>
            </a:br>
            <a:r>
              <a:rPr lang="en-US" sz="4400" b="1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179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B4238-95E4-E868-C62E-932083AB4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F4268-BC90-9A22-D0A5-24B1FFED2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💡 Objective</a:t>
            </a:r>
          </a:p>
          <a:p>
            <a:r>
              <a:rPr lang="en-US" dirty="0"/>
              <a:t>To create, design, and deploy an Android app demonstrating:</a:t>
            </a:r>
          </a:p>
          <a:p>
            <a:r>
              <a:rPr lang="en-US" b="1" dirty="0"/>
              <a:t>Screen Components</a:t>
            </a:r>
            <a:r>
              <a:rPr lang="en-US" dirty="0"/>
              <a:t> (</a:t>
            </a:r>
            <a:r>
              <a:rPr lang="en-US" dirty="0" err="1"/>
              <a:t>TextView</a:t>
            </a:r>
            <a:r>
              <a:rPr lang="en-US" dirty="0"/>
              <a:t>, Button, Layouts)</a:t>
            </a:r>
          </a:p>
          <a:p>
            <a:r>
              <a:rPr lang="en-US" b="1" dirty="0"/>
              <a:t>Adapting to Display Orientation</a:t>
            </a:r>
            <a:r>
              <a:rPr lang="en-US" dirty="0"/>
              <a:t> (Portrait &amp; Landscape handling)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085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34BD8-646A-416E-22A6-E92213D0B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 Major Screen Components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5FA3DF-9541-08B9-DD55-4CD91DE6485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28109" y="1825625"/>
          <a:ext cx="8935782" cy="4351337"/>
        </p:xfrm>
        <a:graphic>
          <a:graphicData uri="http://schemas.openxmlformats.org/drawingml/2006/table">
            <a:tbl>
              <a:tblPr/>
              <a:tblGrid>
                <a:gridCol w="2978594">
                  <a:extLst>
                    <a:ext uri="{9D8B030D-6E8A-4147-A177-3AD203B41FA5}">
                      <a16:colId xmlns:a16="http://schemas.microsoft.com/office/drawing/2014/main" val="2407693951"/>
                    </a:ext>
                  </a:extLst>
                </a:gridCol>
                <a:gridCol w="2978594">
                  <a:extLst>
                    <a:ext uri="{9D8B030D-6E8A-4147-A177-3AD203B41FA5}">
                      <a16:colId xmlns:a16="http://schemas.microsoft.com/office/drawing/2014/main" val="4095698271"/>
                    </a:ext>
                  </a:extLst>
                </a:gridCol>
                <a:gridCol w="2978594">
                  <a:extLst>
                    <a:ext uri="{9D8B030D-6E8A-4147-A177-3AD203B41FA5}">
                      <a16:colId xmlns:a16="http://schemas.microsoft.com/office/drawing/2014/main" val="1415394526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Component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Description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Example XML Tag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589567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1. View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Basic building block of UI (e.g., TextView, Button, ImageView).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urier New" panose="02070309020205020404" pitchFamily="49" charset="0"/>
                        </a:rPr>
                        <a:t>&lt;TextView&gt;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328898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2. ViewGroup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Container that holds other Views (e.g., LinearLayout, RelativeLayout).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urier New" panose="02070309020205020404" pitchFamily="49" charset="0"/>
                        </a:rPr>
                        <a:t>&lt;LinearLayout&gt;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778473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3. Layouts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Define how elements are arranged on the screen.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urier New" panose="02070309020205020404" pitchFamily="49" charset="0"/>
                        </a:rPr>
                        <a:t>&lt;ConstraintLayout&gt;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135048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4. Widgets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Interactive elements such as Buttons, Checkboxes, EditTexts.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urier New" panose="02070309020205020404" pitchFamily="49" charset="0"/>
                        </a:rPr>
                        <a:t>&lt;Button&gt;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86952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5. Fragments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Reusable portions of UI; represent part of an activity’s interface.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urier New" panose="02070309020205020404" pitchFamily="49" charset="0"/>
                        </a:rPr>
                        <a:t>&lt;fragment&gt;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06647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6. Resources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External elements like strings, colors, dimensions, and drawables.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urier New" panose="02070309020205020404" pitchFamily="49" charset="0"/>
                        </a:rPr>
                        <a:t>@string/app_name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468098"/>
                  </a:ext>
                </a:extLst>
              </a:tr>
              <a:tr h="777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7. Menus</a:t>
                      </a:r>
                      <a:endParaRPr lang="en-US" sz="150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Provide navigation and user actions (options, context, or popup menus).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Courier New" panose="02070309020205020404" pitchFamily="49" charset="0"/>
                        </a:rPr>
                        <a:t>&lt;menu&gt;</a:t>
                      </a:r>
                      <a:endParaRPr lang="en-US" sz="1500" dirty="0"/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912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650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962B2-703B-BFA1-1DCF-DA556653E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1.2 Common Layout Types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D8D11A-B58A-CA03-809D-1E894E8DAB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059591"/>
              </p:ext>
            </p:extLst>
          </p:nvPr>
        </p:nvGraphicFramePr>
        <p:xfrm>
          <a:off x="838200" y="2302159"/>
          <a:ext cx="10515600" cy="24688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56910851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225394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Layout Type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Purpose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469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LinearLayout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Arranges children in a single row or column.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360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RelativeLayout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Positions elements relative to each other.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688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ConstraintLayout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Flexible layout using constraints for responsive design.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419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FrameLayout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Holds a single child view (commonly used for fragments).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69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TableLayout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Organizes UI components into rows and columns.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2152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1210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176C-C0B1-E5C8-F8B6-4F5E40F66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8DDE8-8D46-4BE2-8C81-0A9F4CB6D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1.4 Important Screen Components in an Activity</a:t>
            </a:r>
          </a:p>
          <a:p>
            <a:r>
              <a:rPr lang="en-US" b="1" dirty="0"/>
              <a:t>Status Bar:</a:t>
            </a:r>
            <a:r>
              <a:rPr lang="en-US" dirty="0"/>
              <a:t> Shows time, battery, and network info.</a:t>
            </a:r>
          </a:p>
          <a:p>
            <a:r>
              <a:rPr lang="en-US" b="1" dirty="0"/>
              <a:t>Action Bar (App Bar):</a:t>
            </a:r>
            <a:r>
              <a:rPr lang="en-US" dirty="0"/>
              <a:t> Displays app title, navigation, and menu icons.</a:t>
            </a:r>
          </a:p>
          <a:p>
            <a:r>
              <a:rPr lang="en-US" b="1" dirty="0"/>
              <a:t>Content Area:</a:t>
            </a:r>
            <a:r>
              <a:rPr lang="en-US" dirty="0"/>
              <a:t> Main part of the screen where layout resides.</a:t>
            </a:r>
          </a:p>
          <a:p>
            <a:r>
              <a:rPr lang="en-US" b="1" dirty="0"/>
              <a:t>Navigation Bar:</a:t>
            </a:r>
            <a:r>
              <a:rPr lang="en-US" dirty="0"/>
              <a:t> Provides system navigation (Back, Home, Recent Apps).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37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8C767-5930-A022-51F6-DB9FCCED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103EB-01AF-5BA4-7530-5DEDB6AB9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Adapting to Display Orientation</a:t>
            </a:r>
          </a:p>
          <a:p>
            <a:r>
              <a:rPr lang="en-US" dirty="0"/>
              <a:t>Mobile devices can operate in </a:t>
            </a:r>
            <a:r>
              <a:rPr lang="en-US" b="1" dirty="0"/>
              <a:t>two orientations</a:t>
            </a:r>
            <a:r>
              <a:rPr lang="en-US" dirty="0"/>
              <a:t>:</a:t>
            </a:r>
          </a:p>
          <a:p>
            <a:r>
              <a:rPr lang="en-US" b="1" dirty="0"/>
              <a:t>Portrait:</a:t>
            </a:r>
            <a:r>
              <a:rPr lang="en-US" dirty="0"/>
              <a:t> Vertical orientation (default)</a:t>
            </a:r>
          </a:p>
          <a:p>
            <a:r>
              <a:rPr lang="en-US" b="1" dirty="0"/>
              <a:t>Landscape:</a:t>
            </a:r>
            <a:r>
              <a:rPr lang="en-US" dirty="0"/>
              <a:t> Horizontal orientation</a:t>
            </a:r>
          </a:p>
          <a:p>
            <a:r>
              <a:rPr lang="en-US" dirty="0"/>
              <a:t>Android provides tools to </a:t>
            </a:r>
            <a:r>
              <a:rPr lang="en-US" b="1" dirty="0"/>
              <a:t>adapt UI layouts automatically</a:t>
            </a:r>
            <a:r>
              <a:rPr lang="en-US" dirty="0"/>
              <a:t> when the orientation changes.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814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80240-464A-E951-8FD3-9062A169A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EAA32-E85C-F50C-D174-C9E237565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2.1 Orientation Concepts</a:t>
            </a:r>
          </a:p>
          <a:p>
            <a:r>
              <a:rPr lang="en-US" b="1" dirty="0"/>
              <a:t>Portrait Mode:</a:t>
            </a:r>
            <a:r>
              <a:rPr lang="en-US" dirty="0"/>
              <a:t> Height &gt; Width</a:t>
            </a:r>
          </a:p>
          <a:p>
            <a:r>
              <a:rPr lang="en-US" b="1" dirty="0"/>
              <a:t>Landscape Mode:</a:t>
            </a:r>
            <a:r>
              <a:rPr lang="en-US" dirty="0"/>
              <a:t> Width &gt; Height</a:t>
            </a:r>
          </a:p>
          <a:p>
            <a:r>
              <a:rPr lang="en-US" dirty="0"/>
              <a:t>When the device rotates, Android may </a:t>
            </a:r>
            <a:r>
              <a:rPr lang="en-US" b="1" dirty="0"/>
              <a:t>recreate the Activity</a:t>
            </a:r>
            <a:r>
              <a:rPr lang="en-US" dirty="0"/>
              <a:t> to load resources suitable for that orientation.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275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3AAFB-04E1-256A-5737-F780889D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38209-4D39-B163-20AC-2535E36F1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2.2 Handling Orientation Change</a:t>
            </a:r>
          </a:p>
          <a:p>
            <a:r>
              <a:rPr lang="en-US" dirty="0"/>
              <a:t>There are </a:t>
            </a:r>
            <a:r>
              <a:rPr lang="en-US" b="1" dirty="0"/>
              <a:t>three main approaches</a:t>
            </a:r>
            <a:r>
              <a:rPr lang="en-US" dirty="0"/>
              <a:t>:</a:t>
            </a:r>
          </a:p>
          <a:p>
            <a:r>
              <a:rPr lang="en-US" b="1" dirty="0"/>
              <a:t>1. Separate Layout Files</a:t>
            </a:r>
          </a:p>
          <a:p>
            <a:r>
              <a:rPr lang="en-US" dirty="0"/>
              <a:t>Create two XML layout files:</a:t>
            </a:r>
          </a:p>
          <a:p>
            <a:r>
              <a:rPr lang="en-US" dirty="0"/>
              <a:t>res/layout/activity_main.xml (for portrait)</a:t>
            </a:r>
          </a:p>
          <a:p>
            <a:r>
              <a:rPr lang="en-US" dirty="0"/>
              <a:t>res/layout-land/activity_main.xml (for landscape)</a:t>
            </a:r>
          </a:p>
          <a:p>
            <a:r>
              <a:rPr lang="en-US" dirty="0"/>
              <a:t>👉 Android will automatically switch between them when orientation changes.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707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C0026-6CDA-E30E-EC1A-9DD318C6B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Directory Structure: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D5535-45DE-4B7E-1271-D729C2A4B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res/</a:t>
            </a:r>
          </a:p>
          <a:p>
            <a:r>
              <a:rPr lang="en-US" dirty="0"/>
              <a:t> ├── layout/activity_main.xml</a:t>
            </a:r>
          </a:p>
          <a:p>
            <a:r>
              <a:rPr lang="en-US" dirty="0"/>
              <a:t> └── layout-land/activity_main.xml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890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BB306-ED71-02C7-A30D-1AB7AE9A2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DD80B-FE23-E0D1-6347-0317ED652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🧩 Part 1: Setting Up Android Studio Project</a:t>
            </a:r>
          </a:p>
          <a:p>
            <a:r>
              <a:rPr lang="en-US" b="1" dirty="0"/>
              <a:t>Step 1: Open Android Studio</a:t>
            </a:r>
          </a:p>
          <a:p>
            <a:r>
              <a:rPr lang="en-US" dirty="0"/>
              <a:t>Launch </a:t>
            </a:r>
            <a:r>
              <a:rPr lang="en-US" b="1" dirty="0"/>
              <a:t>Android Studio (Otter | 2025.2.1 or later)</a:t>
            </a:r>
            <a:r>
              <a:rPr lang="en-US" dirty="0"/>
              <a:t>.</a:t>
            </a:r>
          </a:p>
          <a:p>
            <a:r>
              <a:rPr lang="en-US" dirty="0"/>
              <a:t>Click </a:t>
            </a:r>
            <a:r>
              <a:rPr lang="en-US" b="1" dirty="0"/>
              <a:t>“New Project” → “Empty Activity.”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490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AF99-2521-0BCE-07AB-8B43B51BA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Configure Your Project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92957E-1BDC-E466-5696-ED44568F3F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3417578"/>
              </p:ext>
            </p:extLst>
          </p:nvPr>
        </p:nvGraphicFramePr>
        <p:xfrm>
          <a:off x="838200" y="2139516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9390631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578133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43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Name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ScreenComponentsApp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799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Package Name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com.example.screencomponentsapp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838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Language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Java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963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Minimum SDK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API 24: Android 7.0 (Nougat)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163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Check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“Use Legacy Support Library” if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2856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ED02E7D-D15D-4995-C0CE-27FE449928BB}"/>
              </a:ext>
            </a:extLst>
          </p:cNvPr>
          <p:cNvSpPr txBox="1"/>
          <p:nvPr/>
        </p:nvSpPr>
        <p:spPr>
          <a:xfrm>
            <a:off x="2492115" y="4934475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Click </a:t>
            </a:r>
            <a:r>
              <a:rPr lang="en-US" b="1" dirty="0"/>
              <a:t>Finish</a:t>
            </a:r>
            <a:r>
              <a:rPr lang="en-US" dirty="0"/>
              <a:t> to create the project.</a:t>
            </a:r>
          </a:p>
        </p:txBody>
      </p:sp>
    </p:spTree>
    <p:extLst>
      <p:ext uri="{BB962C8B-B14F-4D97-AF65-F5344CB8AC3E}">
        <p14:creationId xmlns:p14="http://schemas.microsoft.com/office/powerpoint/2010/main" val="1154553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61BCF-03AB-4472-6ACE-3B0C589FC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Project Structure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4574E-3F74-571A-61F4-EE7B7AD97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ScreenComponentsApp</a:t>
            </a:r>
            <a:r>
              <a:rPr lang="en-US" dirty="0"/>
              <a:t>/</a:t>
            </a:r>
          </a:p>
          <a:p>
            <a:r>
              <a:rPr lang="en-US" dirty="0"/>
              <a:t> ├── app/</a:t>
            </a:r>
          </a:p>
          <a:p>
            <a:r>
              <a:rPr lang="en-US" dirty="0"/>
              <a:t> │   ├── </a:t>
            </a:r>
            <a:r>
              <a:rPr lang="en-US" dirty="0" err="1"/>
              <a:t>src</a:t>
            </a:r>
            <a:r>
              <a:rPr lang="en-US" dirty="0"/>
              <a:t>/</a:t>
            </a:r>
          </a:p>
          <a:p>
            <a:r>
              <a:rPr lang="en-US" dirty="0"/>
              <a:t> │   │   ├── main/</a:t>
            </a:r>
          </a:p>
          <a:p>
            <a:r>
              <a:rPr lang="en-US" dirty="0"/>
              <a:t> │   │   │   ├── java/com/example/</a:t>
            </a:r>
            <a:r>
              <a:rPr lang="en-US" dirty="0" err="1"/>
              <a:t>screencomponentsapp</a:t>
            </a:r>
            <a:r>
              <a:rPr lang="en-US" dirty="0"/>
              <a:t>/MainActivity.java</a:t>
            </a:r>
          </a:p>
          <a:p>
            <a:r>
              <a:rPr lang="en-US" dirty="0"/>
              <a:t> │   │   │   ├── res/</a:t>
            </a:r>
          </a:p>
          <a:p>
            <a:r>
              <a:rPr lang="en-US" dirty="0"/>
              <a:t> │   │   │   │   ├── layout/activity_main.xml</a:t>
            </a:r>
          </a:p>
          <a:p>
            <a:r>
              <a:rPr lang="en-US" dirty="0"/>
              <a:t> │   │   │   │   ├── layout-land/activity_main.xml</a:t>
            </a:r>
          </a:p>
          <a:p>
            <a:r>
              <a:rPr lang="en-US" dirty="0"/>
              <a:t> │   │   │   │   ├── values/strings.xml</a:t>
            </a:r>
          </a:p>
          <a:p>
            <a:r>
              <a:rPr lang="en-US" dirty="0"/>
              <a:t> │   │   │   │   └── values/colors.xml</a:t>
            </a:r>
          </a:p>
          <a:p>
            <a:r>
              <a:rPr lang="en-US" dirty="0"/>
              <a:t> │   │   └── AndroidManifest.xml</a:t>
            </a:r>
          </a:p>
          <a:p>
            <a:r>
              <a:rPr lang="en-US" dirty="0"/>
              <a:t> ├── </a:t>
            </a:r>
            <a:r>
              <a:rPr lang="en-US" dirty="0" err="1"/>
              <a:t>gradle</a:t>
            </a:r>
            <a:r>
              <a:rPr lang="en-US" dirty="0"/>
              <a:t>/</a:t>
            </a:r>
          </a:p>
          <a:p>
            <a:r>
              <a:rPr lang="en-US" dirty="0"/>
              <a:t> └── </a:t>
            </a:r>
            <a:r>
              <a:rPr lang="en-US" dirty="0" err="1"/>
              <a:t>build.gradle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785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31BC1-A525-D04F-FB75-DC60E695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🧱 </a:t>
            </a:r>
            <a:r>
              <a:rPr lang="en-US" b="1" dirty="0"/>
              <a:t>Part 2: Designing Screen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10F29-D16F-E3B6-55B5-0698FC3AC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Step 4: Open activity_main.xml (Portrait Layout)</a:t>
            </a:r>
          </a:p>
          <a:p>
            <a:r>
              <a:rPr lang="en-US" dirty="0"/>
              <a:t>&lt;?xml version="1.0" encoding="utf-8"?&gt;</a:t>
            </a:r>
          </a:p>
          <a:p>
            <a:r>
              <a:rPr lang="en-US" dirty="0"/>
              <a:t>&lt;</a:t>
            </a:r>
            <a:r>
              <a:rPr lang="en-US" dirty="0" err="1"/>
              <a:t>LinearLayout</a:t>
            </a:r>
            <a:r>
              <a:rPr lang="en-US" dirty="0"/>
              <a:t> </a:t>
            </a:r>
            <a:r>
              <a:rPr lang="en-US" dirty="0" err="1"/>
              <a:t>xmlns:android</a:t>
            </a:r>
            <a:r>
              <a:rPr lang="en-US" dirty="0"/>
              <a:t>="http://schemas.android.com/</a:t>
            </a:r>
            <a:r>
              <a:rPr lang="en-US" dirty="0" err="1"/>
              <a:t>apk</a:t>
            </a:r>
            <a:r>
              <a:rPr lang="en-US" dirty="0"/>
              <a:t>/res/android"</a:t>
            </a:r>
          </a:p>
          <a:p>
            <a:r>
              <a:rPr lang="en-US" dirty="0"/>
              <a:t>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android:orientation</a:t>
            </a:r>
            <a:r>
              <a:rPr lang="en-US" dirty="0"/>
              <a:t>="vertical"</a:t>
            </a:r>
          </a:p>
          <a:p>
            <a:r>
              <a:rPr lang="en-US" dirty="0"/>
              <a:t>    </a:t>
            </a:r>
            <a:r>
              <a:rPr lang="en-US" dirty="0" err="1"/>
              <a:t>android:gravity</a:t>
            </a:r>
            <a:r>
              <a:rPr lang="en-US" dirty="0"/>
              <a:t>="center"</a:t>
            </a:r>
          </a:p>
          <a:p>
            <a:r>
              <a:rPr lang="en-US" dirty="0"/>
              <a:t>    </a:t>
            </a:r>
            <a:r>
              <a:rPr lang="en-US" dirty="0" err="1"/>
              <a:t>android:padding</a:t>
            </a:r>
            <a:r>
              <a:rPr lang="en-US" dirty="0"/>
              <a:t>="16dp"</a:t>
            </a:r>
          </a:p>
          <a:p>
            <a:r>
              <a:rPr lang="en-US" dirty="0"/>
              <a:t>    </a:t>
            </a:r>
            <a:r>
              <a:rPr lang="en-US" dirty="0" err="1"/>
              <a:t>android:background</a:t>
            </a:r>
            <a:r>
              <a:rPr lang="en-US" dirty="0"/>
              <a:t>="#E8EAF6"&gt;</a:t>
            </a:r>
          </a:p>
          <a:p>
            <a:endParaRPr lang="en-US" dirty="0"/>
          </a:p>
          <a:p>
            <a:r>
              <a:rPr lang="en-US" dirty="0"/>
              <a:t>    &lt;</a:t>
            </a:r>
            <a:r>
              <a:rPr lang="en-US" dirty="0" err="1"/>
              <a:t>TextView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tvMessage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</a:t>
            </a:r>
            <a:r>
              <a:rPr lang="en-US" dirty="0"/>
              <a:t>="Welcome to Mobile App Development!"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android:textSize</a:t>
            </a:r>
            <a:r>
              <a:rPr lang="en-US" dirty="0"/>
              <a:t>="20sp"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android:textStyle</a:t>
            </a:r>
            <a:r>
              <a:rPr lang="en-US" dirty="0"/>
              <a:t>="bold"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android:textColor</a:t>
            </a:r>
            <a:r>
              <a:rPr lang="en-US" dirty="0"/>
              <a:t>="#000000"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android:layout_marginBottom</a:t>
            </a:r>
            <a:r>
              <a:rPr lang="en-US" dirty="0"/>
              <a:t>="20dp" /&gt;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8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02273-E756-0469-F15F-CB5CD3B26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77E5E-B01D-5110-8BD6-6C2DF966F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    &lt;Button</a:t>
            </a:r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btnClick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</a:t>
            </a:r>
            <a:r>
              <a:rPr lang="en-US" dirty="0"/>
              <a:t>="Click Me"</a:t>
            </a:r>
          </a:p>
          <a:p>
            <a:r>
              <a:rPr lang="en-US" dirty="0"/>
              <a:t>        </a:t>
            </a:r>
            <a:r>
              <a:rPr lang="en-US" dirty="0" err="1"/>
              <a:t>android:backgroundTint</a:t>
            </a:r>
            <a:r>
              <a:rPr lang="en-US" dirty="0"/>
              <a:t>="#3949AB"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android:textColor</a:t>
            </a:r>
            <a:r>
              <a:rPr lang="en-US" dirty="0"/>
              <a:t>="#FFFFFF" /&gt;</a:t>
            </a:r>
          </a:p>
          <a:p>
            <a:r>
              <a:rPr lang="en-US" dirty="0"/>
              <a:t>&lt;/</a:t>
            </a:r>
            <a:r>
              <a:rPr lang="en-US" dirty="0" err="1"/>
              <a:t>LinearLayout</a:t>
            </a:r>
            <a:r>
              <a:rPr lang="en-US" dirty="0"/>
              <a:t>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846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76CE3-12EC-516A-E583-A527115F0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73E96-6A09-41AF-0ADF-E5E9A245D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Explanation:</a:t>
            </a:r>
            <a:endParaRPr lang="en-US" dirty="0"/>
          </a:p>
          <a:p>
            <a:r>
              <a:rPr lang="en-US" dirty="0" err="1"/>
              <a:t>LinearLayout</a:t>
            </a:r>
            <a:r>
              <a:rPr lang="en-US" dirty="0"/>
              <a:t> is the </a:t>
            </a:r>
            <a:r>
              <a:rPr lang="en-US" b="1" dirty="0"/>
              <a:t>container layout</a:t>
            </a:r>
            <a:r>
              <a:rPr lang="en-US" dirty="0"/>
              <a:t> (</a:t>
            </a:r>
            <a:r>
              <a:rPr lang="en-US" dirty="0" err="1"/>
              <a:t>ViewGroup</a:t>
            </a:r>
            <a:r>
              <a:rPr lang="en-US" dirty="0"/>
              <a:t>).</a:t>
            </a:r>
          </a:p>
          <a:p>
            <a:r>
              <a:rPr lang="en-US" dirty="0" err="1"/>
              <a:t>TextView</a:t>
            </a:r>
            <a:r>
              <a:rPr lang="en-US" dirty="0"/>
              <a:t> and Button are </a:t>
            </a:r>
            <a:r>
              <a:rPr lang="en-US" b="1" dirty="0"/>
              <a:t>UI components</a:t>
            </a:r>
            <a:r>
              <a:rPr lang="en-US" dirty="0"/>
              <a:t> (Views).</a:t>
            </a:r>
          </a:p>
          <a:p>
            <a:r>
              <a:rPr lang="en-US" dirty="0"/>
              <a:t>These are </a:t>
            </a:r>
            <a:r>
              <a:rPr lang="en-US" b="1" dirty="0"/>
              <a:t>screen components</a:t>
            </a:r>
            <a:r>
              <a:rPr lang="en-US" dirty="0"/>
              <a:t> forming the interface.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561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1B81-7AE1-F6E9-7D32-A8271CFB9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Create Landscape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0A19E-A411-0F9D-BE60-9A75A8D33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Right-click on res/layout → </a:t>
            </a:r>
            <a:r>
              <a:rPr lang="en-US" b="1" dirty="0"/>
              <a:t>New → Layout Resource File</a:t>
            </a:r>
            <a:br>
              <a:rPr lang="en-US" dirty="0"/>
            </a:br>
            <a:r>
              <a:rPr lang="en-US" dirty="0"/>
              <a:t>Name: activity_main.xml</a:t>
            </a:r>
            <a:br>
              <a:rPr lang="en-US" dirty="0"/>
            </a:br>
            <a:r>
              <a:rPr lang="en-US" dirty="0"/>
              <a:t>→ Click </a:t>
            </a:r>
            <a:r>
              <a:rPr lang="en-US" b="1" dirty="0"/>
              <a:t>Available Qualifiers → Orientation → Landscape → OK</a:t>
            </a:r>
            <a:endParaRPr lang="en-US" dirty="0"/>
          </a:p>
          <a:p>
            <a:r>
              <a:rPr lang="en-US" dirty="0"/>
              <a:t>Now edit the layout for </a:t>
            </a:r>
            <a:r>
              <a:rPr lang="en-US" b="1" dirty="0"/>
              <a:t>landscape mode</a:t>
            </a:r>
            <a:r>
              <a:rPr lang="en-US" dirty="0"/>
              <a:t> (res/layout-land/activity_main.xml):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635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5A24E-82BA-70A7-F7FC-53570DAAD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9567"/>
            <a:ext cx="10515600" cy="5517396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&lt;?xml version="1.0" encoding="utf-8"?&gt;</a:t>
            </a:r>
          </a:p>
          <a:p>
            <a:r>
              <a:rPr lang="en-US" dirty="0"/>
              <a:t>&lt;</a:t>
            </a:r>
            <a:r>
              <a:rPr lang="en-US" dirty="0" err="1"/>
              <a:t>LinearLayout</a:t>
            </a:r>
            <a:r>
              <a:rPr lang="en-US" dirty="0"/>
              <a:t> </a:t>
            </a:r>
            <a:r>
              <a:rPr lang="en-US" dirty="0" err="1"/>
              <a:t>xmlns:android</a:t>
            </a:r>
            <a:r>
              <a:rPr lang="en-US" dirty="0"/>
              <a:t>="http://schemas.android.com/</a:t>
            </a:r>
            <a:r>
              <a:rPr lang="en-US" dirty="0" err="1"/>
              <a:t>apk</a:t>
            </a:r>
            <a:r>
              <a:rPr lang="en-US" dirty="0"/>
              <a:t>/res/android"</a:t>
            </a:r>
          </a:p>
          <a:p>
            <a:r>
              <a:rPr lang="en-US" dirty="0"/>
              <a:t>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android:orientation</a:t>
            </a:r>
            <a:r>
              <a:rPr lang="en-US" dirty="0"/>
              <a:t>="horizontal"</a:t>
            </a:r>
          </a:p>
          <a:p>
            <a:r>
              <a:rPr lang="en-US" dirty="0"/>
              <a:t>    </a:t>
            </a:r>
            <a:r>
              <a:rPr lang="en-US" dirty="0" err="1"/>
              <a:t>android:gravity</a:t>
            </a:r>
            <a:r>
              <a:rPr lang="en-US" dirty="0"/>
              <a:t>="center"</a:t>
            </a:r>
          </a:p>
          <a:p>
            <a:r>
              <a:rPr lang="en-US" dirty="0"/>
              <a:t>    </a:t>
            </a:r>
            <a:r>
              <a:rPr lang="en-US" dirty="0" err="1"/>
              <a:t>android:background</a:t>
            </a:r>
            <a:r>
              <a:rPr lang="en-US" dirty="0"/>
              <a:t>="#C5CAE9"</a:t>
            </a:r>
          </a:p>
          <a:p>
            <a:r>
              <a:rPr lang="en-US" dirty="0"/>
              <a:t>    </a:t>
            </a:r>
            <a:r>
              <a:rPr lang="en-US" dirty="0" err="1"/>
              <a:t>android:padding</a:t>
            </a:r>
            <a:r>
              <a:rPr lang="en-US" dirty="0"/>
              <a:t>="16dp"&gt;</a:t>
            </a:r>
          </a:p>
          <a:p>
            <a:endParaRPr lang="en-US" dirty="0"/>
          </a:p>
          <a:p>
            <a:r>
              <a:rPr lang="en-US" dirty="0"/>
              <a:t>    &lt;</a:t>
            </a:r>
            <a:r>
              <a:rPr lang="en-US" dirty="0" err="1"/>
              <a:t>ImageView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="120dp"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="120dp"</a:t>
            </a:r>
          </a:p>
          <a:p>
            <a:r>
              <a:rPr lang="en-US" dirty="0"/>
              <a:t>        </a:t>
            </a:r>
            <a:r>
              <a:rPr lang="en-US" dirty="0" err="1"/>
              <a:t>android:src</a:t>
            </a:r>
            <a:r>
              <a:rPr lang="en-US" dirty="0"/>
              <a:t>="@mipmap/</a:t>
            </a:r>
            <a:r>
              <a:rPr lang="en-US" dirty="0" err="1"/>
              <a:t>ic_launcher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android:layout_marginEnd</a:t>
            </a:r>
            <a:r>
              <a:rPr lang="en-US" dirty="0"/>
              <a:t>="20dp" /&gt;</a:t>
            </a:r>
          </a:p>
          <a:p>
            <a:endParaRPr lang="en-US" dirty="0"/>
          </a:p>
          <a:p>
            <a:r>
              <a:rPr lang="en-US" dirty="0"/>
              <a:t>    &lt;</a:t>
            </a:r>
            <a:r>
              <a:rPr lang="en-US" dirty="0" err="1"/>
              <a:t>LinearLayout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android:orientation</a:t>
            </a:r>
            <a:r>
              <a:rPr lang="en-US" dirty="0"/>
              <a:t>="vertical"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"&gt;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917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69B8D-7214-C811-735D-A7BDF1EB6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302"/>
            <a:ext cx="10515600" cy="511266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 &lt;</a:t>
            </a:r>
            <a:r>
              <a:rPr lang="en-US" dirty="0" err="1"/>
              <a:t>TextView</a:t>
            </a:r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tvMessage</a:t>
            </a:r>
            <a:r>
              <a:rPr lang="en-US" dirty="0"/>
              <a:t>"</a:t>
            </a:r>
          </a:p>
          <a:p>
            <a:r>
              <a:rPr lang="en-US" dirty="0"/>
              <a:t>            </a:t>
            </a:r>
            <a:r>
              <a:rPr lang="en-US" dirty="0" err="1"/>
              <a:t>android:text</a:t>
            </a:r>
            <a:r>
              <a:rPr lang="en-US" dirty="0"/>
              <a:t>="Landscape Orientation Active!"</a:t>
            </a:r>
          </a:p>
          <a:p>
            <a:r>
              <a:rPr lang="en-US" dirty="0"/>
              <a:t>            </a:t>
            </a:r>
            <a:r>
              <a:rPr lang="en-US" dirty="0" err="1"/>
              <a:t>android:textSize</a:t>
            </a:r>
            <a:r>
              <a:rPr lang="en-US" dirty="0"/>
              <a:t>="18sp"</a:t>
            </a:r>
          </a:p>
          <a:p>
            <a:r>
              <a:rPr lang="en-US" dirty="0"/>
              <a:t>            </a:t>
            </a:r>
            <a:r>
              <a:rPr lang="en-US" dirty="0" err="1"/>
              <a:t>android:textColor</a:t>
            </a:r>
            <a:r>
              <a:rPr lang="en-US" dirty="0"/>
              <a:t>="#000000" /&gt;</a:t>
            </a:r>
          </a:p>
          <a:p>
            <a:endParaRPr lang="en-US" dirty="0"/>
          </a:p>
          <a:p>
            <a:r>
              <a:rPr lang="en-US" dirty="0"/>
              <a:t>        &lt;Button</a:t>
            </a:r>
          </a:p>
          <a:p>
            <a:r>
              <a:rPr lang="en-US" dirty="0"/>
              <a:t>    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btnClick</a:t>
            </a:r>
            <a:r>
              <a:rPr lang="en-US" dirty="0"/>
              <a:t>"</a:t>
            </a:r>
          </a:p>
          <a:p>
            <a:r>
              <a:rPr lang="en-US" dirty="0"/>
              <a:t>    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    </a:t>
            </a:r>
            <a:r>
              <a:rPr lang="en-US" dirty="0" err="1"/>
              <a:t>android:text</a:t>
            </a:r>
            <a:r>
              <a:rPr lang="en-US" dirty="0"/>
              <a:t>="Click Me"</a:t>
            </a:r>
          </a:p>
          <a:p>
            <a:r>
              <a:rPr lang="en-US" dirty="0"/>
              <a:t>            </a:t>
            </a:r>
            <a:r>
              <a:rPr lang="en-US" dirty="0" err="1"/>
              <a:t>android:backgroundTint</a:t>
            </a:r>
            <a:r>
              <a:rPr lang="en-US" dirty="0"/>
              <a:t>="#1A237E"</a:t>
            </a:r>
          </a:p>
          <a:p>
            <a:r>
              <a:rPr lang="en-US" dirty="0"/>
              <a:t>            </a:t>
            </a:r>
            <a:r>
              <a:rPr lang="en-US" dirty="0" err="1"/>
              <a:t>android:textColor</a:t>
            </a:r>
            <a:r>
              <a:rPr lang="en-US" dirty="0"/>
              <a:t>="#FFFFFF"</a:t>
            </a:r>
          </a:p>
          <a:p>
            <a:r>
              <a:rPr lang="en-US" dirty="0"/>
              <a:t>            </a:t>
            </a:r>
            <a:r>
              <a:rPr lang="en-US" dirty="0" err="1"/>
              <a:t>android:layout_marginTop</a:t>
            </a:r>
            <a:r>
              <a:rPr lang="en-US" dirty="0"/>
              <a:t>="12dp" /&gt;</a:t>
            </a:r>
          </a:p>
          <a:p>
            <a:r>
              <a:rPr lang="en-US" dirty="0"/>
              <a:t>    &lt;/</a:t>
            </a:r>
            <a:r>
              <a:rPr lang="en-US" dirty="0" err="1"/>
              <a:t>LinearLayout</a:t>
            </a:r>
            <a:r>
              <a:rPr lang="en-US" dirty="0"/>
              <a:t>&gt;</a:t>
            </a:r>
          </a:p>
          <a:p>
            <a:r>
              <a:rPr lang="en-US" dirty="0"/>
              <a:t>&lt;/</a:t>
            </a:r>
            <a:r>
              <a:rPr lang="en-US" dirty="0" err="1"/>
              <a:t>LinearLayout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140066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CB64D-50BE-1F3B-655A-0E07ECF98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37DB3-B2DD-4984-641B-DBA0A619D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✅ Android will </a:t>
            </a:r>
            <a:r>
              <a:rPr lang="en-US" b="1" dirty="0"/>
              <a:t>automatically load this layout</a:t>
            </a:r>
            <a:r>
              <a:rPr lang="en-US" dirty="0"/>
              <a:t> when the screen rotates.</a:t>
            </a:r>
          </a:p>
        </p:txBody>
      </p:sp>
    </p:spTree>
    <p:extLst>
      <p:ext uri="{BB962C8B-B14F-4D97-AF65-F5344CB8AC3E}">
        <p14:creationId xmlns:p14="http://schemas.microsoft.com/office/powerpoint/2010/main" val="52021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5C07F-507C-66A8-A0E3-0CD8E8E6A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Part 3: Writing Java Code</a:t>
            </a:r>
            <a:br>
              <a:rPr lang="en-US" b="1" dirty="0"/>
            </a:br>
            <a:r>
              <a:rPr lang="en-US" b="1" dirty="0"/>
              <a:t>Step 6: Open MainActivity.java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1060C-C369-B25C-A7F1-EDD37A886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package </a:t>
            </a:r>
            <a:r>
              <a:rPr lang="en-US" dirty="0" err="1"/>
              <a:t>com.example.screencomponentsapp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androidx.appcompat.app.AppCompatActivity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android.os.Bundle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android.widget.Button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android.widget.TextView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android.widget.Toast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android.content.res.Configuration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MainActivity</a:t>
            </a:r>
            <a:r>
              <a:rPr lang="en-US" dirty="0"/>
              <a:t> extends </a:t>
            </a:r>
            <a:r>
              <a:rPr lang="en-US" dirty="0" err="1"/>
              <a:t>AppCompatActivity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TextView</a:t>
            </a:r>
            <a:r>
              <a:rPr lang="en-US" dirty="0"/>
              <a:t> </a:t>
            </a:r>
            <a:r>
              <a:rPr lang="en-US" dirty="0" err="1"/>
              <a:t>tvMessage</a:t>
            </a:r>
            <a:r>
              <a:rPr lang="en-US" dirty="0"/>
              <a:t>;</a:t>
            </a:r>
          </a:p>
          <a:p>
            <a:r>
              <a:rPr lang="en-US" dirty="0"/>
              <a:t>    Button </a:t>
            </a:r>
            <a:r>
              <a:rPr lang="en-US" dirty="0" err="1"/>
              <a:t>btnClick</a:t>
            </a:r>
            <a:r>
              <a:rPr lang="en-US" dirty="0"/>
              <a:t>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976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8DF1C-C2FD-B274-48D7-E68D3E526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9646"/>
            <a:ext cx="10515600" cy="5637317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 @Override</a:t>
            </a:r>
          </a:p>
          <a:p>
            <a:r>
              <a:rPr lang="en-US" dirty="0"/>
              <a:t>    protected void </a:t>
            </a:r>
            <a:r>
              <a:rPr lang="en-US" dirty="0" err="1"/>
              <a:t>onCreate</a:t>
            </a:r>
            <a:r>
              <a:rPr lang="en-US" dirty="0"/>
              <a:t>(Bundle </a:t>
            </a:r>
            <a:r>
              <a:rPr lang="en-US" dirty="0" err="1"/>
              <a:t>savedInstanceState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super.onCreate</a:t>
            </a:r>
            <a:r>
              <a:rPr lang="en-US" dirty="0"/>
              <a:t>(</a:t>
            </a:r>
            <a:r>
              <a:rPr lang="en-US" dirty="0" err="1"/>
              <a:t>savedInstanceState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setContentView</a:t>
            </a:r>
            <a:r>
              <a:rPr lang="en-US" dirty="0"/>
              <a:t>(</a:t>
            </a:r>
            <a:r>
              <a:rPr lang="en-US" dirty="0" err="1"/>
              <a:t>R.layout.activity_main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tvMessage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R.id.tvMessage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btnClick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R.id.btnClick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       // Button action</a:t>
            </a:r>
          </a:p>
          <a:p>
            <a:r>
              <a:rPr lang="en-US" dirty="0"/>
              <a:t>        </a:t>
            </a:r>
            <a:r>
              <a:rPr lang="en-US" dirty="0" err="1"/>
              <a:t>btnClick.setOnClickListener</a:t>
            </a:r>
            <a:r>
              <a:rPr lang="en-US" dirty="0"/>
              <a:t>(v -&gt;</a:t>
            </a:r>
          </a:p>
          <a:p>
            <a:r>
              <a:rPr lang="en-US" dirty="0"/>
              <a:t>                </a:t>
            </a:r>
            <a:r>
              <a:rPr lang="en-US" dirty="0" err="1"/>
              <a:t>Toast.makeText</a:t>
            </a:r>
            <a:r>
              <a:rPr lang="en-US" dirty="0"/>
              <a:t>(</a:t>
            </a:r>
            <a:r>
              <a:rPr lang="en-US" dirty="0" err="1"/>
              <a:t>getApplicationContext</a:t>
            </a:r>
            <a:r>
              <a:rPr lang="en-US" dirty="0"/>
              <a:t>(),</a:t>
            </a:r>
          </a:p>
          <a:p>
            <a:r>
              <a:rPr lang="en-US" dirty="0"/>
              <a:t>                        "Button Clicked!", </a:t>
            </a:r>
            <a:r>
              <a:rPr lang="en-US" dirty="0" err="1"/>
              <a:t>Toast.LENGTH_SHORT</a:t>
            </a:r>
            <a:r>
              <a:rPr lang="en-US" dirty="0"/>
              <a:t>).show());</a:t>
            </a:r>
          </a:p>
          <a:p>
            <a:endParaRPr lang="en-US" dirty="0"/>
          </a:p>
          <a:p>
            <a:r>
              <a:rPr lang="en-US" dirty="0"/>
              <a:t>        // Detect orientation</a:t>
            </a:r>
          </a:p>
          <a:p>
            <a:r>
              <a:rPr lang="en-US" dirty="0"/>
              <a:t>        int orientation = </a:t>
            </a:r>
            <a:r>
              <a:rPr lang="en-US" dirty="0" err="1"/>
              <a:t>getResources</a:t>
            </a:r>
            <a:r>
              <a:rPr lang="en-US" dirty="0"/>
              <a:t>().</a:t>
            </a:r>
            <a:r>
              <a:rPr lang="en-US" dirty="0" err="1"/>
              <a:t>getConfiguration</a:t>
            </a:r>
            <a:r>
              <a:rPr lang="en-US" dirty="0"/>
              <a:t>().orientation;</a:t>
            </a:r>
          </a:p>
          <a:p>
            <a:r>
              <a:rPr lang="en-US" dirty="0"/>
              <a:t>        if (orientation == </a:t>
            </a:r>
            <a:r>
              <a:rPr lang="en-US" dirty="0" err="1"/>
              <a:t>Configuration.ORIENTATION_LANDSCAPE</a:t>
            </a:r>
            <a:r>
              <a:rPr lang="en-US" dirty="0"/>
              <a:t>) {</a:t>
            </a:r>
          </a:p>
          <a:p>
            <a:r>
              <a:rPr lang="en-US" dirty="0"/>
              <a:t>            </a:t>
            </a:r>
            <a:r>
              <a:rPr lang="en-US" dirty="0" err="1"/>
              <a:t>Toast.makeText</a:t>
            </a:r>
            <a:r>
              <a:rPr lang="en-US" dirty="0"/>
              <a:t>(this, "Landscape Mode Active", </a:t>
            </a:r>
            <a:r>
              <a:rPr lang="en-US" dirty="0" err="1"/>
              <a:t>Toast.LENGTH_SHORT</a:t>
            </a:r>
            <a:r>
              <a:rPr lang="en-US" dirty="0"/>
              <a:t>).show();</a:t>
            </a:r>
          </a:p>
          <a:p>
            <a:r>
              <a:rPr lang="en-US" dirty="0"/>
              <a:t>        } else if (orientation == </a:t>
            </a:r>
            <a:r>
              <a:rPr lang="en-US" dirty="0" err="1"/>
              <a:t>Configuration.ORIENTATION_PORTRAIT</a:t>
            </a:r>
            <a:r>
              <a:rPr lang="en-US" dirty="0"/>
              <a:t>) {</a:t>
            </a:r>
          </a:p>
          <a:p>
            <a:r>
              <a:rPr lang="en-US" dirty="0"/>
              <a:t>            </a:t>
            </a:r>
            <a:r>
              <a:rPr lang="en-US" dirty="0" err="1"/>
              <a:t>Toast.makeText</a:t>
            </a:r>
            <a:r>
              <a:rPr lang="en-US" dirty="0"/>
              <a:t>(this, "Portrait Mode Active", </a:t>
            </a:r>
            <a:r>
              <a:rPr lang="en-US" dirty="0" err="1"/>
              <a:t>Toast.LENGTH_SHORT</a:t>
            </a:r>
            <a:r>
              <a:rPr lang="en-US" dirty="0"/>
              <a:t>).show();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310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E2961-6A03-C5A5-57B1-041960324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9213"/>
            <a:ext cx="10515600" cy="497775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 // Optional: handle rotation without recreation</a:t>
            </a:r>
          </a:p>
          <a:p>
            <a:r>
              <a:rPr lang="en-US" dirty="0"/>
              <a:t>    @Override</a:t>
            </a:r>
          </a:p>
          <a:p>
            <a:r>
              <a:rPr lang="en-US" dirty="0"/>
              <a:t>    public void </a:t>
            </a:r>
            <a:r>
              <a:rPr lang="en-US" dirty="0" err="1"/>
              <a:t>onConfigurationChanged</a:t>
            </a:r>
            <a:r>
              <a:rPr lang="en-US" dirty="0"/>
              <a:t>(Configuration </a:t>
            </a:r>
            <a:r>
              <a:rPr lang="en-US" dirty="0" err="1"/>
              <a:t>newConfig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super.onConfigurationChanged</a:t>
            </a:r>
            <a:r>
              <a:rPr lang="en-US" dirty="0"/>
              <a:t>(</a:t>
            </a:r>
            <a:r>
              <a:rPr lang="en-US" dirty="0" err="1"/>
              <a:t>newConfig</a:t>
            </a:r>
            <a:r>
              <a:rPr lang="en-US" dirty="0"/>
              <a:t>);</a:t>
            </a:r>
          </a:p>
          <a:p>
            <a:r>
              <a:rPr lang="en-US" dirty="0"/>
              <a:t>        if (</a:t>
            </a:r>
            <a:r>
              <a:rPr lang="en-US" dirty="0" err="1"/>
              <a:t>newConfig.orientation</a:t>
            </a:r>
            <a:r>
              <a:rPr lang="en-US" dirty="0"/>
              <a:t> == </a:t>
            </a:r>
            <a:r>
              <a:rPr lang="en-US" dirty="0" err="1"/>
              <a:t>Configuration.ORIENTATION_LANDSCAPE</a:t>
            </a:r>
            <a:r>
              <a:rPr lang="en-US" dirty="0"/>
              <a:t>) {</a:t>
            </a:r>
          </a:p>
          <a:p>
            <a:r>
              <a:rPr lang="en-US" dirty="0"/>
              <a:t>            </a:t>
            </a:r>
            <a:r>
              <a:rPr lang="en-US" dirty="0" err="1"/>
              <a:t>Toast.makeText</a:t>
            </a:r>
            <a:r>
              <a:rPr lang="en-US" dirty="0"/>
              <a:t>(this, "Changed to Landscape", </a:t>
            </a:r>
            <a:r>
              <a:rPr lang="en-US" dirty="0" err="1"/>
              <a:t>Toast.LENGTH_SHORT</a:t>
            </a:r>
            <a:r>
              <a:rPr lang="en-US" dirty="0"/>
              <a:t>).show();</a:t>
            </a:r>
          </a:p>
          <a:p>
            <a:r>
              <a:rPr lang="en-US" dirty="0"/>
              <a:t>        } else if (</a:t>
            </a:r>
            <a:r>
              <a:rPr lang="en-US" dirty="0" err="1"/>
              <a:t>newConfig.orientation</a:t>
            </a:r>
            <a:r>
              <a:rPr lang="en-US" dirty="0"/>
              <a:t> == </a:t>
            </a:r>
            <a:r>
              <a:rPr lang="en-US" dirty="0" err="1"/>
              <a:t>Configuration.ORIENTATION_PORTRAIT</a:t>
            </a:r>
            <a:r>
              <a:rPr lang="en-US" dirty="0"/>
              <a:t>) {</a:t>
            </a:r>
          </a:p>
          <a:p>
            <a:r>
              <a:rPr lang="en-US" dirty="0"/>
              <a:t>            </a:t>
            </a:r>
            <a:r>
              <a:rPr lang="en-US" dirty="0" err="1"/>
              <a:t>Toast.makeText</a:t>
            </a:r>
            <a:r>
              <a:rPr lang="en-US" dirty="0"/>
              <a:t>(this, "Changed to Portrait", </a:t>
            </a:r>
            <a:r>
              <a:rPr lang="en-US" dirty="0" err="1"/>
              <a:t>Toast.LENGTH_SHORT</a:t>
            </a:r>
            <a:r>
              <a:rPr lang="en-US" dirty="0"/>
              <a:t>).show();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10504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93750-0559-B3BF-F8F7-6028E06EC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🧾 </a:t>
            </a:r>
            <a:r>
              <a:rPr lang="fr-FR" b="1" dirty="0"/>
              <a:t>Part 4: Android </a:t>
            </a:r>
            <a:r>
              <a:rPr lang="fr-FR" b="1" dirty="0" err="1"/>
              <a:t>Manifest</a:t>
            </a:r>
            <a:r>
              <a:rPr lang="fr-FR" b="1" dirty="0"/>
              <a:t> Configuration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01345-B881-4214-9ED0-3A6DC30BB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7: Open AndroidManifest.xml</a:t>
            </a:r>
          </a:p>
          <a:p>
            <a:r>
              <a:rPr lang="en-US" dirty="0"/>
              <a:t>Add your activity with configuration options: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065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19838-3B30-2362-07CD-C50771FF4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9626"/>
            <a:ext cx="10515600" cy="5607337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&lt;manifest </a:t>
            </a:r>
            <a:r>
              <a:rPr lang="en-US" dirty="0" err="1"/>
              <a:t>xmlns:android</a:t>
            </a:r>
            <a:r>
              <a:rPr lang="en-US" dirty="0"/>
              <a:t>="http://schemas.android.com/</a:t>
            </a:r>
            <a:r>
              <a:rPr lang="en-US" dirty="0" err="1"/>
              <a:t>apk</a:t>
            </a:r>
            <a:r>
              <a:rPr lang="en-US" dirty="0"/>
              <a:t>/res/android"</a:t>
            </a:r>
          </a:p>
          <a:p>
            <a:r>
              <a:rPr lang="en-US" dirty="0"/>
              <a:t>    package="</a:t>
            </a:r>
            <a:r>
              <a:rPr lang="en-US" dirty="0" err="1"/>
              <a:t>com.example.screencomponentsapp</a:t>
            </a:r>
            <a:r>
              <a:rPr lang="en-US" dirty="0"/>
              <a:t>"&gt;</a:t>
            </a:r>
          </a:p>
          <a:p>
            <a:endParaRPr lang="en-US" dirty="0"/>
          </a:p>
          <a:p>
            <a:r>
              <a:rPr lang="en-US" dirty="0"/>
              <a:t>    &lt;application</a:t>
            </a:r>
          </a:p>
          <a:p>
            <a:r>
              <a:rPr lang="en-US" dirty="0"/>
              <a:t>        </a:t>
            </a:r>
            <a:r>
              <a:rPr lang="en-US" dirty="0" err="1"/>
              <a:t>android:allowBackup</a:t>
            </a:r>
            <a:r>
              <a:rPr lang="en-US" dirty="0"/>
              <a:t>="true"</a:t>
            </a:r>
          </a:p>
          <a:p>
            <a:r>
              <a:rPr lang="en-US" dirty="0"/>
              <a:t>        </a:t>
            </a:r>
            <a:r>
              <a:rPr lang="en-US" dirty="0" err="1"/>
              <a:t>android:icon</a:t>
            </a:r>
            <a:r>
              <a:rPr lang="en-US" dirty="0"/>
              <a:t>="@mipmap/</a:t>
            </a:r>
            <a:r>
              <a:rPr lang="en-US" dirty="0" err="1"/>
              <a:t>ic_launcher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android:label</a:t>
            </a:r>
            <a:r>
              <a:rPr lang="en-US" dirty="0"/>
              <a:t>="@string/</a:t>
            </a:r>
            <a:r>
              <a:rPr lang="en-US" dirty="0" err="1"/>
              <a:t>app_name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android:roundIcon</a:t>
            </a:r>
            <a:r>
              <a:rPr lang="en-US" dirty="0"/>
              <a:t>="@mipmap/</a:t>
            </a:r>
            <a:r>
              <a:rPr lang="en-US" dirty="0" err="1"/>
              <a:t>ic_launcher_round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android:supportsRtl</a:t>
            </a:r>
            <a:r>
              <a:rPr lang="en-US" dirty="0"/>
              <a:t>="true"</a:t>
            </a:r>
          </a:p>
          <a:p>
            <a:r>
              <a:rPr lang="en-US" dirty="0"/>
              <a:t>        </a:t>
            </a:r>
            <a:r>
              <a:rPr lang="en-US" dirty="0" err="1"/>
              <a:t>android:theme</a:t>
            </a:r>
            <a:r>
              <a:rPr lang="en-US" dirty="0"/>
              <a:t>="@style/</a:t>
            </a:r>
            <a:r>
              <a:rPr lang="en-US" dirty="0" err="1"/>
              <a:t>Theme.ScreenComponentsApp</a:t>
            </a:r>
            <a:r>
              <a:rPr lang="en-US" dirty="0"/>
              <a:t>"&gt;</a:t>
            </a:r>
          </a:p>
          <a:p>
            <a:endParaRPr lang="en-US" dirty="0"/>
          </a:p>
          <a:p>
            <a:r>
              <a:rPr lang="en-US" dirty="0"/>
              <a:t>        &lt;activity</a:t>
            </a:r>
          </a:p>
          <a:p>
            <a:r>
              <a:rPr lang="en-US" dirty="0"/>
              <a:t>            </a:t>
            </a:r>
            <a:r>
              <a:rPr lang="en-US" dirty="0" err="1"/>
              <a:t>android:name</a:t>
            </a:r>
            <a:r>
              <a:rPr lang="en-US" dirty="0"/>
              <a:t>=".</a:t>
            </a:r>
            <a:r>
              <a:rPr lang="en-US" dirty="0" err="1"/>
              <a:t>MainActivity</a:t>
            </a:r>
            <a:r>
              <a:rPr lang="en-US" dirty="0"/>
              <a:t>"</a:t>
            </a:r>
          </a:p>
          <a:p>
            <a:r>
              <a:rPr lang="en-US" dirty="0"/>
              <a:t>            </a:t>
            </a:r>
            <a:r>
              <a:rPr lang="en-US" dirty="0" err="1"/>
              <a:t>android:exported</a:t>
            </a:r>
            <a:r>
              <a:rPr lang="en-US" dirty="0"/>
              <a:t>="true"</a:t>
            </a:r>
          </a:p>
          <a:p>
            <a:r>
              <a:rPr lang="en-US" dirty="0"/>
              <a:t>            </a:t>
            </a:r>
            <a:r>
              <a:rPr lang="en-US" dirty="0" err="1"/>
              <a:t>android:configChanges</a:t>
            </a:r>
            <a:r>
              <a:rPr lang="en-US" dirty="0"/>
              <a:t>="</a:t>
            </a:r>
            <a:r>
              <a:rPr lang="en-US" dirty="0" err="1"/>
              <a:t>orientation|screenSize</a:t>
            </a:r>
            <a:r>
              <a:rPr lang="en-US" dirty="0"/>
              <a:t>"&gt;</a:t>
            </a:r>
          </a:p>
          <a:p>
            <a:r>
              <a:rPr lang="en-US" dirty="0"/>
              <a:t>            &lt;intent-filter&gt;</a:t>
            </a:r>
          </a:p>
          <a:p>
            <a:r>
              <a:rPr lang="en-US" dirty="0"/>
              <a:t>                &lt;action </a:t>
            </a:r>
            <a:r>
              <a:rPr lang="en-US" dirty="0" err="1"/>
              <a:t>android:name</a:t>
            </a:r>
            <a:r>
              <a:rPr lang="en-US" dirty="0"/>
              <a:t>="</a:t>
            </a:r>
            <a:r>
              <a:rPr lang="en-US" dirty="0" err="1"/>
              <a:t>android.intent.action.MAIN</a:t>
            </a:r>
            <a:r>
              <a:rPr lang="en-US" dirty="0"/>
              <a:t>" /&gt;</a:t>
            </a:r>
          </a:p>
          <a:p>
            <a:r>
              <a:rPr lang="en-US" dirty="0"/>
              <a:t>                &lt;category </a:t>
            </a:r>
            <a:r>
              <a:rPr lang="en-US" dirty="0" err="1"/>
              <a:t>android:name</a:t>
            </a:r>
            <a:r>
              <a:rPr lang="en-US" dirty="0"/>
              <a:t>="</a:t>
            </a:r>
            <a:r>
              <a:rPr lang="en-US" dirty="0" err="1"/>
              <a:t>android.intent.category.LAUNCHER</a:t>
            </a:r>
            <a:r>
              <a:rPr lang="en-US" dirty="0"/>
              <a:t>" /&gt;</a:t>
            </a:r>
          </a:p>
          <a:p>
            <a:r>
              <a:rPr lang="en-US" dirty="0"/>
              <a:t>            &lt;/intent-filter&gt;</a:t>
            </a:r>
          </a:p>
          <a:p>
            <a:r>
              <a:rPr lang="en-US" dirty="0"/>
              <a:t>        &lt;/activity&gt;</a:t>
            </a:r>
          </a:p>
          <a:p>
            <a:r>
              <a:rPr lang="en-US" dirty="0"/>
              <a:t>    &lt;/application&gt;</a:t>
            </a:r>
          </a:p>
          <a:p>
            <a:r>
              <a:rPr lang="en-US" dirty="0"/>
              <a:t>&lt;/manifest&gt;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0043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5A43D-CE42-DD8F-C09E-D417F8599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▶️ </a:t>
            </a:r>
            <a:r>
              <a:rPr lang="en-US" b="1" dirty="0"/>
              <a:t>Part 5: Running &amp; Testing the App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AFD58-E4EC-A661-07BE-E5A831EBD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8: Connect Emulator or Device</a:t>
            </a:r>
          </a:p>
          <a:p>
            <a:r>
              <a:rPr lang="en-US" dirty="0"/>
              <a:t>Open </a:t>
            </a:r>
            <a:r>
              <a:rPr lang="en-US" b="1" dirty="0"/>
              <a:t>AVD Manager → Create Virtual Device</a:t>
            </a:r>
            <a:endParaRPr lang="en-US" dirty="0"/>
          </a:p>
          <a:p>
            <a:r>
              <a:rPr lang="en-US" dirty="0"/>
              <a:t>Select </a:t>
            </a:r>
            <a:r>
              <a:rPr lang="en-US" b="1" dirty="0"/>
              <a:t>Pixel 4 API 30 (Android 11)</a:t>
            </a:r>
            <a:r>
              <a:rPr lang="en-US" dirty="0"/>
              <a:t> or higher</a:t>
            </a:r>
          </a:p>
          <a:p>
            <a:r>
              <a:rPr lang="en-US" dirty="0"/>
              <a:t>Start the emulator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069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A4ED-6068-0C12-9E62-61DC44F2E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DEF1D-4296-00E5-B776-2949754CC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9: Run the App</a:t>
            </a:r>
          </a:p>
          <a:p>
            <a:r>
              <a:rPr lang="en-US" dirty="0"/>
              <a:t>Click </a:t>
            </a:r>
            <a:r>
              <a:rPr lang="en-US" b="1" dirty="0"/>
              <a:t>▶ Run ‘app’</a:t>
            </a:r>
            <a:endParaRPr lang="en-US" dirty="0"/>
          </a:p>
          <a:p>
            <a:r>
              <a:rPr lang="en-US" dirty="0"/>
              <a:t>Observe:</a:t>
            </a:r>
          </a:p>
          <a:p>
            <a:pPr lvl="1"/>
            <a:r>
              <a:rPr lang="en-US" dirty="0"/>
              <a:t>Portrait mode → “Portrait Mode Active” Toast</a:t>
            </a:r>
          </a:p>
          <a:p>
            <a:pPr lvl="1"/>
            <a:r>
              <a:rPr lang="en-US" dirty="0"/>
              <a:t>Rotate device → “Landscape Mode Active” Toast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219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1612B55-39CC-1FF8-6E01-AB879EB75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636419"/>
              </p:ext>
            </p:extLst>
          </p:nvPr>
        </p:nvGraphicFramePr>
        <p:xfrm>
          <a:off x="838200" y="2713220"/>
          <a:ext cx="10515600" cy="1973873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98725398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0866584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94937408"/>
                    </a:ext>
                  </a:extLst>
                </a:gridCol>
              </a:tblGrid>
              <a:tr h="526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Orientation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Screen 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Toast Message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872052"/>
                  </a:ext>
                </a:extLst>
              </a:tr>
              <a:tr h="526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Portrait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TextView + Button vertically aligned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“Portrait Mode Active”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309968"/>
                  </a:ext>
                </a:extLst>
              </a:tr>
              <a:tr h="921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Landscape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Image + Text + Button horizontally aligned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“Landscape Mode Active”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307762"/>
                  </a:ext>
                </a:extLst>
              </a:tr>
            </a:tbl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8D3F7E42-CD53-38CC-A18E-A22509B87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15770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🎯 Expected 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1403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DECD-8217-2BFA-8C71-4C4A37E7B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🧠 </a:t>
            </a:r>
            <a:r>
              <a:rPr lang="en-US" b="1" dirty="0"/>
              <a:t>Concept Summary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F3BBAE-17F2-3FBD-64E6-8FAC7C7CFC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0409262"/>
              </p:ext>
            </p:extLst>
          </p:nvPr>
        </p:nvGraphicFramePr>
        <p:xfrm>
          <a:off x="838200" y="2362120"/>
          <a:ext cx="10515600" cy="24688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202410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48108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998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Screen Components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Basic UI elements: Views, Layouts, Fragments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728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Orientation Handling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Portrait / Landscape adaptation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65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Automatic Layout Switch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layout folders (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layout</a:t>
                      </a:r>
                      <a:r>
                        <a:rPr lang="en-US"/>
                        <a:t>,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layout-land</a:t>
                      </a:r>
                      <a:r>
                        <a:rPr lang="en-US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395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Manual Handling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Configuration</a:t>
                      </a:r>
                      <a:r>
                        <a:rPr lang="en-US"/>
                        <a:t> class &amp;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onConfigurationChanged()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581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Manifest Setting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Prevent activity recreation with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configChanges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149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9444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2D486-7F71-122B-A621-7B144645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1C039-27A5-ECE2-D4CC-A6201CC56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🧪 Lab Task</a:t>
            </a:r>
          </a:p>
          <a:p>
            <a:r>
              <a:rPr lang="en-US" b="1" dirty="0"/>
              <a:t>Task 1:</a:t>
            </a:r>
            <a:br>
              <a:rPr lang="en-US" dirty="0"/>
            </a:br>
            <a:r>
              <a:rPr lang="en-US" dirty="0"/>
              <a:t>Modify the app to include an </a:t>
            </a:r>
            <a:r>
              <a:rPr lang="en-US" b="1" dirty="0" err="1"/>
              <a:t>ImageView</a:t>
            </a:r>
            <a:r>
              <a:rPr lang="en-US" dirty="0"/>
              <a:t> that changes image on rotation.</a:t>
            </a:r>
          </a:p>
          <a:p>
            <a:r>
              <a:rPr lang="en-US" b="1" dirty="0"/>
              <a:t>Task 2:</a:t>
            </a:r>
            <a:br>
              <a:rPr lang="en-US" dirty="0"/>
            </a:br>
            <a:r>
              <a:rPr lang="en-US" dirty="0"/>
              <a:t>Add another </a:t>
            </a:r>
            <a:r>
              <a:rPr lang="en-US" b="1" dirty="0"/>
              <a:t>Button</a:t>
            </a:r>
            <a:r>
              <a:rPr lang="en-US" dirty="0"/>
              <a:t> to display the current orientation using Toast when clicked.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1652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AC99E-CC82-25FD-B8DE-3E5EC762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FBC571-2BE3-E584-0DC8-8E7880F1F96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629694"/>
          <a:ext cx="10515600" cy="27432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95225348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660134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Concept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Key Point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742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Screen Components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Include Views, Layouts, Fragments, Widgets, and Menus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7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Layout Types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Linear, Relative, Frame, Constraint,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004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Orientation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Portrait and Landscape modes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562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Adaptation Methods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XML-based layouts, Java-based detection, configChanges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926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Best Practice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Responsive design using flexible layouts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608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477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89B98-23BD-7D63-F0BE-A143CF624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315E9-F185-E154-91E5-C85877180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Assignment / Lab Task</a:t>
            </a:r>
          </a:p>
          <a:p>
            <a:r>
              <a:rPr lang="en-US" b="1" dirty="0"/>
              <a:t>Task 1:</a:t>
            </a:r>
            <a:br>
              <a:rPr lang="en-US" dirty="0"/>
            </a:br>
            <a:r>
              <a:rPr lang="en-US" dirty="0"/>
              <a:t>Design a simple mobile app screen that shows a </a:t>
            </a:r>
            <a:r>
              <a:rPr lang="en-US" dirty="0" err="1"/>
              <a:t>TextView</a:t>
            </a:r>
            <a:r>
              <a:rPr lang="en-US" dirty="0"/>
              <a:t> and a Button.</a:t>
            </a:r>
            <a:br>
              <a:rPr lang="en-US" dirty="0"/>
            </a:br>
            <a:r>
              <a:rPr lang="en-US" dirty="0"/>
              <a:t>Use different layouts for </a:t>
            </a:r>
            <a:r>
              <a:rPr lang="en-US" b="1" dirty="0"/>
              <a:t>portrait</a:t>
            </a:r>
            <a:r>
              <a:rPr lang="en-US" dirty="0"/>
              <a:t> and </a:t>
            </a:r>
            <a:r>
              <a:rPr lang="en-US" b="1" dirty="0"/>
              <a:t>landscape</a:t>
            </a:r>
            <a:r>
              <a:rPr lang="en-US" dirty="0"/>
              <a:t> modes.</a:t>
            </a:r>
          </a:p>
          <a:p>
            <a:r>
              <a:rPr lang="en-US" b="1" dirty="0"/>
              <a:t>Task 2:</a:t>
            </a:r>
            <a:br>
              <a:rPr lang="en-US" dirty="0"/>
            </a:br>
            <a:r>
              <a:rPr lang="en-US" dirty="0"/>
              <a:t>Detect screen orientation using Java code and show a Toast message:</a:t>
            </a:r>
          </a:p>
          <a:p>
            <a:r>
              <a:rPr lang="en-US" dirty="0"/>
              <a:t>“Portrait Mode Activated”</a:t>
            </a:r>
          </a:p>
          <a:p>
            <a:r>
              <a:rPr lang="en-US"/>
              <a:t>“Landscape Mode Activated”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866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2080</Words>
  <Application>Microsoft Office PowerPoint</Application>
  <PresentationFormat>Widescreen</PresentationFormat>
  <Paragraphs>295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Courier New</vt:lpstr>
      <vt:lpstr>Office Theme</vt:lpstr>
      <vt:lpstr>Course: Mobile &amp; Application Development Semester: BSCS 7th Instructor: Adnan Majeed University: GC University Faisalabad (Lahore Campus)  Components of Screen &amp; Adapting to Display Orientation   </vt:lpstr>
      <vt:lpstr>PowerPoint Presentation</vt:lpstr>
      <vt:lpstr>1.1 Major Screen Components</vt:lpstr>
      <vt:lpstr>1.2 Common Layout Types</vt:lpstr>
      <vt:lpstr>PowerPoint Presentation</vt:lpstr>
      <vt:lpstr>PowerPoint Presentation</vt:lpstr>
      <vt:lpstr>PowerPoint Presentation</vt:lpstr>
      <vt:lpstr>PowerPoint Presentation</vt:lpstr>
      <vt:lpstr>Example Directory Structure:</vt:lpstr>
      <vt:lpstr>PowerPoint Presentation</vt:lpstr>
      <vt:lpstr>Step 2: Configure Your Project</vt:lpstr>
      <vt:lpstr>Step 3: Project Structure Overview</vt:lpstr>
      <vt:lpstr>🧱 Part 2: Designing Screen Components</vt:lpstr>
      <vt:lpstr>PowerPoint Presentation</vt:lpstr>
      <vt:lpstr>PowerPoint Presentation</vt:lpstr>
      <vt:lpstr>Step 5: Create Landscape Layout</vt:lpstr>
      <vt:lpstr>PowerPoint Presentation</vt:lpstr>
      <vt:lpstr>PowerPoint Presentation</vt:lpstr>
      <vt:lpstr>PowerPoint Presentation</vt:lpstr>
      <vt:lpstr>Part 3: Writing Java Code Step 6: Open MainActivity.java </vt:lpstr>
      <vt:lpstr>PowerPoint Presentation</vt:lpstr>
      <vt:lpstr>PowerPoint Presentation</vt:lpstr>
      <vt:lpstr>🧾 Part 4: Android Manifest Configuration</vt:lpstr>
      <vt:lpstr>PowerPoint Presentation</vt:lpstr>
      <vt:lpstr>▶️ Part 5: Running &amp; Testing the App</vt:lpstr>
      <vt:lpstr>PowerPoint Presentation</vt:lpstr>
      <vt:lpstr>PowerPoint Presentation</vt:lpstr>
      <vt:lpstr>🧠 Concept Summary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44</cp:revision>
  <dcterms:created xsi:type="dcterms:W3CDTF">2025-11-11T08:24:37Z</dcterms:created>
  <dcterms:modified xsi:type="dcterms:W3CDTF">2025-11-13T10:13:01Z</dcterms:modified>
</cp:coreProperties>
</file>