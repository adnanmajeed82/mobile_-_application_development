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45C0-CD55-69C6-AFDF-EF26FC225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646C8-FCD0-2670-749E-900E798E6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60FEF-DF5F-9750-1A77-35242903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BE00A-9A75-1656-AA87-D0FB94CA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106FF-946F-FFD3-B26A-A23366D4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6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D76C-A931-1DF8-30B3-B5AEE6E4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36148-D3B3-2669-2950-DFCF31A24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CA1E9-C235-6D91-2895-63258E57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082D3-5B9F-086F-1DF2-5E7597B8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70CCF-D49A-F401-6D0C-EAE34DE9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6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4143-116B-7858-6E01-97D4A622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6AF41-053B-74E5-4F73-84EFF76A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BAF77-76E6-92B5-02B3-D5AE9FCD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3179-A5FB-966A-38A8-7FBC6A0F5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8D76F-5273-0D7D-D527-A3CA34F2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1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01EC-FDB0-885F-FDCE-B4289F73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2FA5A-C424-A92D-90C9-7D19FB10C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5DB63-8478-E0FF-3EE9-937D74A71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4F7EB-8E3E-7F5E-4BEA-130FF18A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DADED-A655-5879-97AF-901E3571F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BADA8-D71F-AF09-EA59-290E3171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0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4FB4A-020D-027B-28B5-0F99EC77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64379-C749-6D9C-8D60-35B4A68D8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50CB-1EA9-CD9F-8607-D8F3A54C3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F66C78-8D19-1B64-9892-E66B56C28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8A4B8-31EB-70F5-A4ED-A65F7EA40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FA3B07-9450-6DAB-77BE-83210E9D1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E3471-611C-1F7F-DBDE-32D127A1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464DA-96E0-8156-23D3-7C10D898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0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54C3-2B73-81AD-C7E6-21CA1FC0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DD4D6-50BA-1455-3677-790A0CA3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DF69C-C485-1BB4-57E4-BF1F2F58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B6683-4A51-98BF-8ABB-EBB3FBF0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0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B36AE-EC22-8313-7F20-43B7B621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3D04D-B7C5-6762-75A1-CFFE0C8D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EF7C3-FDAB-DB45-8AFC-6FB3D0399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9B6A-1574-8935-D878-01F166B3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55DA4-AC19-9742-0BCF-28BF3E0AE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A5715-94AE-3A53-B4FB-82DB1F098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54DDC-ED6B-55B4-8241-8B643B5A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48197-CCEC-63A1-BF70-45619C16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1C328-0990-BCD2-168C-6C150A8EC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8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96FC-EF1B-91AE-8496-72B31B57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4F7C0-827F-30E8-4D3F-A4BD4B6C7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BD343-3918-EE01-58D7-33F6B660E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A283D-51EF-A784-7D24-AB2701E5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A86A5-32C9-DA0A-0CF9-22071445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F316C-846A-46D9-C711-24161C34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A43D-7D1A-E6D4-98BB-C10763B7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B6AF9-17B4-E2C4-BED5-AFBED4C21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AA7B4-7CE5-C489-6F24-3B61489A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F46E5-801F-C4B7-45CE-46E3328D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C7440-BCC7-6A31-B510-79823849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2E90D-6FD0-084A-E213-10306BAAE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41CC9-972A-AB49-126F-699CC6EA7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D31E7-1E03-B58C-0F80-37EC026F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5FF8A-0FB7-1DAD-5FB7-9D3B72348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AE80-63A7-BD21-F7D3-BED6091C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7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D2405-28BD-940A-1453-162E052A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6FE2C-2C7B-6FDB-0219-8E8DEBE1B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06162-EEE1-B1F0-4F5F-9C51D9056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057BE-CE71-4EF8-B709-D47EE01CCF0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2C762-A096-BD7C-7735-5D0BA1B43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86D60-4821-C98B-5B60-7FE80FE58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A3414-4D1C-4F73-83C3-C157D902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4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83B-49E7-7D87-2819-40587E05A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XML Files, Android Studio Project Structure &amp; First Notification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22CFD-2DF9-D05B-E4FC-B180382CA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Adnan Majeed</a:t>
            </a:r>
          </a:p>
          <a:p>
            <a:r>
              <a:rPr lang="en-US" dirty="0"/>
              <a:t>Government College University Lahore </a:t>
            </a:r>
          </a:p>
        </p:txBody>
      </p:sp>
    </p:spTree>
    <p:extLst>
      <p:ext uri="{BB962C8B-B14F-4D97-AF65-F5344CB8AC3E}">
        <p14:creationId xmlns:p14="http://schemas.microsoft.com/office/powerpoint/2010/main" val="895585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0991-8768-89C0-9F4D-0124F16B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Lecture Objective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D62A1-85EC-0723-86A0-472FECB1D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dirty="0"/>
              <a:t>By the end of this lecture, students will be able to:</a:t>
            </a:r>
          </a:p>
          <a:p>
            <a:r>
              <a:rPr lang="en-US" dirty="0"/>
              <a:t>Understand the </a:t>
            </a:r>
            <a:r>
              <a:rPr lang="en-US" b="1" dirty="0"/>
              <a:t>purpose and structure</a:t>
            </a:r>
            <a:r>
              <a:rPr lang="en-US" dirty="0"/>
              <a:t> of XML files in Android Studio.</a:t>
            </a:r>
          </a:p>
          <a:p>
            <a:r>
              <a:rPr lang="en-US" dirty="0"/>
              <a:t>Explain the </a:t>
            </a:r>
            <a:r>
              <a:rPr lang="en-US" b="1" dirty="0"/>
              <a:t>Android Studio project hierarchy</a:t>
            </a:r>
            <a:r>
              <a:rPr lang="en-US" dirty="0"/>
              <a:t> and its components.</a:t>
            </a:r>
          </a:p>
          <a:p>
            <a:r>
              <a:rPr lang="en-US" dirty="0"/>
              <a:t>Develop their </a:t>
            </a:r>
            <a:r>
              <a:rPr lang="en-US" b="1" dirty="0"/>
              <a:t>first Android app</a:t>
            </a:r>
            <a:r>
              <a:rPr lang="en-US" dirty="0"/>
              <a:t> using XML and Java/Kotlin.</a:t>
            </a:r>
          </a:p>
          <a:p>
            <a:r>
              <a:rPr lang="en-US" dirty="0"/>
              <a:t>Implement a </a:t>
            </a:r>
            <a:r>
              <a:rPr lang="en-US" b="1" dirty="0"/>
              <a:t>simple notification app</a:t>
            </a:r>
            <a:r>
              <a:rPr lang="en-US" dirty="0"/>
              <a:t> to display messages to the user.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33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4B84-2C53-08FE-E044-E3F49EA6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Meaning &amp; Purpose of XML in Android Studio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6C51-6154-4EE7-DAFB-A26F207FC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Meaning:</a:t>
            </a:r>
          </a:p>
          <a:p>
            <a:r>
              <a:rPr lang="en-US" b="1" dirty="0"/>
              <a:t>XML (Extensible Markup Language)</a:t>
            </a:r>
            <a:r>
              <a:rPr lang="en-US" dirty="0"/>
              <a:t> is used in Android for </a:t>
            </a:r>
            <a:r>
              <a:rPr lang="en-US" b="1" dirty="0"/>
              <a:t>defining UI layouts, resources, and configurations</a:t>
            </a:r>
            <a:r>
              <a:rPr lang="en-US" dirty="0"/>
              <a:t> in a structured and human-readable way.</a:t>
            </a:r>
          </a:p>
          <a:p>
            <a:r>
              <a:rPr lang="en-US" dirty="0"/>
              <a:t>It separates </a:t>
            </a:r>
            <a:r>
              <a:rPr lang="en-US" b="1" dirty="0"/>
              <a:t>UI design</a:t>
            </a:r>
            <a:r>
              <a:rPr lang="en-US" dirty="0"/>
              <a:t> from </a:t>
            </a:r>
            <a:r>
              <a:rPr lang="en-US" b="1" dirty="0"/>
              <a:t>application logic</a:t>
            </a:r>
            <a:r>
              <a:rPr lang="en-US" dirty="0"/>
              <a:t> (Java/Kotlin).</a:t>
            </a:r>
          </a:p>
          <a:p>
            <a:r>
              <a:rPr lang="en-US" b="1" dirty="0"/>
              <a:t>Purpose:</a:t>
            </a:r>
          </a:p>
          <a:p>
            <a:r>
              <a:rPr lang="en-US" dirty="0"/>
              <a:t>To define </a:t>
            </a:r>
            <a:r>
              <a:rPr lang="en-US" b="1" dirty="0"/>
              <a:t>user interfaces (UI)</a:t>
            </a:r>
            <a:r>
              <a:rPr lang="en-US" dirty="0"/>
              <a:t> without hardcoding them in Java/Kotlin.</a:t>
            </a:r>
          </a:p>
          <a:p>
            <a:r>
              <a:rPr lang="en-US" dirty="0"/>
              <a:t>To manage </a:t>
            </a:r>
            <a:r>
              <a:rPr lang="en-US" b="1" dirty="0"/>
              <a:t>resources</a:t>
            </a:r>
            <a:r>
              <a:rPr lang="en-US" dirty="0"/>
              <a:t> (layouts, strings, colors, styles) in a reusable format.</a:t>
            </a:r>
          </a:p>
          <a:p>
            <a:r>
              <a:rPr lang="en-US" dirty="0"/>
              <a:t>To ensure </a:t>
            </a:r>
            <a:r>
              <a:rPr lang="en-US" b="1" dirty="0"/>
              <a:t>platform independence</a:t>
            </a:r>
            <a:r>
              <a:rPr lang="en-US" dirty="0"/>
              <a:t> and </a:t>
            </a:r>
            <a:r>
              <a:rPr lang="en-US" b="1" dirty="0"/>
              <a:t>easier maintenance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13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D834-D47E-8300-379E-0DB755FE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XML Files in Android Studio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13CA28-5FDA-B864-62E9-69197C596B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718275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997949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26425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File Name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Location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744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activity_main.xml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UI layout for the main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res/layout/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40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AndroidManifest.xml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Declares app components, permissions, and configurations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app/src/main/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60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strings.xml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text values for localization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res/values/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12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colors.xml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color resources used in the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res/values/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061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styles.xml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app themes and styles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res/values/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040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themes.xml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light/dark modes and material design themes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res/values/themes/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916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37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0568-8742-C5E3-F884-484B9236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 fontScale="90000"/>
          </a:bodyPr>
          <a:lstStyle/>
          <a:p>
            <a:r>
              <a:rPr lang="en-US" dirty="0"/>
              <a:t>XML Layout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FD439-4A58-8093-0DC2-AA02B2391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66" y="959370"/>
            <a:ext cx="10844134" cy="5533505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&lt;?xml version="1.0" encoding="utf-8"?&gt;</a:t>
            </a:r>
          </a:p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xmlns:tools</a:t>
            </a:r>
            <a:r>
              <a:rPr lang="en-US" dirty="0"/>
              <a:t>="http://schemas.android.com/tools"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="16dp"</a:t>
            </a:r>
          </a:p>
          <a:p>
            <a:r>
              <a:rPr lang="en-US" dirty="0"/>
              <a:t>    </a:t>
            </a:r>
            <a:r>
              <a:rPr lang="en-US" dirty="0" err="1"/>
              <a:t>tools:context</a:t>
            </a:r>
            <a:r>
              <a:rPr lang="en-US" dirty="0"/>
              <a:t>=".</a:t>
            </a:r>
            <a:r>
              <a:rPr lang="en-US" dirty="0" err="1"/>
              <a:t>MainActivity</a:t>
            </a:r>
            <a:r>
              <a:rPr lang="en-US" dirty="0"/>
              <a:t>"&gt;</a:t>
            </a:r>
          </a:p>
          <a:p>
            <a:r>
              <a:rPr lang="en-US" dirty="0"/>
              <a:t>    &lt;</a:t>
            </a:r>
            <a:r>
              <a:rPr lang="en-US" dirty="0" err="1"/>
              <a:t>TextView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textView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="Welcome to Android Development"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android:textSize</a:t>
            </a:r>
            <a:r>
              <a:rPr lang="en-US" dirty="0"/>
              <a:t>="20sp"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 /&gt;</a:t>
            </a:r>
          </a:p>
          <a:p>
            <a:r>
              <a:rPr lang="en-US" dirty="0"/>
              <a:t>   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notifyButton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="Show Notification"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 /&gt;</a:t>
            </a:r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3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7CC9-9967-47A2-2226-3E38BF25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9314"/>
          </a:xfrm>
        </p:spPr>
        <p:txBody>
          <a:bodyPr>
            <a:normAutofit fontScale="90000"/>
          </a:bodyPr>
          <a:lstStyle/>
          <a:p>
            <a:r>
              <a:rPr lang="en-US" dirty="0"/>
              <a:t>Android Studio 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8FD81-8943-9CB3-3182-E68656BEF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292"/>
            <a:ext cx="10515600" cy="5413582"/>
          </a:xfrm>
        </p:spPr>
        <p:txBody>
          <a:bodyPr>
            <a:normAutofit fontScale="40000" lnSpcReduction="20000"/>
          </a:bodyPr>
          <a:lstStyle/>
          <a:p>
            <a:r>
              <a:rPr lang="en-US" dirty="0" err="1"/>
              <a:t>MyApplication</a:t>
            </a:r>
            <a:r>
              <a:rPr lang="en-US" dirty="0"/>
              <a:t>/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app/</a:t>
            </a:r>
          </a:p>
          <a:p>
            <a:r>
              <a:rPr lang="en-US" dirty="0"/>
              <a:t>│   ├── manifests/</a:t>
            </a:r>
          </a:p>
          <a:p>
            <a:r>
              <a:rPr lang="en-US" dirty="0"/>
              <a:t>│   │   └── AndroidManifest.xml</a:t>
            </a:r>
          </a:p>
          <a:p>
            <a:r>
              <a:rPr lang="en-US" dirty="0"/>
              <a:t>│   ├── java/</a:t>
            </a:r>
          </a:p>
          <a:p>
            <a:r>
              <a:rPr lang="en-US" dirty="0"/>
              <a:t>│   │   └── </a:t>
            </a:r>
            <a:r>
              <a:rPr lang="en-US" dirty="0" err="1"/>
              <a:t>com.example.myapplication</a:t>
            </a:r>
            <a:r>
              <a:rPr lang="en-US" dirty="0"/>
              <a:t>/</a:t>
            </a:r>
          </a:p>
          <a:p>
            <a:r>
              <a:rPr lang="en-US" dirty="0"/>
              <a:t>│   │       └── MainActivity.java</a:t>
            </a:r>
          </a:p>
          <a:p>
            <a:r>
              <a:rPr lang="en-US" dirty="0"/>
              <a:t>│   └── res/</a:t>
            </a:r>
          </a:p>
          <a:p>
            <a:r>
              <a:rPr lang="en-US" dirty="0"/>
              <a:t>│       ├── layout/</a:t>
            </a:r>
          </a:p>
          <a:p>
            <a:r>
              <a:rPr lang="en-US" dirty="0"/>
              <a:t>│       │   └── activity_main.xml</a:t>
            </a:r>
          </a:p>
          <a:p>
            <a:r>
              <a:rPr lang="en-US" dirty="0"/>
              <a:t>│       ├── values/</a:t>
            </a:r>
          </a:p>
          <a:p>
            <a:r>
              <a:rPr lang="en-US" dirty="0"/>
              <a:t>│       │   ├── strings.xml</a:t>
            </a:r>
          </a:p>
          <a:p>
            <a:r>
              <a:rPr lang="en-US" dirty="0"/>
              <a:t>│       │   ├── colors.xml</a:t>
            </a:r>
          </a:p>
          <a:p>
            <a:r>
              <a:rPr lang="en-US" dirty="0"/>
              <a:t>│       │   └── styles.xml</a:t>
            </a:r>
          </a:p>
          <a:p>
            <a:r>
              <a:rPr lang="en-US" dirty="0"/>
              <a:t>│       └── mipmap/</a:t>
            </a:r>
          </a:p>
          <a:p>
            <a:r>
              <a:rPr lang="en-US" dirty="0"/>
              <a:t>│           └── ic_launcher.png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</a:t>
            </a:r>
            <a:r>
              <a:rPr lang="en-US" dirty="0" err="1"/>
              <a:t>build.gradle</a:t>
            </a:r>
            <a:r>
              <a:rPr lang="en-US" dirty="0"/>
              <a:t> (Project level)</a:t>
            </a:r>
          </a:p>
          <a:p>
            <a:r>
              <a:rPr lang="en-US" dirty="0"/>
              <a:t>├── </a:t>
            </a:r>
            <a:r>
              <a:rPr lang="en-US" dirty="0" err="1"/>
              <a:t>build.gradle</a:t>
            </a:r>
            <a:r>
              <a:rPr lang="en-US" dirty="0"/>
              <a:t> (App level)</a:t>
            </a:r>
          </a:p>
          <a:p>
            <a:r>
              <a:rPr lang="en-US" dirty="0"/>
              <a:t>└── </a:t>
            </a:r>
            <a:r>
              <a:rPr lang="en-US" dirty="0" err="1"/>
              <a:t>gradle.properties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3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98F6-8D72-497E-0010-55033C744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CCFE0C-6E66-D2A8-31AD-B32C9E9219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Java/Kotlin Folder: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Contains source code (Activities, Fragments,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 Folder: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resources like layouts, images, colors,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Manifest File: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as an entry point of your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Gradle Scripts: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 dependencies, versions, and build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88829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3BA3-AB07-DBCF-8191-353C55AE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Gradle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7674F-3E04-AF2A-0DA4-FFD7D8C28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Gradle</a:t>
            </a:r>
            <a:r>
              <a:rPr lang="en-US" dirty="0"/>
              <a:t> is the </a:t>
            </a:r>
            <a:r>
              <a:rPr lang="en-US" b="1" dirty="0"/>
              <a:t>build system</a:t>
            </a:r>
            <a:r>
              <a:rPr lang="en-US" dirty="0"/>
              <a:t> for Android Studio.</a:t>
            </a:r>
          </a:p>
          <a:p>
            <a:r>
              <a:rPr lang="en-US" dirty="0"/>
              <a:t>It compiles resources, Java/Kotlin code, and packages them into an .</a:t>
            </a:r>
            <a:r>
              <a:rPr lang="en-US" dirty="0" err="1"/>
              <a:t>apk</a:t>
            </a:r>
            <a:r>
              <a:rPr lang="en-US" dirty="0"/>
              <a:t> file.</a:t>
            </a:r>
          </a:p>
          <a:p>
            <a:r>
              <a:rPr lang="en-US" b="1" dirty="0"/>
              <a:t>Two main Gradle files:</a:t>
            </a:r>
            <a:endParaRPr lang="en-US" dirty="0"/>
          </a:p>
          <a:p>
            <a:r>
              <a:rPr lang="en-US" b="1" dirty="0"/>
              <a:t>Project-level (</a:t>
            </a:r>
            <a:r>
              <a:rPr lang="en-US" b="1" dirty="0" err="1"/>
              <a:t>build.gradle</a:t>
            </a:r>
            <a:r>
              <a:rPr lang="en-US" b="1" dirty="0"/>
              <a:t>)</a:t>
            </a:r>
            <a:r>
              <a:rPr lang="en-US" dirty="0"/>
              <a:t> → Configures global settings.</a:t>
            </a:r>
          </a:p>
          <a:p>
            <a:r>
              <a:rPr lang="en-US" b="1" dirty="0"/>
              <a:t>App-level (</a:t>
            </a:r>
            <a:r>
              <a:rPr lang="en-US" b="1" dirty="0" err="1"/>
              <a:t>build.gradle</a:t>
            </a:r>
            <a:r>
              <a:rPr lang="en-US" b="1" dirty="0"/>
              <a:t>)</a:t>
            </a:r>
            <a:r>
              <a:rPr lang="en-US" dirty="0"/>
              <a:t> → Manages app dependencies, SDK versions, and plugins.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0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C7B0-6ADF-952C-7CDF-598F1A87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Steps to Create Your First Notification App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08CEB-8392-D64E-A0F0-BA2C662EC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Create New Project</a:t>
            </a:r>
          </a:p>
          <a:p>
            <a:r>
              <a:rPr lang="en-US" dirty="0"/>
              <a:t>Open </a:t>
            </a:r>
            <a:r>
              <a:rPr lang="en-US" b="1" dirty="0"/>
              <a:t>Android Studio</a:t>
            </a:r>
            <a:r>
              <a:rPr lang="en-US" dirty="0"/>
              <a:t> → Click </a:t>
            </a:r>
            <a:r>
              <a:rPr lang="en-US" b="1" dirty="0"/>
              <a:t>New Project</a:t>
            </a:r>
            <a:r>
              <a:rPr lang="en-US" dirty="0"/>
              <a:t> → Choose </a:t>
            </a:r>
            <a:r>
              <a:rPr lang="en-US" b="1" dirty="0"/>
              <a:t>Empty Activity</a:t>
            </a:r>
            <a:r>
              <a:rPr lang="en-US" dirty="0"/>
              <a:t>.</a:t>
            </a:r>
          </a:p>
          <a:p>
            <a:r>
              <a:rPr lang="en-US" dirty="0"/>
              <a:t>Name it </a:t>
            </a:r>
            <a:r>
              <a:rPr lang="en-US" b="1" dirty="0"/>
              <a:t>“</a:t>
            </a:r>
            <a:r>
              <a:rPr lang="en-US" b="1" dirty="0" err="1"/>
              <a:t>NotificationApp</a:t>
            </a:r>
            <a:r>
              <a:rPr lang="en-US" b="1" dirty="0"/>
              <a:t>”</a:t>
            </a:r>
            <a:r>
              <a:rPr lang="en-US" dirty="0"/>
              <a:t>.</a:t>
            </a:r>
          </a:p>
          <a:p>
            <a:r>
              <a:rPr lang="en-US" dirty="0"/>
              <a:t>Select </a:t>
            </a:r>
            <a:r>
              <a:rPr lang="en-US" b="1" dirty="0"/>
              <a:t>Language: Java</a:t>
            </a:r>
            <a:r>
              <a:rPr lang="en-US" dirty="0"/>
              <a:t> and </a:t>
            </a:r>
            <a:r>
              <a:rPr lang="en-US" b="1" dirty="0"/>
              <a:t>Minimum SDK: API 21 (Android 5.0)</a:t>
            </a:r>
            <a:r>
              <a:rPr lang="en-US" dirty="0"/>
              <a:t>.</a:t>
            </a:r>
          </a:p>
          <a:p>
            <a:r>
              <a:rPr lang="en-US" dirty="0"/>
              <a:t>Click </a:t>
            </a:r>
            <a:r>
              <a:rPr lang="en-US" b="1" dirty="0"/>
              <a:t>Finish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64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5C23-AE79-5E84-1FAC-A6573E0F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Design the Layout (activity_main.xml)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9A288-75D1-CA67-3DE8-15B87EFF8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android:gravity</a:t>
            </a:r>
            <a:r>
              <a:rPr lang="en-US" dirty="0"/>
              <a:t>="center"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="vertical"&gt;</a:t>
            </a:r>
          </a:p>
          <a:p>
            <a:endParaRPr lang="en-US" dirty="0"/>
          </a:p>
          <a:p>
            <a:r>
              <a:rPr lang="en-US" dirty="0"/>
              <a:t>   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notifyButton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="Show Notification"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 /&gt;</a:t>
            </a:r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521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AA7F9-0EC9-833C-F6EF-52C7DED9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127"/>
          </a:xfrm>
        </p:spPr>
        <p:txBody>
          <a:bodyPr/>
          <a:lstStyle/>
          <a:p>
            <a:r>
              <a:rPr lang="en-US" dirty="0"/>
              <a:t>Step 3: Code the Logic (MainActivity.java)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4A83F-60D4-2EA8-FEC4-2E76B8B44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154"/>
            <a:ext cx="10515600" cy="4887809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com.example.notificationapp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androidx.appcompat.app.AppCompatActivity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androidx.core.app.NotificationCompat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androidx.core.app.NotificationManagerCompat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android.app.NotificationChannel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android.app.NotificationManager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android.os.Build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android.os.Bundle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android.widget.Button</a:t>
            </a:r>
            <a:r>
              <a:rPr lang="en-US" dirty="0"/>
              <a:t>;</a:t>
            </a:r>
          </a:p>
          <a:p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r>
              <a:rPr lang="en-US" dirty="0"/>
              <a:t>    private static final String CHANNEL_ID = "</a:t>
            </a:r>
            <a:r>
              <a:rPr lang="en-US" dirty="0" err="1"/>
              <a:t>notifyAppChannel</a:t>
            </a:r>
            <a:r>
              <a:rPr lang="en-US" dirty="0"/>
              <a:t>";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createNotificationChannel</a:t>
            </a:r>
            <a:r>
              <a:rPr lang="en-US" dirty="0"/>
              <a:t>();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122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2544-B37F-A5BA-A4CD-06D3F2528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706"/>
            <a:ext cx="10515600" cy="6074191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 Button </a:t>
            </a:r>
            <a:r>
              <a:rPr lang="en-US" dirty="0" err="1"/>
              <a:t>notifyButton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R.id.notifyButton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notifyButton.setOnClickListener</a:t>
            </a:r>
            <a:r>
              <a:rPr lang="en-US" dirty="0"/>
              <a:t>(v -&gt; </a:t>
            </a:r>
            <a:r>
              <a:rPr lang="en-US" dirty="0" err="1"/>
              <a:t>showNotification</a:t>
            </a:r>
            <a:r>
              <a:rPr lang="en-US" dirty="0"/>
              <a:t>());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private void </a:t>
            </a:r>
            <a:r>
              <a:rPr lang="en-US" dirty="0" err="1"/>
              <a:t>createNotificationChannel</a:t>
            </a:r>
            <a:r>
              <a:rPr lang="en-US" dirty="0"/>
              <a:t>() {</a:t>
            </a:r>
          </a:p>
          <a:p>
            <a:r>
              <a:rPr lang="en-US" dirty="0"/>
              <a:t>        if (</a:t>
            </a:r>
            <a:r>
              <a:rPr lang="en-US" dirty="0" err="1"/>
              <a:t>Build.VERSION.SDK_INT</a:t>
            </a:r>
            <a:r>
              <a:rPr lang="en-US" dirty="0"/>
              <a:t> &gt;= </a:t>
            </a:r>
            <a:r>
              <a:rPr lang="en-US" dirty="0" err="1"/>
              <a:t>Build.VERSION_CODES.O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CharSequence</a:t>
            </a:r>
            <a:r>
              <a:rPr lang="en-US" dirty="0"/>
              <a:t> name = "</a:t>
            </a:r>
            <a:r>
              <a:rPr lang="en-US" dirty="0" err="1"/>
              <a:t>NotificationChannel</a:t>
            </a:r>
            <a:r>
              <a:rPr lang="en-US" dirty="0"/>
              <a:t>";</a:t>
            </a:r>
          </a:p>
          <a:p>
            <a:r>
              <a:rPr lang="en-US" dirty="0"/>
              <a:t>            String description = "Channel for Notification App";</a:t>
            </a:r>
          </a:p>
          <a:p>
            <a:r>
              <a:rPr lang="en-US" dirty="0"/>
              <a:t>            int importance = </a:t>
            </a:r>
            <a:r>
              <a:rPr lang="en-US" dirty="0" err="1"/>
              <a:t>NotificationManager.IMPORTANCE_DEFAULT</a:t>
            </a:r>
            <a:r>
              <a:rPr lang="en-US" dirty="0"/>
              <a:t>;</a:t>
            </a:r>
          </a:p>
          <a:p>
            <a:r>
              <a:rPr lang="en-US" dirty="0"/>
              <a:t>            </a:t>
            </a:r>
            <a:r>
              <a:rPr lang="en-US" dirty="0" err="1"/>
              <a:t>NotificationChannel</a:t>
            </a:r>
            <a:r>
              <a:rPr lang="en-US" dirty="0"/>
              <a:t> channel = new </a:t>
            </a:r>
            <a:r>
              <a:rPr lang="en-US" dirty="0" err="1"/>
              <a:t>NotificationChannel</a:t>
            </a:r>
            <a:r>
              <a:rPr lang="en-US" dirty="0"/>
              <a:t>(CHANNEL_ID, name, importance);</a:t>
            </a:r>
          </a:p>
          <a:p>
            <a:r>
              <a:rPr lang="en-US" dirty="0"/>
              <a:t>            </a:t>
            </a:r>
            <a:r>
              <a:rPr lang="en-US" dirty="0" err="1"/>
              <a:t>channel.setDescription</a:t>
            </a:r>
            <a:r>
              <a:rPr lang="en-US" dirty="0"/>
              <a:t>(description);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NotificationManager</a:t>
            </a:r>
            <a:r>
              <a:rPr lang="en-US" dirty="0"/>
              <a:t> </a:t>
            </a:r>
            <a:r>
              <a:rPr lang="en-US" dirty="0" err="1"/>
              <a:t>notificationManager</a:t>
            </a:r>
            <a:r>
              <a:rPr lang="en-US" dirty="0"/>
              <a:t> = </a:t>
            </a:r>
            <a:r>
              <a:rPr lang="en-US" dirty="0" err="1"/>
              <a:t>getSystemService</a:t>
            </a:r>
            <a:r>
              <a:rPr lang="en-US" dirty="0"/>
              <a:t>(</a:t>
            </a:r>
            <a:r>
              <a:rPr lang="en-US" dirty="0" err="1"/>
              <a:t>NotificationManager.class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notificationManager.createNotificationChannel</a:t>
            </a:r>
            <a:r>
              <a:rPr lang="en-US" dirty="0"/>
              <a:t>(channel);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private void </a:t>
            </a:r>
            <a:r>
              <a:rPr lang="en-US" dirty="0" err="1"/>
              <a:t>showNotification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NotificationCompat.Builder</a:t>
            </a:r>
            <a:r>
              <a:rPr lang="en-US" dirty="0"/>
              <a:t> builder = new </a:t>
            </a:r>
            <a:r>
              <a:rPr lang="en-US" dirty="0" err="1"/>
              <a:t>NotificationCompat.Builder</a:t>
            </a:r>
            <a:r>
              <a:rPr lang="en-US" dirty="0"/>
              <a:t>(this, CHANNEL_ID)</a:t>
            </a:r>
          </a:p>
          <a:p>
            <a:r>
              <a:rPr lang="en-US" dirty="0"/>
              <a:t>                .</a:t>
            </a:r>
            <a:r>
              <a:rPr lang="en-US" dirty="0" err="1"/>
              <a:t>setSmallIcon</a:t>
            </a:r>
            <a:r>
              <a:rPr lang="en-US" dirty="0"/>
              <a:t>(</a:t>
            </a:r>
            <a:r>
              <a:rPr lang="en-US" dirty="0" err="1"/>
              <a:t>R.drawable.ic_launcher_foreground</a:t>
            </a:r>
            <a:r>
              <a:rPr lang="en-US" dirty="0"/>
              <a:t>)</a:t>
            </a:r>
          </a:p>
          <a:p>
            <a:r>
              <a:rPr lang="en-US" dirty="0"/>
              <a:t>                .</a:t>
            </a:r>
            <a:r>
              <a:rPr lang="en-US" dirty="0" err="1"/>
              <a:t>setContentTitle</a:t>
            </a:r>
            <a:r>
              <a:rPr lang="en-US" dirty="0"/>
              <a:t>("Android Notification")</a:t>
            </a:r>
          </a:p>
          <a:p>
            <a:r>
              <a:rPr lang="en-US" dirty="0"/>
              <a:t>                .</a:t>
            </a:r>
            <a:r>
              <a:rPr lang="en-US" dirty="0" err="1"/>
              <a:t>setContentText</a:t>
            </a:r>
            <a:r>
              <a:rPr lang="en-US" dirty="0"/>
              <a:t>("Hello! This is your first notification.")</a:t>
            </a:r>
          </a:p>
          <a:p>
            <a:r>
              <a:rPr lang="en-US" dirty="0"/>
              <a:t>                .</a:t>
            </a:r>
            <a:r>
              <a:rPr lang="en-US" dirty="0" err="1"/>
              <a:t>setPriority</a:t>
            </a:r>
            <a:r>
              <a:rPr lang="en-US" dirty="0"/>
              <a:t>(</a:t>
            </a:r>
            <a:r>
              <a:rPr lang="en-US" dirty="0" err="1"/>
              <a:t>NotificationCompat.PRIORITY_DEFAULT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NotificationManagerCompat</a:t>
            </a:r>
            <a:r>
              <a:rPr lang="en-US" dirty="0"/>
              <a:t> </a:t>
            </a:r>
            <a:r>
              <a:rPr lang="en-US" dirty="0" err="1"/>
              <a:t>notificationManager</a:t>
            </a:r>
            <a:r>
              <a:rPr lang="en-US" dirty="0"/>
              <a:t> = </a:t>
            </a:r>
            <a:r>
              <a:rPr lang="en-US" dirty="0" err="1"/>
              <a:t>NotificationManagerCompat.from</a:t>
            </a:r>
            <a:r>
              <a:rPr lang="en-US" dirty="0"/>
              <a:t>(this);</a:t>
            </a:r>
          </a:p>
          <a:p>
            <a:r>
              <a:rPr lang="en-US" dirty="0"/>
              <a:t>        </a:t>
            </a:r>
            <a:r>
              <a:rPr lang="en-US" dirty="0" err="1"/>
              <a:t>notificationManager.notify</a:t>
            </a:r>
            <a:r>
              <a:rPr lang="en-US" dirty="0"/>
              <a:t>(1, </a:t>
            </a:r>
            <a:r>
              <a:rPr lang="en-US" dirty="0" err="1"/>
              <a:t>builder.build</a:t>
            </a:r>
            <a:r>
              <a:rPr lang="en-US" dirty="0"/>
              <a:t>());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0913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D785-45B6-D48C-CF96-A29903E9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Run the App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0F313-0F27-042A-E91E-AA570130B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</a:t>
            </a:r>
            <a:r>
              <a:rPr lang="en-US" b="1" dirty="0"/>
              <a:t>Run ▶️</a:t>
            </a:r>
            <a:r>
              <a:rPr lang="en-US" dirty="0"/>
              <a:t> on the toolbar.</a:t>
            </a:r>
          </a:p>
          <a:p>
            <a:r>
              <a:rPr lang="en-US" dirty="0"/>
              <a:t>Choose </a:t>
            </a:r>
            <a:r>
              <a:rPr lang="en-US" b="1" dirty="0"/>
              <a:t>AVD Emulator</a:t>
            </a:r>
            <a:r>
              <a:rPr lang="en-US" dirty="0"/>
              <a:t> or connect your </a:t>
            </a:r>
            <a:r>
              <a:rPr lang="en-US" b="1" dirty="0"/>
              <a:t>Android device</a:t>
            </a:r>
            <a:r>
              <a:rPr lang="en-US" dirty="0"/>
              <a:t> via USB.</a:t>
            </a:r>
          </a:p>
          <a:p>
            <a:r>
              <a:rPr lang="en-US" dirty="0"/>
              <a:t>Tap the </a:t>
            </a:r>
            <a:r>
              <a:rPr lang="en-US" b="1" dirty="0"/>
              <a:t>“Show Notification”</a:t>
            </a:r>
            <a:r>
              <a:rPr lang="en-US" dirty="0"/>
              <a:t> button — a notification appears in the status bar.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178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4A22D-952E-3E10-A564-AC38E2D9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Learning Outcomes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ED7EC-0611-2B16-92C8-FC4754F52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completing this lecture, students will be able to:</a:t>
            </a:r>
          </a:p>
          <a:p>
            <a:r>
              <a:rPr lang="en-US" dirty="0"/>
              <a:t>✅ Understand and design Android layouts using </a:t>
            </a:r>
            <a:r>
              <a:rPr lang="en-US" b="1" dirty="0"/>
              <a:t>XML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Identify and explain </a:t>
            </a:r>
            <a:r>
              <a:rPr lang="en-US" b="1" dirty="0"/>
              <a:t>project structure</a:t>
            </a:r>
            <a:r>
              <a:rPr lang="en-US" dirty="0"/>
              <a:t> in Android Studio.</a:t>
            </a:r>
            <a:br>
              <a:rPr lang="en-US" dirty="0"/>
            </a:br>
            <a:r>
              <a:rPr lang="en-US" dirty="0"/>
              <a:t>✅ Configure </a:t>
            </a:r>
            <a:r>
              <a:rPr lang="en-US" b="1" dirty="0"/>
              <a:t>Gradle</a:t>
            </a:r>
            <a:r>
              <a:rPr lang="en-US" dirty="0"/>
              <a:t> build system and app dependencies.</a:t>
            </a:r>
            <a:br>
              <a:rPr lang="en-US" dirty="0"/>
            </a:br>
            <a:r>
              <a:rPr lang="en-US" dirty="0"/>
              <a:t>✅ Build and test a </a:t>
            </a:r>
            <a:r>
              <a:rPr lang="en-US" b="1" dirty="0"/>
              <a:t>basic Android notification app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Understand the </a:t>
            </a:r>
            <a:r>
              <a:rPr lang="en-US" b="1" dirty="0"/>
              <a:t>interaction between UI (XML) and backend (Java)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369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25DA-5011-97C3-33F9-1F420A54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7B98F-750D-B47E-229C-5FF4651E5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Task:</a:t>
            </a:r>
            <a:br>
              <a:rPr lang="en-US" dirty="0"/>
            </a:br>
            <a:r>
              <a:rPr lang="en-US" dirty="0"/>
              <a:t>Create an app that shows </a:t>
            </a:r>
            <a:r>
              <a:rPr lang="en-US" b="1" dirty="0"/>
              <a:t>two buttons</a:t>
            </a:r>
            <a:r>
              <a:rPr lang="en-US" dirty="0"/>
              <a:t>:</a:t>
            </a:r>
          </a:p>
          <a:p>
            <a:r>
              <a:rPr lang="en-US" dirty="0"/>
              <a:t>One to display a </a:t>
            </a:r>
            <a:r>
              <a:rPr lang="en-US" b="1" dirty="0"/>
              <a:t>short notification message</a:t>
            </a:r>
            <a:endParaRPr lang="en-US" dirty="0"/>
          </a:p>
          <a:p>
            <a:r>
              <a:rPr lang="en-US" dirty="0"/>
              <a:t>Another to show a </a:t>
            </a:r>
            <a:r>
              <a:rPr lang="en-US" b="1" dirty="0"/>
              <a:t>custom Toast message</a:t>
            </a:r>
            <a:endParaRPr lang="en-US" dirty="0"/>
          </a:p>
          <a:p>
            <a:r>
              <a:rPr lang="en-US" b="1" dirty="0"/>
              <a:t>Deliverables:</a:t>
            </a:r>
            <a:endParaRPr lang="en-US" dirty="0"/>
          </a:p>
          <a:p>
            <a:r>
              <a:rPr lang="en-US" dirty="0"/>
              <a:t>activity_main.xml layout</a:t>
            </a:r>
          </a:p>
          <a:p>
            <a:r>
              <a:rPr lang="en-US" dirty="0"/>
              <a:t>MainActivity.java logic</a:t>
            </a:r>
          </a:p>
          <a:p>
            <a:r>
              <a:rPr lang="en-US" dirty="0"/>
              <a:t>Screenshot of the app running on emulator/device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752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1354</Words>
  <Application>Microsoft Office PowerPoint</Application>
  <PresentationFormat>Widescreen</PresentationFormat>
  <Paragraphs>171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 XML Files, Android Studio Project Structure &amp; First Notification App</vt:lpstr>
      <vt:lpstr>Lecture Objective </vt:lpstr>
      <vt:lpstr>Meaning &amp; Purpose of XML in Android Studio </vt:lpstr>
      <vt:lpstr>Common XML Files in Android Studio</vt:lpstr>
      <vt:lpstr>XML Layout Example</vt:lpstr>
      <vt:lpstr>Android Studio Project Structure</vt:lpstr>
      <vt:lpstr>Key Components:</vt:lpstr>
      <vt:lpstr>Understanding Gradle</vt:lpstr>
      <vt:lpstr>Steps to Create Your First Notification App </vt:lpstr>
      <vt:lpstr>Step 2: Design the Layout (activity_main.xml)</vt:lpstr>
      <vt:lpstr>Step 3: Code the Logic (MainActivity.java)</vt:lpstr>
      <vt:lpstr>PowerPoint Presentation</vt:lpstr>
      <vt:lpstr>Step 4: Run the App </vt:lpstr>
      <vt:lpstr>Expected Learning Outcomes </vt:lpstr>
      <vt:lpstr>Assignment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26</cp:revision>
  <dcterms:created xsi:type="dcterms:W3CDTF">2025-10-24T09:05:21Z</dcterms:created>
  <dcterms:modified xsi:type="dcterms:W3CDTF">2025-10-24T09:13:00Z</dcterms:modified>
</cp:coreProperties>
</file>