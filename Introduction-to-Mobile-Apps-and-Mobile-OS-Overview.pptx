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Heebo Light" pitchFamily="2" charset="-79"/>
      <p:regular r:id="rId13"/>
    </p:embeddedFont>
    <p:embeddedFont>
      <p:font typeface="Montserrat" panose="00000500000000000000" pitchFamily="2"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7" d="100"/>
          <a:sy n="57" d="100"/>
        </p:scale>
        <p:origin x="80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3948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391013"/>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F2F0F4"/>
                </a:solidFill>
                <a:latin typeface="Montserrat" pitchFamily="34" charset="0"/>
                <a:ea typeface="Montserrat" pitchFamily="34" charset="-122"/>
                <a:cs typeface="Montserrat" pitchFamily="34" charset="-120"/>
              </a:rPr>
              <a:t>Introduction to Mobile Apps &amp; Mobile OS Overview</a:t>
            </a:r>
            <a:endParaRPr lang="en-US" sz="4450" dirty="0"/>
          </a:p>
        </p:txBody>
      </p:sp>
      <p:sp>
        <p:nvSpPr>
          <p:cNvPr id="4" name="Text 1"/>
          <p:cNvSpPr/>
          <p:nvPr/>
        </p:nvSpPr>
        <p:spPr>
          <a:xfrm>
            <a:off x="6280190" y="4857512"/>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DCD7E5"/>
                </a:solidFill>
                <a:latin typeface="Heebo Light" pitchFamily="34" charset="0"/>
                <a:ea typeface="Heebo Light" pitchFamily="34" charset="-122"/>
                <a:cs typeface="Heebo Light" pitchFamily="34" charset="-120"/>
              </a:rPr>
              <a:t>Instructor:</a:t>
            </a:r>
            <a:r>
              <a:rPr lang="en-US" sz="1750" dirty="0">
                <a:solidFill>
                  <a:srgbClr val="DCD7E5"/>
                </a:solidFill>
                <a:latin typeface="Heebo Light" pitchFamily="34" charset="0"/>
                <a:ea typeface="Heebo Light" pitchFamily="34" charset="-122"/>
                <a:cs typeface="Heebo Light" pitchFamily="34" charset="-120"/>
              </a:rPr>
              <a:t> Adnan Majeed</a:t>
            </a:r>
            <a:endParaRPr lang="en-US" sz="1750" dirty="0"/>
          </a:p>
        </p:txBody>
      </p:sp>
      <p:sp>
        <p:nvSpPr>
          <p:cNvPr id="5" name="Text 2"/>
          <p:cNvSpPr/>
          <p:nvPr/>
        </p:nvSpPr>
        <p:spPr>
          <a:xfrm>
            <a:off x="6280190" y="5475565"/>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DCD7E5"/>
                </a:solidFill>
                <a:latin typeface="Heebo Light" pitchFamily="34" charset="0"/>
                <a:ea typeface="Heebo Light" pitchFamily="34" charset="-122"/>
                <a:cs typeface="Heebo Light" pitchFamily="34" charset="-120"/>
              </a:rPr>
              <a:t>Course:</a:t>
            </a:r>
            <a:r>
              <a:rPr lang="en-US" sz="1750" dirty="0">
                <a:solidFill>
                  <a:srgbClr val="DCD7E5"/>
                </a:solidFill>
                <a:latin typeface="Heebo Light" pitchFamily="34" charset="0"/>
                <a:ea typeface="Heebo Light" pitchFamily="34" charset="-122"/>
                <a:cs typeface="Heebo Light" pitchFamily="34" charset="-120"/>
              </a:rPr>
              <a:t> BSCS 7th Semester</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85537" y="381476"/>
            <a:ext cx="4081582" cy="433507"/>
          </a:xfrm>
          <a:prstGeom prst="rect">
            <a:avLst/>
          </a:prstGeom>
          <a:noFill/>
          <a:ln/>
        </p:spPr>
        <p:txBody>
          <a:bodyPr wrap="none" lIns="0" tIns="0" rIns="0" bIns="0" rtlCol="0" anchor="t"/>
          <a:lstStyle/>
          <a:p>
            <a:pPr marL="0" indent="0" algn="l">
              <a:lnSpc>
                <a:spcPts val="3400"/>
              </a:lnSpc>
              <a:buNone/>
            </a:pPr>
            <a:r>
              <a:rPr lang="en-US" sz="2700" dirty="0">
                <a:solidFill>
                  <a:srgbClr val="F2F0F4"/>
                </a:solidFill>
                <a:latin typeface="Montserrat" pitchFamily="34" charset="0"/>
                <a:ea typeface="Montserrat" pitchFamily="34" charset="-122"/>
                <a:cs typeface="Montserrat" pitchFamily="34" charset="-120"/>
              </a:rPr>
              <a:t>What Are Mobile Apps?</a:t>
            </a:r>
            <a:endParaRPr lang="en-US" sz="2700" dirty="0"/>
          </a:p>
        </p:txBody>
      </p:sp>
      <p:sp>
        <p:nvSpPr>
          <p:cNvPr id="3" name="Text 1"/>
          <p:cNvSpPr/>
          <p:nvPr/>
        </p:nvSpPr>
        <p:spPr>
          <a:xfrm>
            <a:off x="485537" y="1147763"/>
            <a:ext cx="6660475" cy="1185863"/>
          </a:xfrm>
          <a:prstGeom prst="rect">
            <a:avLst/>
          </a:prstGeom>
          <a:noFill/>
          <a:ln/>
        </p:spPr>
        <p:txBody>
          <a:bodyPr wrap="square" lIns="0" tIns="0" rIns="0" bIns="0" rtlCol="0" anchor="t"/>
          <a:lstStyle/>
          <a:p>
            <a:pPr marL="0" indent="0" algn="l">
              <a:lnSpc>
                <a:spcPts val="1700"/>
              </a:lnSpc>
              <a:buNone/>
            </a:pPr>
            <a:r>
              <a:rPr lang="en-US" sz="1400" dirty="0">
                <a:solidFill>
                  <a:srgbClr val="DCD7E5"/>
                </a:solidFill>
                <a:latin typeface="Heebo Light" pitchFamily="34" charset="0"/>
                <a:ea typeface="Heebo Light" pitchFamily="34" charset="-122"/>
                <a:cs typeface="Heebo Light" pitchFamily="34" charset="-120"/>
              </a:rPr>
              <a:t>Mobile applications are sophisticated software programs designed specifically to run on smartphones and tablets, transforming how we work, </a:t>
            </a:r>
            <a:r>
              <a:rPr lang="en-US" sz="1600" dirty="0">
                <a:solidFill>
                  <a:srgbClr val="DCD7E5"/>
                </a:solidFill>
                <a:latin typeface="Heebo Light" pitchFamily="34" charset="0"/>
                <a:ea typeface="Heebo Light" pitchFamily="34" charset="-122"/>
                <a:cs typeface="Heebo Light" pitchFamily="34" charset="-120"/>
              </a:rPr>
              <a:t>communicate</a:t>
            </a:r>
            <a:r>
              <a:rPr lang="en-US" sz="1400" dirty="0">
                <a:solidFill>
                  <a:srgbClr val="DCD7E5"/>
                </a:solidFill>
                <a:latin typeface="Heebo Light" pitchFamily="34" charset="0"/>
                <a:ea typeface="Heebo Light" pitchFamily="34" charset="-122"/>
                <a:cs typeface="Heebo Light" pitchFamily="34" charset="-120"/>
              </a:rPr>
              <a:t>, and live.</a:t>
            </a:r>
            <a:endParaRPr lang="en-US" sz="1400" dirty="0"/>
          </a:p>
        </p:txBody>
      </p:sp>
      <p:sp>
        <p:nvSpPr>
          <p:cNvPr id="4" name="Text 2"/>
          <p:cNvSpPr/>
          <p:nvPr/>
        </p:nvSpPr>
        <p:spPr>
          <a:xfrm>
            <a:off x="654665" y="3401436"/>
            <a:ext cx="6660475" cy="221933"/>
          </a:xfrm>
          <a:prstGeom prst="rect">
            <a:avLst/>
          </a:prstGeom>
          <a:noFill/>
          <a:ln/>
        </p:spPr>
        <p:txBody>
          <a:bodyPr wrap="none" lIns="0" tIns="0" rIns="0" bIns="0" rtlCol="0" anchor="t"/>
          <a:lstStyle/>
          <a:p>
            <a:pPr marL="0" indent="0" algn="l">
              <a:lnSpc>
                <a:spcPts val="1700"/>
              </a:lnSpc>
              <a:buNone/>
            </a:pPr>
            <a:r>
              <a:rPr lang="en-US" b="1" dirty="0">
                <a:solidFill>
                  <a:srgbClr val="DCD7E5"/>
                </a:solidFill>
                <a:latin typeface="Heebo Light" pitchFamily="34" charset="0"/>
                <a:ea typeface="Heebo Light" pitchFamily="34" charset="-122"/>
                <a:cs typeface="Heebo Light" pitchFamily="34" charset="-120"/>
              </a:rPr>
              <a:t>Three main categories:</a:t>
            </a:r>
            <a:endParaRPr lang="en-US" dirty="0"/>
          </a:p>
        </p:txBody>
      </p:sp>
      <p:sp>
        <p:nvSpPr>
          <p:cNvPr id="5" name="Text 3"/>
          <p:cNvSpPr/>
          <p:nvPr/>
        </p:nvSpPr>
        <p:spPr>
          <a:xfrm>
            <a:off x="241041" y="3796606"/>
            <a:ext cx="6660475" cy="221933"/>
          </a:xfrm>
          <a:prstGeom prst="rect">
            <a:avLst/>
          </a:prstGeom>
          <a:noFill/>
          <a:ln/>
        </p:spPr>
        <p:txBody>
          <a:bodyPr wrap="none" lIns="0" tIns="0" rIns="0" bIns="0" rtlCol="0" anchor="t"/>
          <a:lstStyle/>
          <a:p>
            <a:pPr marL="342900" indent="-342900" algn="l">
              <a:lnSpc>
                <a:spcPts val="1700"/>
              </a:lnSpc>
              <a:buSzPct val="100000"/>
              <a:buChar char="•"/>
            </a:pPr>
            <a:r>
              <a:rPr lang="en-US" sz="1400" b="1" dirty="0">
                <a:solidFill>
                  <a:srgbClr val="DCD7E5"/>
                </a:solidFill>
                <a:latin typeface="Heebo Light" pitchFamily="34" charset="0"/>
                <a:ea typeface="Heebo Light" pitchFamily="34" charset="-122"/>
                <a:cs typeface="Heebo Light" pitchFamily="34" charset="-120"/>
              </a:rPr>
              <a:t>Native apps:</a:t>
            </a:r>
            <a:r>
              <a:rPr lang="en-US" sz="1400" dirty="0">
                <a:solidFill>
                  <a:srgbClr val="DCD7E5"/>
                </a:solidFill>
                <a:latin typeface="Heebo Light" pitchFamily="34" charset="0"/>
                <a:ea typeface="Heebo Light" pitchFamily="34" charset="-122"/>
                <a:cs typeface="Heebo Light" pitchFamily="34" charset="-120"/>
              </a:rPr>
              <a:t> Built for specific platforms using platform-specific languages</a:t>
            </a:r>
            <a:endParaRPr lang="en-US" sz="1400" dirty="0"/>
          </a:p>
        </p:txBody>
      </p:sp>
      <p:sp>
        <p:nvSpPr>
          <p:cNvPr id="6" name="Text 4"/>
          <p:cNvSpPr/>
          <p:nvPr/>
        </p:nvSpPr>
        <p:spPr>
          <a:xfrm>
            <a:off x="241041" y="4198975"/>
            <a:ext cx="6660475" cy="221933"/>
          </a:xfrm>
          <a:prstGeom prst="rect">
            <a:avLst/>
          </a:prstGeom>
          <a:noFill/>
          <a:ln/>
        </p:spPr>
        <p:txBody>
          <a:bodyPr wrap="none" lIns="0" tIns="0" rIns="0" bIns="0" rtlCol="0" anchor="t"/>
          <a:lstStyle/>
          <a:p>
            <a:pPr marL="342900" indent="-342900" algn="l">
              <a:lnSpc>
                <a:spcPts val="1700"/>
              </a:lnSpc>
              <a:buSzPct val="100000"/>
              <a:buChar char="•"/>
            </a:pPr>
            <a:r>
              <a:rPr lang="en-US" sz="1400" b="1" dirty="0">
                <a:solidFill>
                  <a:srgbClr val="DCD7E5"/>
                </a:solidFill>
                <a:latin typeface="Heebo Light" pitchFamily="34" charset="0"/>
                <a:ea typeface="Heebo Light" pitchFamily="34" charset="-122"/>
                <a:cs typeface="Heebo Light" pitchFamily="34" charset="-120"/>
              </a:rPr>
              <a:t>Web apps:</a:t>
            </a:r>
            <a:r>
              <a:rPr lang="en-US" sz="1400" dirty="0">
                <a:solidFill>
                  <a:srgbClr val="DCD7E5"/>
                </a:solidFill>
                <a:latin typeface="Heebo Light" pitchFamily="34" charset="0"/>
                <a:ea typeface="Heebo Light" pitchFamily="34" charset="-122"/>
                <a:cs typeface="Heebo Light" pitchFamily="34" charset="-120"/>
              </a:rPr>
              <a:t> Browser-based applications accessible via URLs</a:t>
            </a:r>
            <a:endParaRPr lang="en-US" sz="1400" dirty="0"/>
          </a:p>
        </p:txBody>
      </p:sp>
      <p:sp>
        <p:nvSpPr>
          <p:cNvPr id="7" name="Text 5"/>
          <p:cNvSpPr/>
          <p:nvPr/>
        </p:nvSpPr>
        <p:spPr>
          <a:xfrm>
            <a:off x="536287" y="4691179"/>
            <a:ext cx="6660475" cy="221933"/>
          </a:xfrm>
          <a:prstGeom prst="rect">
            <a:avLst/>
          </a:prstGeom>
          <a:noFill/>
          <a:ln/>
        </p:spPr>
        <p:txBody>
          <a:bodyPr wrap="none" lIns="0" tIns="0" rIns="0" bIns="0" rtlCol="0" anchor="t"/>
          <a:lstStyle/>
          <a:p>
            <a:pPr marL="342900" indent="-342900" algn="l">
              <a:lnSpc>
                <a:spcPts val="1700"/>
              </a:lnSpc>
              <a:buSzPct val="100000"/>
              <a:buChar char="•"/>
            </a:pPr>
            <a:r>
              <a:rPr lang="en-US" sz="1600" b="1" dirty="0">
                <a:solidFill>
                  <a:srgbClr val="DCD7E5"/>
                </a:solidFill>
                <a:latin typeface="Heebo Light" pitchFamily="34" charset="0"/>
                <a:ea typeface="Heebo Light" pitchFamily="34" charset="-122"/>
                <a:cs typeface="Heebo Light" pitchFamily="34" charset="-120"/>
              </a:rPr>
              <a:t>Hybrid apps:</a:t>
            </a:r>
            <a:r>
              <a:rPr lang="en-US" sz="1600" dirty="0">
                <a:solidFill>
                  <a:srgbClr val="DCD7E5"/>
                </a:solidFill>
                <a:latin typeface="Heebo Light" pitchFamily="34" charset="0"/>
                <a:ea typeface="Heebo Light" pitchFamily="34" charset="-122"/>
                <a:cs typeface="Heebo Light" pitchFamily="34" charset="-120"/>
              </a:rPr>
              <a:t> Combining native and web technologies</a:t>
            </a:r>
            <a:endParaRPr lang="en-US" sz="1600" dirty="0"/>
          </a:p>
        </p:txBody>
      </p:sp>
      <p:pic>
        <p:nvPicPr>
          <p:cNvPr id="8" name="Image 0" descr="preencoded.png"/>
          <p:cNvPicPr>
            <a:picLocks noChangeAspect="1"/>
          </p:cNvPicPr>
          <p:nvPr/>
        </p:nvPicPr>
        <p:blipFill>
          <a:blip r:embed="rId3"/>
          <a:stretch>
            <a:fillRect/>
          </a:stretch>
        </p:blipFill>
        <p:spPr>
          <a:xfrm>
            <a:off x="7492008" y="1178957"/>
            <a:ext cx="6660475" cy="6660475"/>
          </a:xfrm>
          <a:prstGeom prst="rect">
            <a:avLst/>
          </a:prstGeom>
        </p:spPr>
      </p:pic>
      <p:sp>
        <p:nvSpPr>
          <p:cNvPr id="9" name="Text 6"/>
          <p:cNvSpPr/>
          <p:nvPr/>
        </p:nvSpPr>
        <p:spPr>
          <a:xfrm>
            <a:off x="485537" y="8220670"/>
            <a:ext cx="4437459" cy="457795"/>
          </a:xfrm>
          <a:prstGeom prst="rect">
            <a:avLst/>
          </a:prstGeom>
          <a:noFill/>
          <a:ln/>
        </p:spPr>
        <p:txBody>
          <a:bodyPr wrap="none" lIns="0" tIns="0" rIns="0" bIns="0" rtlCol="0" anchor="t"/>
          <a:lstStyle/>
          <a:p>
            <a:pPr marL="0" indent="0" algn="ctr">
              <a:lnSpc>
                <a:spcPts val="3600"/>
              </a:lnSpc>
              <a:buNone/>
            </a:pPr>
            <a:r>
              <a:rPr lang="en-US" sz="3600" dirty="0">
                <a:solidFill>
                  <a:srgbClr val="DCD7E5"/>
                </a:solidFill>
                <a:latin typeface="Montserrat" pitchFamily="34" charset="0"/>
                <a:ea typeface="Montserrat" pitchFamily="34" charset="-122"/>
                <a:cs typeface="Montserrat" pitchFamily="34" charset="-120"/>
              </a:rPr>
              <a:t>6.5M</a:t>
            </a:r>
            <a:endParaRPr lang="en-US" sz="3600" dirty="0"/>
          </a:p>
        </p:txBody>
      </p:sp>
      <p:sp>
        <p:nvSpPr>
          <p:cNvPr id="10" name="Text 7"/>
          <p:cNvSpPr/>
          <p:nvPr/>
        </p:nvSpPr>
        <p:spPr>
          <a:xfrm>
            <a:off x="1837134" y="8851702"/>
            <a:ext cx="1734145" cy="216813"/>
          </a:xfrm>
          <a:prstGeom prst="rect">
            <a:avLst/>
          </a:prstGeom>
          <a:noFill/>
          <a:ln/>
        </p:spPr>
        <p:txBody>
          <a:bodyPr wrap="none" lIns="0" tIns="0" rIns="0" bIns="0" rtlCol="0" anchor="t"/>
          <a:lstStyle/>
          <a:p>
            <a:pPr marL="0" indent="0" algn="ctr">
              <a:lnSpc>
                <a:spcPts val="1700"/>
              </a:lnSpc>
              <a:buNone/>
            </a:pPr>
            <a:r>
              <a:rPr lang="en-US" sz="1350" dirty="0">
                <a:solidFill>
                  <a:srgbClr val="DCD7E5"/>
                </a:solidFill>
                <a:latin typeface="Montserrat" pitchFamily="34" charset="0"/>
                <a:ea typeface="Montserrat" pitchFamily="34" charset="-122"/>
                <a:cs typeface="Montserrat" pitchFamily="34" charset="-120"/>
              </a:rPr>
              <a:t>Apps Worldwide</a:t>
            </a:r>
            <a:endParaRPr lang="en-US" sz="1350" dirty="0"/>
          </a:p>
        </p:txBody>
      </p:sp>
      <p:sp>
        <p:nvSpPr>
          <p:cNvPr id="11" name="Text 8"/>
          <p:cNvSpPr/>
          <p:nvPr/>
        </p:nvSpPr>
        <p:spPr>
          <a:xfrm>
            <a:off x="485537" y="9151739"/>
            <a:ext cx="4437459" cy="221933"/>
          </a:xfrm>
          <a:prstGeom prst="rect">
            <a:avLst/>
          </a:prstGeom>
          <a:noFill/>
          <a:ln/>
        </p:spPr>
        <p:txBody>
          <a:bodyPr wrap="none" lIns="0" tIns="0" rIns="0" bIns="0" rtlCol="0" anchor="t"/>
          <a:lstStyle/>
          <a:p>
            <a:pPr marL="0" indent="0" algn="ctr">
              <a:lnSpc>
                <a:spcPts val="1700"/>
              </a:lnSpc>
              <a:buNone/>
            </a:pPr>
            <a:r>
              <a:rPr lang="en-US" sz="1050" dirty="0">
                <a:solidFill>
                  <a:srgbClr val="DCD7E5"/>
                </a:solidFill>
                <a:latin typeface="Heebo Light" pitchFamily="34" charset="0"/>
                <a:ea typeface="Heebo Light" pitchFamily="34" charset="-122"/>
                <a:cs typeface="Heebo Light" pitchFamily="34" charset="-120"/>
              </a:rPr>
              <a:t>Total mobile applications available across all platforms as of 2025</a:t>
            </a:r>
            <a:endParaRPr lang="en-US" sz="1050" dirty="0"/>
          </a:p>
        </p:txBody>
      </p:sp>
      <p:sp>
        <p:nvSpPr>
          <p:cNvPr id="12" name="Text 9"/>
          <p:cNvSpPr/>
          <p:nvPr/>
        </p:nvSpPr>
        <p:spPr>
          <a:xfrm>
            <a:off x="5096351" y="8220670"/>
            <a:ext cx="4437578" cy="457795"/>
          </a:xfrm>
          <a:prstGeom prst="rect">
            <a:avLst/>
          </a:prstGeom>
          <a:noFill/>
          <a:ln/>
        </p:spPr>
        <p:txBody>
          <a:bodyPr wrap="none" lIns="0" tIns="0" rIns="0" bIns="0" rtlCol="0" anchor="t"/>
          <a:lstStyle/>
          <a:p>
            <a:pPr marL="0" indent="0" algn="ctr">
              <a:lnSpc>
                <a:spcPts val="3600"/>
              </a:lnSpc>
              <a:buNone/>
            </a:pPr>
            <a:r>
              <a:rPr lang="en-US" sz="3600" dirty="0">
                <a:solidFill>
                  <a:srgbClr val="DCD7E5"/>
                </a:solidFill>
                <a:latin typeface="Montserrat" pitchFamily="34" charset="0"/>
                <a:ea typeface="Montserrat" pitchFamily="34" charset="-122"/>
                <a:cs typeface="Montserrat" pitchFamily="34" charset="-120"/>
              </a:rPr>
              <a:t>90%</a:t>
            </a:r>
            <a:endParaRPr lang="en-US" sz="3600" dirty="0"/>
          </a:p>
        </p:txBody>
      </p:sp>
      <p:sp>
        <p:nvSpPr>
          <p:cNvPr id="13" name="Text 10"/>
          <p:cNvSpPr/>
          <p:nvPr/>
        </p:nvSpPr>
        <p:spPr>
          <a:xfrm>
            <a:off x="6448068" y="8851702"/>
            <a:ext cx="1734145" cy="216813"/>
          </a:xfrm>
          <a:prstGeom prst="rect">
            <a:avLst/>
          </a:prstGeom>
          <a:noFill/>
          <a:ln/>
        </p:spPr>
        <p:txBody>
          <a:bodyPr wrap="none" lIns="0" tIns="0" rIns="0" bIns="0" rtlCol="0" anchor="t"/>
          <a:lstStyle/>
          <a:p>
            <a:pPr marL="0" indent="0" algn="ctr">
              <a:lnSpc>
                <a:spcPts val="1700"/>
              </a:lnSpc>
              <a:buNone/>
            </a:pPr>
            <a:r>
              <a:rPr lang="en-US" sz="1350" dirty="0">
                <a:solidFill>
                  <a:srgbClr val="DCD7E5"/>
                </a:solidFill>
                <a:latin typeface="Montserrat" pitchFamily="34" charset="0"/>
                <a:ea typeface="Montserrat" pitchFamily="34" charset="-122"/>
                <a:cs typeface="Montserrat" pitchFamily="34" charset="-120"/>
              </a:rPr>
              <a:t>Daily Usage</a:t>
            </a:r>
            <a:endParaRPr lang="en-US" sz="1350" dirty="0"/>
          </a:p>
        </p:txBody>
      </p:sp>
      <p:sp>
        <p:nvSpPr>
          <p:cNvPr id="14" name="Text 11"/>
          <p:cNvSpPr/>
          <p:nvPr/>
        </p:nvSpPr>
        <p:spPr>
          <a:xfrm>
            <a:off x="5096351" y="9151739"/>
            <a:ext cx="4437578" cy="221933"/>
          </a:xfrm>
          <a:prstGeom prst="rect">
            <a:avLst/>
          </a:prstGeom>
          <a:noFill/>
          <a:ln/>
        </p:spPr>
        <p:txBody>
          <a:bodyPr wrap="none" lIns="0" tIns="0" rIns="0" bIns="0" rtlCol="0" anchor="t"/>
          <a:lstStyle/>
          <a:p>
            <a:pPr marL="0" indent="0" algn="ctr">
              <a:lnSpc>
                <a:spcPts val="1700"/>
              </a:lnSpc>
              <a:buNone/>
            </a:pPr>
            <a:r>
              <a:rPr lang="en-US" sz="1050" dirty="0">
                <a:solidFill>
                  <a:srgbClr val="DCD7E5"/>
                </a:solidFill>
                <a:latin typeface="Heebo Light" pitchFamily="34" charset="0"/>
                <a:ea typeface="Heebo Light" pitchFamily="34" charset="-122"/>
                <a:cs typeface="Heebo Light" pitchFamily="34" charset="-120"/>
              </a:rPr>
              <a:t>Time users spend on mobile apps vs mobile browsers</a:t>
            </a:r>
            <a:endParaRPr lang="en-US" sz="1050" dirty="0"/>
          </a:p>
        </p:txBody>
      </p:sp>
      <p:sp>
        <p:nvSpPr>
          <p:cNvPr id="15" name="Text 12"/>
          <p:cNvSpPr/>
          <p:nvPr/>
        </p:nvSpPr>
        <p:spPr>
          <a:xfrm>
            <a:off x="9707285" y="8220670"/>
            <a:ext cx="4437459" cy="457795"/>
          </a:xfrm>
          <a:prstGeom prst="rect">
            <a:avLst/>
          </a:prstGeom>
          <a:noFill/>
          <a:ln/>
        </p:spPr>
        <p:txBody>
          <a:bodyPr wrap="none" lIns="0" tIns="0" rIns="0" bIns="0" rtlCol="0" anchor="t"/>
          <a:lstStyle/>
          <a:p>
            <a:pPr marL="0" indent="0" algn="ctr">
              <a:lnSpc>
                <a:spcPts val="3600"/>
              </a:lnSpc>
              <a:buNone/>
            </a:pPr>
            <a:r>
              <a:rPr lang="en-US" sz="3600" dirty="0">
                <a:solidFill>
                  <a:srgbClr val="DCD7E5"/>
                </a:solidFill>
                <a:latin typeface="Montserrat" pitchFamily="34" charset="0"/>
                <a:ea typeface="Montserrat" pitchFamily="34" charset="-122"/>
                <a:cs typeface="Montserrat" pitchFamily="34" charset="-120"/>
              </a:rPr>
              <a:t>$420B</a:t>
            </a:r>
            <a:endParaRPr lang="en-US" sz="3600" dirty="0"/>
          </a:p>
        </p:txBody>
      </p:sp>
      <p:sp>
        <p:nvSpPr>
          <p:cNvPr id="16" name="Text 13"/>
          <p:cNvSpPr/>
          <p:nvPr/>
        </p:nvSpPr>
        <p:spPr>
          <a:xfrm>
            <a:off x="11058882" y="8851702"/>
            <a:ext cx="1734145" cy="216813"/>
          </a:xfrm>
          <a:prstGeom prst="rect">
            <a:avLst/>
          </a:prstGeom>
          <a:noFill/>
          <a:ln/>
        </p:spPr>
        <p:txBody>
          <a:bodyPr wrap="none" lIns="0" tIns="0" rIns="0" bIns="0" rtlCol="0" anchor="t"/>
          <a:lstStyle/>
          <a:p>
            <a:pPr marL="0" indent="0" algn="ctr">
              <a:lnSpc>
                <a:spcPts val="1700"/>
              </a:lnSpc>
              <a:buNone/>
            </a:pPr>
            <a:r>
              <a:rPr lang="en-US" sz="1350" dirty="0">
                <a:solidFill>
                  <a:srgbClr val="DCD7E5"/>
                </a:solidFill>
                <a:latin typeface="Montserrat" pitchFamily="34" charset="0"/>
                <a:ea typeface="Montserrat" pitchFamily="34" charset="-122"/>
                <a:cs typeface="Montserrat" pitchFamily="34" charset="-120"/>
              </a:rPr>
              <a:t>Market Value</a:t>
            </a:r>
            <a:endParaRPr lang="en-US" sz="1350" dirty="0"/>
          </a:p>
        </p:txBody>
      </p:sp>
      <p:sp>
        <p:nvSpPr>
          <p:cNvPr id="17" name="Text 14"/>
          <p:cNvSpPr/>
          <p:nvPr/>
        </p:nvSpPr>
        <p:spPr>
          <a:xfrm>
            <a:off x="9707285" y="9151739"/>
            <a:ext cx="4437459" cy="221933"/>
          </a:xfrm>
          <a:prstGeom prst="rect">
            <a:avLst/>
          </a:prstGeom>
          <a:noFill/>
          <a:ln/>
        </p:spPr>
        <p:txBody>
          <a:bodyPr wrap="none" lIns="0" tIns="0" rIns="0" bIns="0" rtlCol="0" anchor="t"/>
          <a:lstStyle/>
          <a:p>
            <a:pPr marL="0" indent="0" algn="ctr">
              <a:lnSpc>
                <a:spcPts val="1700"/>
              </a:lnSpc>
              <a:buNone/>
            </a:pPr>
            <a:r>
              <a:rPr lang="en-US" sz="1050" dirty="0">
                <a:solidFill>
                  <a:srgbClr val="DCD7E5"/>
                </a:solidFill>
                <a:latin typeface="Heebo Light" pitchFamily="34" charset="0"/>
                <a:ea typeface="Heebo Light" pitchFamily="34" charset="-122"/>
                <a:cs typeface="Heebo Light" pitchFamily="34" charset="-120"/>
              </a:rPr>
              <a:t>Global mobile app revenue projected for 2025</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83525" y="589717"/>
            <a:ext cx="10390942" cy="521017"/>
          </a:xfrm>
          <a:prstGeom prst="rect">
            <a:avLst/>
          </a:prstGeom>
          <a:noFill/>
          <a:ln/>
        </p:spPr>
        <p:txBody>
          <a:bodyPr wrap="none" lIns="0" tIns="0" rIns="0" bIns="0" rtlCol="0" anchor="t"/>
          <a:lstStyle/>
          <a:p>
            <a:pPr marL="0" indent="0" algn="l">
              <a:lnSpc>
                <a:spcPts val="4100"/>
              </a:lnSpc>
              <a:buNone/>
            </a:pPr>
            <a:r>
              <a:rPr lang="en-US" sz="3250" dirty="0">
                <a:solidFill>
                  <a:srgbClr val="F2F0F4"/>
                </a:solidFill>
                <a:latin typeface="Montserrat" pitchFamily="34" charset="0"/>
                <a:ea typeface="Montserrat" pitchFamily="34" charset="-122"/>
                <a:cs typeface="Montserrat" pitchFamily="34" charset="-120"/>
              </a:rPr>
              <a:t>Mobile Operating Systems: The Backbone of Apps</a:t>
            </a:r>
            <a:endParaRPr lang="en-US" sz="3250" dirty="0"/>
          </a:p>
        </p:txBody>
      </p:sp>
      <p:sp>
        <p:nvSpPr>
          <p:cNvPr id="3" name="Text 1"/>
          <p:cNvSpPr/>
          <p:nvPr/>
        </p:nvSpPr>
        <p:spPr>
          <a:xfrm>
            <a:off x="583525" y="1444109"/>
            <a:ext cx="13463349" cy="533400"/>
          </a:xfrm>
          <a:prstGeom prst="rect">
            <a:avLst/>
          </a:prstGeom>
          <a:noFill/>
          <a:ln/>
        </p:spPr>
        <p:txBody>
          <a:bodyPr wrap="square" lIns="0" tIns="0" rIns="0" bIns="0" rtlCol="0" anchor="t"/>
          <a:lstStyle/>
          <a:p>
            <a:pPr marL="0" indent="0" algn="l">
              <a:lnSpc>
                <a:spcPts val="2100"/>
              </a:lnSpc>
              <a:buNone/>
            </a:pPr>
            <a:r>
              <a:rPr lang="en-US" sz="1300" dirty="0">
                <a:solidFill>
                  <a:srgbClr val="DCD7E5"/>
                </a:solidFill>
                <a:latin typeface="Heebo Light" pitchFamily="34" charset="0"/>
                <a:ea typeface="Heebo Light" pitchFamily="34" charset="-122"/>
                <a:cs typeface="Heebo Light" pitchFamily="34" charset="-120"/>
              </a:rPr>
              <a:t>A mobile operating system (OS) is the fundamental software layer that manages all hardware and software resources on mobile devices. It serves as the critical bridge between applications and device hardware, enabling seamless functionality.</a:t>
            </a:r>
            <a:endParaRPr lang="en-US" sz="1300" dirty="0"/>
          </a:p>
        </p:txBody>
      </p:sp>
      <p:sp>
        <p:nvSpPr>
          <p:cNvPr id="4" name="Shape 2"/>
          <p:cNvSpPr/>
          <p:nvPr/>
        </p:nvSpPr>
        <p:spPr>
          <a:xfrm>
            <a:off x="583525" y="2165033"/>
            <a:ext cx="6648331" cy="1642586"/>
          </a:xfrm>
          <a:prstGeom prst="roundRect">
            <a:avLst>
              <a:gd name="adj" fmla="val 4263"/>
            </a:avLst>
          </a:prstGeom>
          <a:solidFill>
            <a:srgbClr val="31136C"/>
          </a:solidFill>
          <a:ln w="7620">
            <a:solidFill>
              <a:srgbClr val="4A2C85"/>
            </a:solidFill>
            <a:prstDash val="solid"/>
          </a:ln>
        </p:spPr>
      </p:sp>
      <p:pic>
        <p:nvPicPr>
          <p:cNvPr id="5" name="Image 0" descr="preencoded.png"/>
          <p:cNvPicPr>
            <a:picLocks noChangeAspect="1"/>
          </p:cNvPicPr>
          <p:nvPr/>
        </p:nvPicPr>
        <p:blipFill>
          <a:blip r:embed="rId3"/>
          <a:stretch>
            <a:fillRect/>
          </a:stretch>
        </p:blipFill>
        <p:spPr>
          <a:xfrm>
            <a:off x="757833" y="2339340"/>
            <a:ext cx="500182" cy="500182"/>
          </a:xfrm>
          <a:prstGeom prst="rect">
            <a:avLst/>
          </a:prstGeom>
        </p:spPr>
      </p:pic>
      <p:pic>
        <p:nvPicPr>
          <p:cNvPr id="6" name="Image 1" descr="preencoded.png"/>
          <p:cNvPicPr>
            <a:picLocks noChangeAspect="1"/>
          </p:cNvPicPr>
          <p:nvPr/>
        </p:nvPicPr>
        <p:blipFill>
          <a:blip r:embed="rId4"/>
          <a:stretch>
            <a:fillRect/>
          </a:stretch>
        </p:blipFill>
        <p:spPr>
          <a:xfrm>
            <a:off x="895350" y="2448758"/>
            <a:ext cx="225028" cy="281345"/>
          </a:xfrm>
          <a:prstGeom prst="rect">
            <a:avLst/>
          </a:prstGeom>
        </p:spPr>
      </p:pic>
      <p:sp>
        <p:nvSpPr>
          <p:cNvPr id="7" name="Text 3"/>
          <p:cNvSpPr/>
          <p:nvPr/>
        </p:nvSpPr>
        <p:spPr>
          <a:xfrm>
            <a:off x="757833" y="3006209"/>
            <a:ext cx="2084070" cy="260390"/>
          </a:xfrm>
          <a:prstGeom prst="rect">
            <a:avLst/>
          </a:prstGeom>
          <a:noFill/>
          <a:ln/>
        </p:spPr>
        <p:txBody>
          <a:bodyPr wrap="none" lIns="0" tIns="0" rIns="0" bIns="0" rtlCol="0" anchor="t"/>
          <a:lstStyle/>
          <a:p>
            <a:pPr marL="0" indent="0" algn="l">
              <a:lnSpc>
                <a:spcPts val="2050"/>
              </a:lnSpc>
              <a:buNone/>
            </a:pPr>
            <a:r>
              <a:rPr lang="en-US" sz="1600" dirty="0">
                <a:solidFill>
                  <a:srgbClr val="DCD7E5"/>
                </a:solidFill>
                <a:latin typeface="Montserrat" pitchFamily="34" charset="0"/>
                <a:ea typeface="Montserrat" pitchFamily="34" charset="-122"/>
                <a:cs typeface="Montserrat" pitchFamily="34" charset="-120"/>
              </a:rPr>
              <a:t>Android OS</a:t>
            </a:r>
            <a:endParaRPr lang="en-US" sz="1600" dirty="0"/>
          </a:p>
        </p:txBody>
      </p:sp>
      <p:sp>
        <p:nvSpPr>
          <p:cNvPr id="8" name="Text 4"/>
          <p:cNvSpPr/>
          <p:nvPr/>
        </p:nvSpPr>
        <p:spPr>
          <a:xfrm>
            <a:off x="757833" y="3366611"/>
            <a:ext cx="6299716" cy="266700"/>
          </a:xfrm>
          <a:prstGeom prst="rect">
            <a:avLst/>
          </a:prstGeom>
          <a:noFill/>
          <a:ln/>
        </p:spPr>
        <p:txBody>
          <a:bodyPr wrap="none" lIns="0" tIns="0" rIns="0" bIns="0" rtlCol="0" anchor="t"/>
          <a:lstStyle/>
          <a:p>
            <a:pPr marL="0" indent="0" algn="l">
              <a:lnSpc>
                <a:spcPts val="2100"/>
              </a:lnSpc>
              <a:buNone/>
            </a:pPr>
            <a:r>
              <a:rPr lang="en-US" sz="1300" dirty="0">
                <a:solidFill>
                  <a:srgbClr val="DCD7E5"/>
                </a:solidFill>
                <a:latin typeface="Heebo Light" pitchFamily="34" charset="0"/>
                <a:ea typeface="Heebo Light" pitchFamily="34" charset="-122"/>
                <a:cs typeface="Heebo Light" pitchFamily="34" charset="-120"/>
              </a:rPr>
              <a:t>Google's open-source platform powering diverse device manufacturers worldwide</a:t>
            </a:r>
            <a:endParaRPr lang="en-US" sz="1300" dirty="0"/>
          </a:p>
        </p:txBody>
      </p:sp>
      <p:sp>
        <p:nvSpPr>
          <p:cNvPr id="9" name="Shape 5"/>
          <p:cNvSpPr/>
          <p:nvPr/>
        </p:nvSpPr>
        <p:spPr>
          <a:xfrm>
            <a:off x="7398544" y="2165033"/>
            <a:ext cx="6648331" cy="1642586"/>
          </a:xfrm>
          <a:prstGeom prst="roundRect">
            <a:avLst>
              <a:gd name="adj" fmla="val 4263"/>
            </a:avLst>
          </a:prstGeom>
          <a:solidFill>
            <a:srgbClr val="31136C"/>
          </a:solidFill>
          <a:ln w="7620">
            <a:solidFill>
              <a:srgbClr val="4A2C85"/>
            </a:solidFill>
            <a:prstDash val="solid"/>
          </a:ln>
        </p:spPr>
      </p:sp>
      <p:pic>
        <p:nvPicPr>
          <p:cNvPr id="10" name="Image 2" descr="preencoded.png"/>
          <p:cNvPicPr>
            <a:picLocks noChangeAspect="1"/>
          </p:cNvPicPr>
          <p:nvPr/>
        </p:nvPicPr>
        <p:blipFill>
          <a:blip r:embed="rId5"/>
          <a:stretch>
            <a:fillRect/>
          </a:stretch>
        </p:blipFill>
        <p:spPr>
          <a:xfrm>
            <a:off x="7572851" y="2339340"/>
            <a:ext cx="500182" cy="500182"/>
          </a:xfrm>
          <a:prstGeom prst="rect">
            <a:avLst/>
          </a:prstGeom>
        </p:spPr>
      </p:pic>
      <p:pic>
        <p:nvPicPr>
          <p:cNvPr id="11" name="Image 3" descr="preencoded.png"/>
          <p:cNvPicPr>
            <a:picLocks noChangeAspect="1"/>
          </p:cNvPicPr>
          <p:nvPr/>
        </p:nvPicPr>
        <p:blipFill>
          <a:blip r:embed="rId6"/>
          <a:stretch>
            <a:fillRect/>
          </a:stretch>
        </p:blipFill>
        <p:spPr>
          <a:xfrm>
            <a:off x="7710368" y="2448758"/>
            <a:ext cx="225028" cy="281345"/>
          </a:xfrm>
          <a:prstGeom prst="rect">
            <a:avLst/>
          </a:prstGeom>
        </p:spPr>
      </p:pic>
      <p:sp>
        <p:nvSpPr>
          <p:cNvPr id="12" name="Text 6"/>
          <p:cNvSpPr/>
          <p:nvPr/>
        </p:nvSpPr>
        <p:spPr>
          <a:xfrm>
            <a:off x="7572851" y="3006209"/>
            <a:ext cx="2084070" cy="260390"/>
          </a:xfrm>
          <a:prstGeom prst="rect">
            <a:avLst/>
          </a:prstGeom>
          <a:noFill/>
          <a:ln/>
        </p:spPr>
        <p:txBody>
          <a:bodyPr wrap="none" lIns="0" tIns="0" rIns="0" bIns="0" rtlCol="0" anchor="t"/>
          <a:lstStyle/>
          <a:p>
            <a:pPr marL="0" indent="0" algn="l">
              <a:lnSpc>
                <a:spcPts val="2050"/>
              </a:lnSpc>
              <a:buNone/>
            </a:pPr>
            <a:r>
              <a:rPr lang="en-US" sz="1600" dirty="0">
                <a:solidFill>
                  <a:srgbClr val="DCD7E5"/>
                </a:solidFill>
                <a:latin typeface="Montserrat" pitchFamily="34" charset="0"/>
                <a:ea typeface="Montserrat" pitchFamily="34" charset="-122"/>
                <a:cs typeface="Montserrat" pitchFamily="34" charset="-120"/>
              </a:rPr>
              <a:t>iOS</a:t>
            </a:r>
            <a:endParaRPr lang="en-US" sz="1600" dirty="0"/>
          </a:p>
        </p:txBody>
      </p:sp>
      <p:sp>
        <p:nvSpPr>
          <p:cNvPr id="13" name="Text 7"/>
          <p:cNvSpPr/>
          <p:nvPr/>
        </p:nvSpPr>
        <p:spPr>
          <a:xfrm>
            <a:off x="7572851" y="3366611"/>
            <a:ext cx="6299716" cy="266700"/>
          </a:xfrm>
          <a:prstGeom prst="rect">
            <a:avLst/>
          </a:prstGeom>
          <a:noFill/>
          <a:ln/>
        </p:spPr>
        <p:txBody>
          <a:bodyPr wrap="none" lIns="0" tIns="0" rIns="0" bIns="0" rtlCol="0" anchor="t"/>
          <a:lstStyle/>
          <a:p>
            <a:pPr marL="0" indent="0" algn="l">
              <a:lnSpc>
                <a:spcPts val="2100"/>
              </a:lnSpc>
              <a:buNone/>
            </a:pPr>
            <a:r>
              <a:rPr lang="en-US" sz="1300" dirty="0">
                <a:solidFill>
                  <a:srgbClr val="DCD7E5"/>
                </a:solidFill>
                <a:latin typeface="Heebo Light" pitchFamily="34" charset="0"/>
                <a:ea typeface="Heebo Light" pitchFamily="34" charset="-122"/>
                <a:cs typeface="Heebo Light" pitchFamily="34" charset="-120"/>
              </a:rPr>
              <a:t>Apple's proprietary ecosystem designed exclusively for iPhone and iPad devices</a:t>
            </a:r>
            <a:endParaRPr lang="en-US" sz="1300" dirty="0"/>
          </a:p>
        </p:txBody>
      </p:sp>
      <p:sp>
        <p:nvSpPr>
          <p:cNvPr id="14" name="Text 8"/>
          <p:cNvSpPr/>
          <p:nvPr/>
        </p:nvSpPr>
        <p:spPr>
          <a:xfrm>
            <a:off x="1732478" y="5078849"/>
            <a:ext cx="2050733" cy="416719"/>
          </a:xfrm>
          <a:prstGeom prst="rect">
            <a:avLst/>
          </a:prstGeom>
          <a:noFill/>
          <a:ln/>
        </p:spPr>
        <p:txBody>
          <a:bodyPr wrap="none" lIns="0" tIns="0" rIns="0" bIns="0" rtlCol="0" anchor="t"/>
          <a:lstStyle/>
          <a:p>
            <a:pPr marL="0" indent="0" algn="ctr">
              <a:lnSpc>
                <a:spcPts val="3250"/>
              </a:lnSpc>
              <a:buNone/>
            </a:pPr>
            <a:r>
              <a:rPr lang="en-US" sz="3250" dirty="0">
                <a:solidFill>
                  <a:srgbClr val="DCD7E5"/>
                </a:solidFill>
                <a:latin typeface="Montserrat" pitchFamily="34" charset="0"/>
                <a:ea typeface="Montserrat" pitchFamily="34" charset="-122"/>
                <a:cs typeface="Montserrat" pitchFamily="34" charset="-120"/>
              </a:rPr>
              <a:t>99%</a:t>
            </a:r>
            <a:endParaRPr lang="en-US" sz="3250" dirty="0"/>
          </a:p>
        </p:txBody>
      </p:sp>
      <p:pic>
        <p:nvPicPr>
          <p:cNvPr id="15" name="Image 4" descr="preencoded.png"/>
          <p:cNvPicPr>
            <a:picLocks noChangeAspect="1"/>
          </p:cNvPicPr>
          <p:nvPr/>
        </p:nvPicPr>
        <p:blipFill>
          <a:blip r:embed="rId7"/>
          <a:stretch>
            <a:fillRect/>
          </a:stretch>
        </p:blipFill>
        <p:spPr>
          <a:xfrm>
            <a:off x="1507450" y="4036814"/>
            <a:ext cx="2500908" cy="2500908"/>
          </a:xfrm>
          <a:prstGeom prst="rect">
            <a:avLst/>
          </a:prstGeom>
        </p:spPr>
      </p:pic>
      <p:sp>
        <p:nvSpPr>
          <p:cNvPr id="16" name="Text 9"/>
          <p:cNvSpPr/>
          <p:nvPr/>
        </p:nvSpPr>
        <p:spPr>
          <a:xfrm>
            <a:off x="1715929" y="6746081"/>
            <a:ext cx="2084070" cy="260390"/>
          </a:xfrm>
          <a:prstGeom prst="rect">
            <a:avLst/>
          </a:prstGeom>
          <a:noFill/>
          <a:ln/>
        </p:spPr>
        <p:txBody>
          <a:bodyPr wrap="none" lIns="0" tIns="0" rIns="0" bIns="0" rtlCol="0" anchor="t"/>
          <a:lstStyle/>
          <a:p>
            <a:pPr marL="0" indent="0" algn="ctr">
              <a:lnSpc>
                <a:spcPts val="2050"/>
              </a:lnSpc>
              <a:buNone/>
            </a:pPr>
            <a:r>
              <a:rPr lang="en-US" sz="1600" dirty="0">
                <a:solidFill>
                  <a:srgbClr val="DCD7E5"/>
                </a:solidFill>
                <a:latin typeface="Montserrat" pitchFamily="34" charset="0"/>
                <a:ea typeface="Montserrat" pitchFamily="34" charset="-122"/>
                <a:cs typeface="Montserrat" pitchFamily="34" charset="-120"/>
              </a:rPr>
              <a:t>Market Dominance</a:t>
            </a:r>
            <a:endParaRPr lang="en-US" sz="1600" dirty="0"/>
          </a:p>
        </p:txBody>
      </p:sp>
      <p:sp>
        <p:nvSpPr>
          <p:cNvPr id="17" name="Text 10"/>
          <p:cNvSpPr/>
          <p:nvPr/>
        </p:nvSpPr>
        <p:spPr>
          <a:xfrm>
            <a:off x="583525" y="7106483"/>
            <a:ext cx="4348877" cy="533400"/>
          </a:xfrm>
          <a:prstGeom prst="rect">
            <a:avLst/>
          </a:prstGeom>
          <a:noFill/>
          <a:ln/>
        </p:spPr>
        <p:txBody>
          <a:bodyPr wrap="square" lIns="0" tIns="0" rIns="0" bIns="0" rtlCol="0" anchor="t"/>
          <a:lstStyle/>
          <a:p>
            <a:pPr marL="0" indent="0" algn="ctr">
              <a:lnSpc>
                <a:spcPts val="2100"/>
              </a:lnSpc>
              <a:buNone/>
            </a:pPr>
            <a:r>
              <a:rPr lang="en-US" sz="1300" dirty="0">
                <a:solidFill>
                  <a:srgbClr val="DCD7E5"/>
                </a:solidFill>
                <a:latin typeface="Heebo Light" pitchFamily="34" charset="0"/>
                <a:ea typeface="Heebo Light" pitchFamily="34" charset="-122"/>
                <a:cs typeface="Heebo Light" pitchFamily="34" charset="-120"/>
              </a:rPr>
              <a:t>Combined global smartphone market share of Android and iOS (Statista 2025)</a:t>
            </a:r>
            <a:endParaRPr lang="en-US" sz="1300" dirty="0"/>
          </a:p>
        </p:txBody>
      </p:sp>
      <p:sp>
        <p:nvSpPr>
          <p:cNvPr id="18" name="Text 11"/>
          <p:cNvSpPr/>
          <p:nvPr/>
        </p:nvSpPr>
        <p:spPr>
          <a:xfrm>
            <a:off x="6289715" y="5078849"/>
            <a:ext cx="2050733" cy="416719"/>
          </a:xfrm>
          <a:prstGeom prst="rect">
            <a:avLst/>
          </a:prstGeom>
          <a:noFill/>
          <a:ln/>
        </p:spPr>
        <p:txBody>
          <a:bodyPr wrap="none" lIns="0" tIns="0" rIns="0" bIns="0" rtlCol="0" anchor="t"/>
          <a:lstStyle/>
          <a:p>
            <a:pPr marL="0" indent="0" algn="ctr">
              <a:lnSpc>
                <a:spcPts val="3250"/>
              </a:lnSpc>
              <a:buNone/>
            </a:pPr>
            <a:r>
              <a:rPr lang="en-US" sz="3250" dirty="0">
                <a:solidFill>
                  <a:srgbClr val="DCD7E5"/>
                </a:solidFill>
                <a:latin typeface="Montserrat" pitchFamily="34" charset="0"/>
                <a:ea typeface="Montserrat" pitchFamily="34" charset="-122"/>
                <a:cs typeface="Montserrat" pitchFamily="34" charset="-120"/>
              </a:rPr>
              <a:t>71%</a:t>
            </a:r>
            <a:endParaRPr lang="en-US" sz="3250" dirty="0"/>
          </a:p>
        </p:txBody>
      </p:sp>
      <p:pic>
        <p:nvPicPr>
          <p:cNvPr id="19" name="Image 5" descr="preencoded.png"/>
          <p:cNvPicPr>
            <a:picLocks noChangeAspect="1"/>
          </p:cNvPicPr>
          <p:nvPr/>
        </p:nvPicPr>
        <p:blipFill>
          <a:blip r:embed="rId8"/>
          <a:stretch>
            <a:fillRect/>
          </a:stretch>
        </p:blipFill>
        <p:spPr>
          <a:xfrm>
            <a:off x="6064687" y="4036814"/>
            <a:ext cx="2500908" cy="2500908"/>
          </a:xfrm>
          <a:prstGeom prst="rect">
            <a:avLst/>
          </a:prstGeom>
        </p:spPr>
      </p:pic>
      <p:sp>
        <p:nvSpPr>
          <p:cNvPr id="20" name="Text 12"/>
          <p:cNvSpPr/>
          <p:nvPr/>
        </p:nvSpPr>
        <p:spPr>
          <a:xfrm>
            <a:off x="6273165" y="6746081"/>
            <a:ext cx="2084070" cy="260390"/>
          </a:xfrm>
          <a:prstGeom prst="rect">
            <a:avLst/>
          </a:prstGeom>
          <a:noFill/>
          <a:ln/>
        </p:spPr>
        <p:txBody>
          <a:bodyPr wrap="none" lIns="0" tIns="0" rIns="0" bIns="0" rtlCol="0" anchor="t"/>
          <a:lstStyle/>
          <a:p>
            <a:pPr marL="0" indent="0" algn="ctr">
              <a:lnSpc>
                <a:spcPts val="2050"/>
              </a:lnSpc>
              <a:buNone/>
            </a:pPr>
            <a:r>
              <a:rPr lang="en-US" sz="1600" dirty="0">
                <a:solidFill>
                  <a:srgbClr val="DCD7E5"/>
                </a:solidFill>
                <a:latin typeface="Montserrat" pitchFamily="34" charset="0"/>
                <a:ea typeface="Montserrat" pitchFamily="34" charset="-122"/>
                <a:cs typeface="Montserrat" pitchFamily="34" charset="-120"/>
              </a:rPr>
              <a:t>Android Share</a:t>
            </a:r>
            <a:endParaRPr lang="en-US" sz="1600" dirty="0"/>
          </a:p>
        </p:txBody>
      </p:sp>
      <p:sp>
        <p:nvSpPr>
          <p:cNvPr id="21" name="Text 13"/>
          <p:cNvSpPr/>
          <p:nvPr/>
        </p:nvSpPr>
        <p:spPr>
          <a:xfrm>
            <a:off x="5140762" y="7106483"/>
            <a:ext cx="4348877" cy="533400"/>
          </a:xfrm>
          <a:prstGeom prst="rect">
            <a:avLst/>
          </a:prstGeom>
          <a:noFill/>
          <a:ln/>
        </p:spPr>
        <p:txBody>
          <a:bodyPr wrap="square" lIns="0" tIns="0" rIns="0" bIns="0" rtlCol="0" anchor="t"/>
          <a:lstStyle/>
          <a:p>
            <a:pPr marL="0" indent="0" algn="ctr">
              <a:lnSpc>
                <a:spcPts val="2100"/>
              </a:lnSpc>
              <a:buNone/>
            </a:pPr>
            <a:r>
              <a:rPr lang="en-US" sz="1300" dirty="0">
                <a:solidFill>
                  <a:srgbClr val="DCD7E5"/>
                </a:solidFill>
                <a:latin typeface="Heebo Light" pitchFamily="34" charset="0"/>
                <a:ea typeface="Heebo Light" pitchFamily="34" charset="-122"/>
                <a:cs typeface="Heebo Light" pitchFamily="34" charset="-120"/>
              </a:rPr>
              <a:t>Percentage of global smartphone users on Android platform</a:t>
            </a:r>
            <a:endParaRPr lang="en-US" sz="1300" dirty="0"/>
          </a:p>
        </p:txBody>
      </p:sp>
      <p:sp>
        <p:nvSpPr>
          <p:cNvPr id="22" name="Text 14"/>
          <p:cNvSpPr/>
          <p:nvPr/>
        </p:nvSpPr>
        <p:spPr>
          <a:xfrm>
            <a:off x="10846951" y="5078849"/>
            <a:ext cx="2050733" cy="416719"/>
          </a:xfrm>
          <a:prstGeom prst="rect">
            <a:avLst/>
          </a:prstGeom>
          <a:noFill/>
          <a:ln/>
        </p:spPr>
        <p:txBody>
          <a:bodyPr wrap="none" lIns="0" tIns="0" rIns="0" bIns="0" rtlCol="0" anchor="t"/>
          <a:lstStyle/>
          <a:p>
            <a:pPr marL="0" indent="0" algn="ctr">
              <a:lnSpc>
                <a:spcPts val="3250"/>
              </a:lnSpc>
              <a:buNone/>
            </a:pPr>
            <a:r>
              <a:rPr lang="en-US" sz="3250" dirty="0">
                <a:solidFill>
                  <a:srgbClr val="DCD7E5"/>
                </a:solidFill>
                <a:latin typeface="Montserrat" pitchFamily="34" charset="0"/>
                <a:ea typeface="Montserrat" pitchFamily="34" charset="-122"/>
                <a:cs typeface="Montserrat" pitchFamily="34" charset="-120"/>
              </a:rPr>
              <a:t>28%</a:t>
            </a:r>
            <a:endParaRPr lang="en-US" sz="3250" dirty="0"/>
          </a:p>
        </p:txBody>
      </p:sp>
      <p:pic>
        <p:nvPicPr>
          <p:cNvPr id="23" name="Image 6" descr="preencoded.png"/>
          <p:cNvPicPr>
            <a:picLocks noChangeAspect="1"/>
          </p:cNvPicPr>
          <p:nvPr/>
        </p:nvPicPr>
        <p:blipFill>
          <a:blip r:embed="rId9"/>
          <a:stretch>
            <a:fillRect/>
          </a:stretch>
        </p:blipFill>
        <p:spPr>
          <a:xfrm>
            <a:off x="10621923" y="4036814"/>
            <a:ext cx="2500908" cy="2500908"/>
          </a:xfrm>
          <a:prstGeom prst="rect">
            <a:avLst/>
          </a:prstGeom>
        </p:spPr>
      </p:pic>
      <p:sp>
        <p:nvSpPr>
          <p:cNvPr id="24" name="Text 15"/>
          <p:cNvSpPr/>
          <p:nvPr/>
        </p:nvSpPr>
        <p:spPr>
          <a:xfrm>
            <a:off x="10830401" y="6746081"/>
            <a:ext cx="2084070" cy="260390"/>
          </a:xfrm>
          <a:prstGeom prst="rect">
            <a:avLst/>
          </a:prstGeom>
          <a:noFill/>
          <a:ln/>
        </p:spPr>
        <p:txBody>
          <a:bodyPr wrap="none" lIns="0" tIns="0" rIns="0" bIns="0" rtlCol="0" anchor="t"/>
          <a:lstStyle/>
          <a:p>
            <a:pPr marL="0" indent="0" algn="ctr">
              <a:lnSpc>
                <a:spcPts val="2050"/>
              </a:lnSpc>
              <a:buNone/>
            </a:pPr>
            <a:r>
              <a:rPr lang="en-US" sz="1600" dirty="0">
                <a:solidFill>
                  <a:srgbClr val="DCD7E5"/>
                </a:solidFill>
                <a:latin typeface="Montserrat" pitchFamily="34" charset="0"/>
                <a:ea typeface="Montserrat" pitchFamily="34" charset="-122"/>
                <a:cs typeface="Montserrat" pitchFamily="34" charset="-120"/>
              </a:rPr>
              <a:t>iOS Share</a:t>
            </a:r>
            <a:endParaRPr lang="en-US" sz="1600" dirty="0"/>
          </a:p>
        </p:txBody>
      </p:sp>
      <p:sp>
        <p:nvSpPr>
          <p:cNvPr id="25" name="Text 16"/>
          <p:cNvSpPr/>
          <p:nvPr/>
        </p:nvSpPr>
        <p:spPr>
          <a:xfrm>
            <a:off x="9697998" y="7106483"/>
            <a:ext cx="4348877" cy="533400"/>
          </a:xfrm>
          <a:prstGeom prst="rect">
            <a:avLst/>
          </a:prstGeom>
          <a:noFill/>
          <a:ln/>
        </p:spPr>
        <p:txBody>
          <a:bodyPr wrap="square" lIns="0" tIns="0" rIns="0" bIns="0" rtlCol="0" anchor="t"/>
          <a:lstStyle/>
          <a:p>
            <a:pPr marL="0" indent="0" algn="ctr">
              <a:lnSpc>
                <a:spcPts val="2100"/>
              </a:lnSpc>
              <a:buNone/>
            </a:pPr>
            <a:r>
              <a:rPr lang="en-US" sz="1300" dirty="0">
                <a:solidFill>
                  <a:srgbClr val="DCD7E5"/>
                </a:solidFill>
                <a:latin typeface="Heebo Light" pitchFamily="34" charset="0"/>
                <a:ea typeface="Heebo Light" pitchFamily="34" charset="-122"/>
                <a:cs typeface="Heebo Light" pitchFamily="34" charset="-120"/>
              </a:rPr>
              <a:t>Percentage of global smartphone users on Apple's iOS platform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7944" y="728424"/>
            <a:ext cx="7748111" cy="623054"/>
          </a:xfrm>
          <a:prstGeom prst="rect">
            <a:avLst/>
          </a:prstGeom>
          <a:noFill/>
          <a:ln/>
        </p:spPr>
        <p:txBody>
          <a:bodyPr wrap="none" lIns="0" tIns="0" rIns="0" bIns="0" rtlCol="0" anchor="t"/>
          <a:lstStyle/>
          <a:p>
            <a:pPr marL="0" indent="0" algn="l">
              <a:lnSpc>
                <a:spcPts val="4900"/>
              </a:lnSpc>
              <a:buNone/>
            </a:pPr>
            <a:r>
              <a:rPr lang="en-US" sz="3900" dirty="0">
                <a:solidFill>
                  <a:srgbClr val="F2F0F4"/>
                </a:solidFill>
                <a:latin typeface="Montserrat" pitchFamily="34" charset="0"/>
                <a:ea typeface="Montserrat" pitchFamily="34" charset="-122"/>
                <a:cs typeface="Montserrat" pitchFamily="34" charset="-120"/>
              </a:rPr>
              <a:t>Android vs iOS: Key Differences</a:t>
            </a:r>
            <a:endParaRPr lang="en-US" sz="3900" dirty="0"/>
          </a:p>
        </p:txBody>
      </p:sp>
      <p:sp>
        <p:nvSpPr>
          <p:cNvPr id="3" name="Text 1"/>
          <p:cNvSpPr/>
          <p:nvPr/>
        </p:nvSpPr>
        <p:spPr>
          <a:xfrm>
            <a:off x="697944" y="1849874"/>
            <a:ext cx="2991326" cy="373856"/>
          </a:xfrm>
          <a:prstGeom prst="rect">
            <a:avLst/>
          </a:prstGeom>
          <a:noFill/>
          <a:ln/>
        </p:spPr>
        <p:txBody>
          <a:bodyPr wrap="none" lIns="0" tIns="0" rIns="0" bIns="0" rtlCol="0" anchor="t"/>
          <a:lstStyle/>
          <a:p>
            <a:pPr marL="0" indent="0" algn="l">
              <a:lnSpc>
                <a:spcPts val="2900"/>
              </a:lnSpc>
              <a:buNone/>
            </a:pPr>
            <a:r>
              <a:rPr lang="en-US" sz="2350" dirty="0">
                <a:solidFill>
                  <a:srgbClr val="481C9E"/>
                </a:solidFill>
                <a:latin typeface="Montserrat" pitchFamily="34" charset="0"/>
                <a:ea typeface="Montserrat" pitchFamily="34" charset="-122"/>
                <a:cs typeface="Montserrat" pitchFamily="34" charset="-120"/>
              </a:rPr>
              <a:t>Android</a:t>
            </a:r>
            <a:endParaRPr lang="en-US" sz="2350" dirty="0"/>
          </a:p>
        </p:txBody>
      </p:sp>
      <p:sp>
        <p:nvSpPr>
          <p:cNvPr id="4" name="Text 2"/>
          <p:cNvSpPr/>
          <p:nvPr/>
        </p:nvSpPr>
        <p:spPr>
          <a:xfrm>
            <a:off x="697944" y="2423041"/>
            <a:ext cx="6374011" cy="319088"/>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CD7E5"/>
                </a:solidFill>
                <a:latin typeface="Heebo Light" pitchFamily="34" charset="0"/>
                <a:ea typeface="Heebo Light" pitchFamily="34" charset="-122"/>
                <a:cs typeface="Heebo Light" pitchFamily="34" charset="-120"/>
              </a:rPr>
              <a:t>Open-source:</a:t>
            </a:r>
            <a:r>
              <a:rPr lang="en-US" sz="1550" dirty="0">
                <a:solidFill>
                  <a:srgbClr val="DCD7E5"/>
                </a:solidFill>
                <a:latin typeface="Heebo Light" pitchFamily="34" charset="0"/>
                <a:ea typeface="Heebo Light" pitchFamily="34" charset="-122"/>
                <a:cs typeface="Heebo Light" pitchFamily="34" charset="-120"/>
              </a:rPr>
              <a:t> Based on Linux kernel, freely available for modification</a:t>
            </a:r>
            <a:endParaRPr lang="en-US" sz="1550" dirty="0"/>
          </a:p>
        </p:txBody>
      </p:sp>
      <p:sp>
        <p:nvSpPr>
          <p:cNvPr id="5" name="Text 3"/>
          <p:cNvSpPr/>
          <p:nvPr/>
        </p:nvSpPr>
        <p:spPr>
          <a:xfrm>
            <a:off x="697944" y="2811899"/>
            <a:ext cx="6374011" cy="638175"/>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CD7E5"/>
                </a:solidFill>
                <a:latin typeface="Heebo Light" pitchFamily="34" charset="0"/>
                <a:ea typeface="Heebo Light" pitchFamily="34" charset="-122"/>
                <a:cs typeface="Heebo Light" pitchFamily="34" charset="-120"/>
              </a:rPr>
              <a:t>Highly customizable:</a:t>
            </a:r>
            <a:r>
              <a:rPr lang="en-US" sz="1550" dirty="0">
                <a:solidFill>
                  <a:srgbClr val="DCD7E5"/>
                </a:solidFill>
                <a:latin typeface="Heebo Light" pitchFamily="34" charset="0"/>
                <a:ea typeface="Heebo Light" pitchFamily="34" charset="-122"/>
                <a:cs typeface="Heebo Light" pitchFamily="34" charset="-120"/>
              </a:rPr>
              <a:t> Manufacturers can modify and customize the OS</a:t>
            </a:r>
            <a:endParaRPr lang="en-US" sz="1550" dirty="0"/>
          </a:p>
        </p:txBody>
      </p:sp>
      <p:sp>
        <p:nvSpPr>
          <p:cNvPr id="6" name="Text 4"/>
          <p:cNvSpPr/>
          <p:nvPr/>
        </p:nvSpPr>
        <p:spPr>
          <a:xfrm>
            <a:off x="697944" y="3519845"/>
            <a:ext cx="6374011" cy="638175"/>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CD7E5"/>
                </a:solidFill>
                <a:latin typeface="Heebo Light" pitchFamily="34" charset="0"/>
                <a:ea typeface="Heebo Light" pitchFamily="34" charset="-122"/>
                <a:cs typeface="Heebo Light" pitchFamily="34" charset="-120"/>
              </a:rPr>
              <a:t>Multiple manufacturers:</a:t>
            </a:r>
            <a:r>
              <a:rPr lang="en-US" sz="1550" dirty="0">
                <a:solidFill>
                  <a:srgbClr val="DCD7E5"/>
                </a:solidFill>
                <a:latin typeface="Heebo Light" pitchFamily="34" charset="0"/>
                <a:ea typeface="Heebo Light" pitchFamily="34" charset="-122"/>
                <a:cs typeface="Heebo Light" pitchFamily="34" charset="-120"/>
              </a:rPr>
              <a:t> Samsung, Google, Xiaomi, OnePlus, and hundreds more</a:t>
            </a:r>
            <a:endParaRPr lang="en-US" sz="1550" dirty="0"/>
          </a:p>
        </p:txBody>
      </p:sp>
      <p:sp>
        <p:nvSpPr>
          <p:cNvPr id="7" name="Text 5"/>
          <p:cNvSpPr/>
          <p:nvPr/>
        </p:nvSpPr>
        <p:spPr>
          <a:xfrm>
            <a:off x="697944" y="4227790"/>
            <a:ext cx="6374011" cy="319088"/>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CD7E5"/>
                </a:solidFill>
                <a:latin typeface="Heebo Light" pitchFamily="34" charset="0"/>
                <a:ea typeface="Heebo Light" pitchFamily="34" charset="-122"/>
                <a:cs typeface="Heebo Light" pitchFamily="34" charset="-120"/>
              </a:rPr>
              <a:t>Development:</a:t>
            </a:r>
            <a:r>
              <a:rPr lang="en-US" sz="1550" dirty="0">
                <a:solidFill>
                  <a:srgbClr val="DCD7E5"/>
                </a:solidFill>
                <a:latin typeface="Heebo Light" pitchFamily="34" charset="0"/>
                <a:ea typeface="Heebo Light" pitchFamily="34" charset="-122"/>
                <a:cs typeface="Heebo Light" pitchFamily="34" charset="-120"/>
              </a:rPr>
              <a:t> Java and Kotlin programming languages</a:t>
            </a:r>
            <a:endParaRPr lang="en-US" sz="1550" dirty="0"/>
          </a:p>
        </p:txBody>
      </p:sp>
      <p:sp>
        <p:nvSpPr>
          <p:cNvPr id="8" name="Text 6"/>
          <p:cNvSpPr/>
          <p:nvPr/>
        </p:nvSpPr>
        <p:spPr>
          <a:xfrm>
            <a:off x="697944" y="4616648"/>
            <a:ext cx="6374011" cy="319088"/>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CD7E5"/>
                </a:solidFill>
                <a:latin typeface="Heebo Light" pitchFamily="34" charset="0"/>
                <a:ea typeface="Heebo Light" pitchFamily="34" charset="-122"/>
                <a:cs typeface="Heebo Light" pitchFamily="34" charset="-120"/>
              </a:rPr>
              <a:t>Distribution:</a:t>
            </a:r>
            <a:r>
              <a:rPr lang="en-US" sz="1550" dirty="0">
                <a:solidFill>
                  <a:srgbClr val="DCD7E5"/>
                </a:solidFill>
                <a:latin typeface="Heebo Light" pitchFamily="34" charset="0"/>
                <a:ea typeface="Heebo Light" pitchFamily="34" charset="-122"/>
                <a:cs typeface="Heebo Light" pitchFamily="34" charset="-120"/>
              </a:rPr>
              <a:t> Google Play Store with flexible submission policies</a:t>
            </a:r>
            <a:endParaRPr lang="en-US" sz="1550" dirty="0"/>
          </a:p>
        </p:txBody>
      </p:sp>
      <p:sp>
        <p:nvSpPr>
          <p:cNvPr id="9" name="Text 7"/>
          <p:cNvSpPr/>
          <p:nvPr/>
        </p:nvSpPr>
        <p:spPr>
          <a:xfrm>
            <a:off x="7566065" y="1849874"/>
            <a:ext cx="2991326" cy="373856"/>
          </a:xfrm>
          <a:prstGeom prst="rect">
            <a:avLst/>
          </a:prstGeom>
          <a:noFill/>
          <a:ln/>
        </p:spPr>
        <p:txBody>
          <a:bodyPr wrap="none" lIns="0" tIns="0" rIns="0" bIns="0" rtlCol="0" anchor="t"/>
          <a:lstStyle/>
          <a:p>
            <a:pPr marL="0" indent="0" algn="l">
              <a:lnSpc>
                <a:spcPts val="2900"/>
              </a:lnSpc>
              <a:buNone/>
            </a:pPr>
            <a:r>
              <a:rPr lang="en-US" sz="2350" dirty="0">
                <a:solidFill>
                  <a:srgbClr val="481C9E"/>
                </a:solidFill>
                <a:latin typeface="Montserrat" pitchFamily="34" charset="0"/>
                <a:ea typeface="Montserrat" pitchFamily="34" charset="-122"/>
                <a:cs typeface="Montserrat" pitchFamily="34" charset="-120"/>
              </a:rPr>
              <a:t>iOS</a:t>
            </a:r>
            <a:endParaRPr lang="en-US" sz="2350" dirty="0"/>
          </a:p>
        </p:txBody>
      </p:sp>
      <p:sp>
        <p:nvSpPr>
          <p:cNvPr id="10" name="Text 8"/>
          <p:cNvSpPr/>
          <p:nvPr/>
        </p:nvSpPr>
        <p:spPr>
          <a:xfrm>
            <a:off x="7566065" y="2423041"/>
            <a:ext cx="6374011" cy="319088"/>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CD7E5"/>
                </a:solidFill>
                <a:latin typeface="Heebo Light" pitchFamily="34" charset="0"/>
                <a:ea typeface="Heebo Light" pitchFamily="34" charset="-122"/>
                <a:cs typeface="Heebo Light" pitchFamily="34" charset="-120"/>
              </a:rPr>
              <a:t>Closed ecosystem:</a:t>
            </a:r>
            <a:r>
              <a:rPr lang="en-US" sz="1550" dirty="0">
                <a:solidFill>
                  <a:srgbClr val="DCD7E5"/>
                </a:solidFill>
                <a:latin typeface="Heebo Light" pitchFamily="34" charset="0"/>
                <a:ea typeface="Heebo Light" pitchFamily="34" charset="-122"/>
                <a:cs typeface="Heebo Light" pitchFamily="34" charset="-120"/>
              </a:rPr>
              <a:t> Proprietary Unix-based system (Darwin kernel)</a:t>
            </a:r>
            <a:endParaRPr lang="en-US" sz="1550" dirty="0"/>
          </a:p>
        </p:txBody>
      </p:sp>
      <p:sp>
        <p:nvSpPr>
          <p:cNvPr id="11" name="Text 9"/>
          <p:cNvSpPr/>
          <p:nvPr/>
        </p:nvSpPr>
        <p:spPr>
          <a:xfrm>
            <a:off x="7566065" y="2811899"/>
            <a:ext cx="6374011" cy="319088"/>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CD7E5"/>
                </a:solidFill>
                <a:latin typeface="Heebo Light" pitchFamily="34" charset="0"/>
                <a:ea typeface="Heebo Light" pitchFamily="34" charset="-122"/>
                <a:cs typeface="Heebo Light" pitchFamily="34" charset="-120"/>
              </a:rPr>
              <a:t>Tightly controlled:</a:t>
            </a:r>
            <a:r>
              <a:rPr lang="en-US" sz="1550" dirty="0">
                <a:solidFill>
                  <a:srgbClr val="DCD7E5"/>
                </a:solidFill>
                <a:latin typeface="Heebo Light" pitchFamily="34" charset="0"/>
                <a:ea typeface="Heebo Light" pitchFamily="34" charset="-122"/>
                <a:cs typeface="Heebo Light" pitchFamily="34" charset="-120"/>
              </a:rPr>
              <a:t> Only Apple designs hardware and software</a:t>
            </a:r>
            <a:endParaRPr lang="en-US" sz="1550" dirty="0"/>
          </a:p>
        </p:txBody>
      </p:sp>
      <p:sp>
        <p:nvSpPr>
          <p:cNvPr id="12" name="Text 10"/>
          <p:cNvSpPr/>
          <p:nvPr/>
        </p:nvSpPr>
        <p:spPr>
          <a:xfrm>
            <a:off x="7566065" y="3200757"/>
            <a:ext cx="6374011" cy="638175"/>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CD7E5"/>
                </a:solidFill>
                <a:latin typeface="Heebo Light" pitchFamily="34" charset="0"/>
                <a:ea typeface="Heebo Light" pitchFamily="34" charset="-122"/>
                <a:cs typeface="Heebo Light" pitchFamily="34" charset="-120"/>
              </a:rPr>
              <a:t>Single manufacturer:</a:t>
            </a:r>
            <a:r>
              <a:rPr lang="en-US" sz="1550" dirty="0">
                <a:solidFill>
                  <a:srgbClr val="DCD7E5"/>
                </a:solidFill>
                <a:latin typeface="Heebo Light" pitchFamily="34" charset="0"/>
                <a:ea typeface="Heebo Light" pitchFamily="34" charset="-122"/>
                <a:cs typeface="Heebo Light" pitchFamily="34" charset="-120"/>
              </a:rPr>
              <a:t> Exclusively developed and maintained by Apple Inc.</a:t>
            </a:r>
            <a:endParaRPr lang="en-US" sz="1550" dirty="0"/>
          </a:p>
        </p:txBody>
      </p:sp>
      <p:sp>
        <p:nvSpPr>
          <p:cNvPr id="13" name="Text 11"/>
          <p:cNvSpPr/>
          <p:nvPr/>
        </p:nvSpPr>
        <p:spPr>
          <a:xfrm>
            <a:off x="7566065" y="3908703"/>
            <a:ext cx="6374011" cy="319088"/>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CD7E5"/>
                </a:solidFill>
                <a:latin typeface="Heebo Light" pitchFamily="34" charset="0"/>
                <a:ea typeface="Heebo Light" pitchFamily="34" charset="-122"/>
                <a:cs typeface="Heebo Light" pitchFamily="34" charset="-120"/>
              </a:rPr>
              <a:t>Development:</a:t>
            </a:r>
            <a:r>
              <a:rPr lang="en-US" sz="1550" dirty="0">
                <a:solidFill>
                  <a:srgbClr val="DCD7E5"/>
                </a:solidFill>
                <a:latin typeface="Heebo Light" pitchFamily="34" charset="0"/>
                <a:ea typeface="Heebo Light" pitchFamily="34" charset="-122"/>
                <a:cs typeface="Heebo Light" pitchFamily="34" charset="-120"/>
              </a:rPr>
              <a:t> Swift and Objective-C programming languages</a:t>
            </a:r>
            <a:endParaRPr lang="en-US" sz="1550" dirty="0"/>
          </a:p>
        </p:txBody>
      </p:sp>
      <p:sp>
        <p:nvSpPr>
          <p:cNvPr id="14" name="Text 12"/>
          <p:cNvSpPr/>
          <p:nvPr/>
        </p:nvSpPr>
        <p:spPr>
          <a:xfrm>
            <a:off x="7566065" y="4297561"/>
            <a:ext cx="6374011" cy="319088"/>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CD7E5"/>
                </a:solidFill>
                <a:latin typeface="Heebo Light" pitchFamily="34" charset="0"/>
                <a:ea typeface="Heebo Light" pitchFamily="34" charset="-122"/>
                <a:cs typeface="Heebo Light" pitchFamily="34" charset="-120"/>
              </a:rPr>
              <a:t>Distribution:</a:t>
            </a:r>
            <a:r>
              <a:rPr lang="en-US" sz="1550" dirty="0">
                <a:solidFill>
                  <a:srgbClr val="DCD7E5"/>
                </a:solidFill>
                <a:latin typeface="Heebo Light" pitchFamily="34" charset="0"/>
                <a:ea typeface="Heebo Light" pitchFamily="34" charset="-122"/>
                <a:cs typeface="Heebo Light" pitchFamily="34" charset="-120"/>
              </a:rPr>
              <a:t> Apple App Store with strict curation and review process</a:t>
            </a:r>
            <a:endParaRPr lang="en-US" sz="1550" dirty="0"/>
          </a:p>
        </p:txBody>
      </p:sp>
      <p:sp>
        <p:nvSpPr>
          <p:cNvPr id="15" name="Shape 13"/>
          <p:cNvSpPr/>
          <p:nvPr/>
        </p:nvSpPr>
        <p:spPr>
          <a:xfrm>
            <a:off x="697944" y="5229820"/>
            <a:ext cx="6517600" cy="2271355"/>
          </a:xfrm>
          <a:prstGeom prst="roundRect">
            <a:avLst>
              <a:gd name="adj" fmla="val 4831"/>
            </a:avLst>
          </a:prstGeom>
          <a:solidFill>
            <a:srgbClr val="0D0A2C">
              <a:alpha val="95000"/>
            </a:srgbClr>
          </a:solidFill>
          <a:ln w="22860">
            <a:solidFill>
              <a:srgbClr val="4A2C85"/>
            </a:solidFill>
            <a:prstDash val="solid"/>
          </a:ln>
        </p:spPr>
      </p:sp>
      <p:pic>
        <p:nvPicPr>
          <p:cNvPr id="16" name="Image 0" descr="preencoded.png"/>
          <p:cNvPicPr>
            <a:picLocks noChangeAspect="1"/>
          </p:cNvPicPr>
          <p:nvPr/>
        </p:nvPicPr>
        <p:blipFill>
          <a:blip r:embed="rId3"/>
          <a:stretch>
            <a:fillRect/>
          </a:stretch>
        </p:blipFill>
        <p:spPr>
          <a:xfrm>
            <a:off x="675084" y="5229820"/>
            <a:ext cx="91440" cy="2271355"/>
          </a:xfrm>
          <a:prstGeom prst="rect">
            <a:avLst/>
          </a:prstGeom>
        </p:spPr>
      </p:pic>
      <p:sp>
        <p:nvSpPr>
          <p:cNvPr id="17" name="Text 14"/>
          <p:cNvSpPr/>
          <p:nvPr/>
        </p:nvSpPr>
        <p:spPr>
          <a:xfrm>
            <a:off x="988695" y="5451991"/>
            <a:ext cx="2492812" cy="311587"/>
          </a:xfrm>
          <a:prstGeom prst="rect">
            <a:avLst/>
          </a:prstGeom>
          <a:noFill/>
          <a:ln/>
        </p:spPr>
        <p:txBody>
          <a:bodyPr wrap="none" lIns="0" tIns="0" rIns="0" bIns="0" rtlCol="0" anchor="t"/>
          <a:lstStyle/>
          <a:p>
            <a:pPr marL="0" indent="0" algn="l">
              <a:lnSpc>
                <a:spcPts val="2450"/>
              </a:lnSpc>
              <a:buNone/>
            </a:pPr>
            <a:r>
              <a:rPr lang="en-US" sz="1950" dirty="0">
                <a:solidFill>
                  <a:srgbClr val="DCD7E5"/>
                </a:solidFill>
                <a:latin typeface="Montserrat" pitchFamily="34" charset="0"/>
                <a:ea typeface="Montserrat" pitchFamily="34" charset="-122"/>
                <a:cs typeface="Montserrat" pitchFamily="34" charset="-120"/>
              </a:rPr>
              <a:t>User Interface</a:t>
            </a:r>
            <a:endParaRPr lang="en-US" sz="1950" dirty="0"/>
          </a:p>
        </p:txBody>
      </p:sp>
      <p:sp>
        <p:nvSpPr>
          <p:cNvPr id="18" name="Text 15"/>
          <p:cNvSpPr/>
          <p:nvPr/>
        </p:nvSpPr>
        <p:spPr>
          <a:xfrm>
            <a:off x="988695" y="5883116"/>
            <a:ext cx="6004679" cy="319088"/>
          </a:xfrm>
          <a:prstGeom prst="rect">
            <a:avLst/>
          </a:prstGeom>
          <a:noFill/>
          <a:ln/>
        </p:spPr>
        <p:txBody>
          <a:bodyPr wrap="none" lIns="0" tIns="0" rIns="0" bIns="0" rtlCol="0" anchor="t"/>
          <a:lstStyle/>
          <a:p>
            <a:pPr marL="0" indent="0" algn="l">
              <a:lnSpc>
                <a:spcPts val="2500"/>
              </a:lnSpc>
              <a:buNone/>
            </a:pPr>
            <a:r>
              <a:rPr lang="en-US" sz="1550" b="1" dirty="0">
                <a:solidFill>
                  <a:srgbClr val="DCD7E5"/>
                </a:solidFill>
                <a:latin typeface="Heebo Light" pitchFamily="34" charset="0"/>
                <a:ea typeface="Heebo Light" pitchFamily="34" charset="-122"/>
                <a:cs typeface="Heebo Light" pitchFamily="34" charset="-120"/>
              </a:rPr>
              <a:t>Android:</a:t>
            </a:r>
            <a:r>
              <a:rPr lang="en-US" sz="1550" dirty="0">
                <a:solidFill>
                  <a:srgbClr val="DCD7E5"/>
                </a:solidFill>
                <a:latin typeface="Heebo Light" pitchFamily="34" charset="0"/>
                <a:ea typeface="Heebo Light" pitchFamily="34" charset="-122"/>
                <a:cs typeface="Heebo Light" pitchFamily="34" charset="-120"/>
              </a:rPr>
              <a:t> Material Design with customizable launchers and widgets</a:t>
            </a:r>
            <a:endParaRPr lang="en-US" sz="1550" dirty="0"/>
          </a:p>
        </p:txBody>
      </p:sp>
      <p:sp>
        <p:nvSpPr>
          <p:cNvPr id="19" name="Text 16"/>
          <p:cNvSpPr/>
          <p:nvPr/>
        </p:nvSpPr>
        <p:spPr>
          <a:xfrm>
            <a:off x="988695" y="6321743"/>
            <a:ext cx="6004679" cy="319088"/>
          </a:xfrm>
          <a:prstGeom prst="rect">
            <a:avLst/>
          </a:prstGeom>
          <a:noFill/>
          <a:ln/>
        </p:spPr>
        <p:txBody>
          <a:bodyPr wrap="none" lIns="0" tIns="0" rIns="0" bIns="0" rtlCol="0" anchor="t"/>
          <a:lstStyle/>
          <a:p>
            <a:pPr marL="0" indent="0" algn="l">
              <a:lnSpc>
                <a:spcPts val="2500"/>
              </a:lnSpc>
              <a:buNone/>
            </a:pPr>
            <a:r>
              <a:rPr lang="en-US" sz="1550" b="1" dirty="0">
                <a:solidFill>
                  <a:srgbClr val="DCD7E5"/>
                </a:solidFill>
                <a:latin typeface="Heebo Light" pitchFamily="34" charset="0"/>
                <a:ea typeface="Heebo Light" pitchFamily="34" charset="-122"/>
                <a:cs typeface="Heebo Light" pitchFamily="34" charset="-120"/>
              </a:rPr>
              <a:t>iOS:</a:t>
            </a:r>
            <a:r>
              <a:rPr lang="en-US" sz="1550" dirty="0">
                <a:solidFill>
                  <a:srgbClr val="DCD7E5"/>
                </a:solidFill>
                <a:latin typeface="Heebo Light" pitchFamily="34" charset="0"/>
                <a:ea typeface="Heebo Light" pitchFamily="34" charset="-122"/>
                <a:cs typeface="Heebo Light" pitchFamily="34" charset="-120"/>
              </a:rPr>
              <a:t> Consistent Human Interface Guidelines across all devices</a:t>
            </a:r>
            <a:endParaRPr lang="en-US" sz="1550" dirty="0"/>
          </a:p>
        </p:txBody>
      </p:sp>
      <p:sp>
        <p:nvSpPr>
          <p:cNvPr id="20" name="Shape 17"/>
          <p:cNvSpPr/>
          <p:nvPr/>
        </p:nvSpPr>
        <p:spPr>
          <a:xfrm>
            <a:off x="7414855" y="5229820"/>
            <a:ext cx="6517600" cy="2271355"/>
          </a:xfrm>
          <a:prstGeom prst="roundRect">
            <a:avLst>
              <a:gd name="adj" fmla="val 4831"/>
            </a:avLst>
          </a:prstGeom>
          <a:solidFill>
            <a:srgbClr val="0D0A2C">
              <a:alpha val="95000"/>
            </a:srgbClr>
          </a:solidFill>
          <a:ln w="22860">
            <a:solidFill>
              <a:srgbClr val="4A2C85"/>
            </a:solidFill>
            <a:prstDash val="solid"/>
          </a:ln>
        </p:spPr>
      </p:sp>
      <p:pic>
        <p:nvPicPr>
          <p:cNvPr id="21" name="Image 1" descr="preencoded.png"/>
          <p:cNvPicPr>
            <a:picLocks noChangeAspect="1"/>
          </p:cNvPicPr>
          <p:nvPr/>
        </p:nvPicPr>
        <p:blipFill>
          <a:blip r:embed="rId3"/>
          <a:stretch>
            <a:fillRect/>
          </a:stretch>
        </p:blipFill>
        <p:spPr>
          <a:xfrm>
            <a:off x="7391995" y="5229820"/>
            <a:ext cx="91440" cy="2271355"/>
          </a:xfrm>
          <a:prstGeom prst="rect">
            <a:avLst/>
          </a:prstGeom>
        </p:spPr>
      </p:pic>
      <p:sp>
        <p:nvSpPr>
          <p:cNvPr id="22" name="Text 18"/>
          <p:cNvSpPr/>
          <p:nvPr/>
        </p:nvSpPr>
        <p:spPr>
          <a:xfrm>
            <a:off x="7705606" y="5451991"/>
            <a:ext cx="2492812" cy="311587"/>
          </a:xfrm>
          <a:prstGeom prst="rect">
            <a:avLst/>
          </a:prstGeom>
          <a:noFill/>
          <a:ln/>
        </p:spPr>
        <p:txBody>
          <a:bodyPr wrap="none" lIns="0" tIns="0" rIns="0" bIns="0" rtlCol="0" anchor="t"/>
          <a:lstStyle/>
          <a:p>
            <a:pPr marL="0" indent="0" algn="l">
              <a:lnSpc>
                <a:spcPts val="2450"/>
              </a:lnSpc>
              <a:buNone/>
            </a:pPr>
            <a:r>
              <a:rPr lang="en-US" sz="1950" dirty="0">
                <a:solidFill>
                  <a:srgbClr val="DCD7E5"/>
                </a:solidFill>
                <a:latin typeface="Montserrat" pitchFamily="34" charset="0"/>
                <a:ea typeface="Montserrat" pitchFamily="34" charset="-122"/>
                <a:cs typeface="Montserrat" pitchFamily="34" charset="-120"/>
              </a:rPr>
              <a:t>Device Integration</a:t>
            </a:r>
            <a:endParaRPr lang="en-US" sz="1950" dirty="0"/>
          </a:p>
        </p:txBody>
      </p:sp>
      <p:sp>
        <p:nvSpPr>
          <p:cNvPr id="23" name="Text 19"/>
          <p:cNvSpPr/>
          <p:nvPr/>
        </p:nvSpPr>
        <p:spPr>
          <a:xfrm>
            <a:off x="7705606" y="5883116"/>
            <a:ext cx="6004679" cy="638175"/>
          </a:xfrm>
          <a:prstGeom prst="rect">
            <a:avLst/>
          </a:prstGeom>
          <a:noFill/>
          <a:ln/>
        </p:spPr>
        <p:txBody>
          <a:bodyPr wrap="square" lIns="0" tIns="0" rIns="0" bIns="0" rtlCol="0" anchor="t"/>
          <a:lstStyle/>
          <a:p>
            <a:pPr marL="0" indent="0" algn="l">
              <a:lnSpc>
                <a:spcPts val="2500"/>
              </a:lnSpc>
              <a:buNone/>
            </a:pPr>
            <a:r>
              <a:rPr lang="en-US" sz="1550" b="1" dirty="0">
                <a:solidFill>
                  <a:srgbClr val="DCD7E5"/>
                </a:solidFill>
                <a:latin typeface="Heebo Light" pitchFamily="34" charset="0"/>
                <a:ea typeface="Heebo Light" pitchFamily="34" charset="-122"/>
                <a:cs typeface="Heebo Light" pitchFamily="34" charset="-120"/>
              </a:rPr>
              <a:t>Android:</a:t>
            </a:r>
            <a:r>
              <a:rPr lang="en-US" sz="1550" dirty="0">
                <a:solidFill>
                  <a:srgbClr val="DCD7E5"/>
                </a:solidFill>
                <a:latin typeface="Heebo Light" pitchFamily="34" charset="0"/>
                <a:ea typeface="Heebo Light" pitchFamily="34" charset="-122"/>
                <a:cs typeface="Heebo Light" pitchFamily="34" charset="-120"/>
              </a:rPr>
              <a:t> Works across diverse hardware specifications and price points</a:t>
            </a:r>
            <a:endParaRPr lang="en-US" sz="1550" dirty="0"/>
          </a:p>
        </p:txBody>
      </p:sp>
      <p:sp>
        <p:nvSpPr>
          <p:cNvPr id="24" name="Text 20"/>
          <p:cNvSpPr/>
          <p:nvPr/>
        </p:nvSpPr>
        <p:spPr>
          <a:xfrm>
            <a:off x="7705606" y="6640830"/>
            <a:ext cx="6004679" cy="638175"/>
          </a:xfrm>
          <a:prstGeom prst="rect">
            <a:avLst/>
          </a:prstGeom>
          <a:noFill/>
          <a:ln/>
        </p:spPr>
        <p:txBody>
          <a:bodyPr wrap="square" lIns="0" tIns="0" rIns="0" bIns="0" rtlCol="0" anchor="t"/>
          <a:lstStyle/>
          <a:p>
            <a:pPr marL="0" indent="0" algn="l">
              <a:lnSpc>
                <a:spcPts val="2500"/>
              </a:lnSpc>
              <a:buNone/>
            </a:pPr>
            <a:r>
              <a:rPr lang="en-US" sz="1550" b="1" dirty="0">
                <a:solidFill>
                  <a:srgbClr val="DCD7E5"/>
                </a:solidFill>
                <a:latin typeface="Heebo Light" pitchFamily="34" charset="0"/>
                <a:ea typeface="Heebo Light" pitchFamily="34" charset="-122"/>
                <a:cs typeface="Heebo Light" pitchFamily="34" charset="-120"/>
              </a:rPr>
              <a:t>iOS:</a:t>
            </a:r>
            <a:r>
              <a:rPr lang="en-US" sz="1550" dirty="0">
                <a:solidFill>
                  <a:srgbClr val="DCD7E5"/>
                </a:solidFill>
                <a:latin typeface="Heebo Light" pitchFamily="34" charset="0"/>
                <a:ea typeface="Heebo Light" pitchFamily="34" charset="-122"/>
                <a:cs typeface="Heebo Light" pitchFamily="34" charset="-120"/>
              </a:rPr>
              <a:t> Optimized for specific Apple hardware with seamless ecosystem integration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9471" y="828199"/>
            <a:ext cx="6492359" cy="472797"/>
          </a:xfrm>
          <a:prstGeom prst="rect">
            <a:avLst/>
          </a:prstGeom>
          <a:noFill/>
          <a:ln/>
        </p:spPr>
        <p:txBody>
          <a:bodyPr wrap="none" lIns="0" tIns="0" rIns="0" bIns="0" rtlCol="0" anchor="t"/>
          <a:lstStyle/>
          <a:p>
            <a:pPr marL="0" indent="0" algn="l">
              <a:lnSpc>
                <a:spcPts val="3700"/>
              </a:lnSpc>
              <a:buNone/>
            </a:pPr>
            <a:r>
              <a:rPr lang="en-US" sz="2950" dirty="0">
                <a:solidFill>
                  <a:srgbClr val="F2F0F4"/>
                </a:solidFill>
                <a:latin typeface="Montserrat" pitchFamily="34" charset="0"/>
                <a:ea typeface="Montserrat" pitchFamily="34" charset="-122"/>
                <a:cs typeface="Montserrat" pitchFamily="34" charset="-120"/>
              </a:rPr>
              <a:t>Android OS Architecture Overview</a:t>
            </a:r>
            <a:endParaRPr lang="en-US" sz="2950" dirty="0"/>
          </a:p>
        </p:txBody>
      </p:sp>
      <p:sp>
        <p:nvSpPr>
          <p:cNvPr id="3" name="Text 1"/>
          <p:cNvSpPr/>
          <p:nvPr/>
        </p:nvSpPr>
        <p:spPr>
          <a:xfrm>
            <a:off x="529471" y="1603534"/>
            <a:ext cx="13571458" cy="484108"/>
          </a:xfrm>
          <a:prstGeom prst="rect">
            <a:avLst/>
          </a:prstGeom>
          <a:noFill/>
          <a:ln/>
        </p:spPr>
        <p:txBody>
          <a:bodyPr wrap="square" lIns="0" tIns="0" rIns="0" bIns="0" rtlCol="0" anchor="t"/>
          <a:lstStyle/>
          <a:p>
            <a:pPr marL="0" indent="0" algn="l">
              <a:lnSpc>
                <a:spcPts val="1900"/>
              </a:lnSpc>
              <a:buNone/>
            </a:pPr>
            <a:r>
              <a:rPr lang="en-US" sz="1150" dirty="0">
                <a:solidFill>
                  <a:srgbClr val="DCD7E5"/>
                </a:solidFill>
                <a:latin typeface="Heebo Light" pitchFamily="34" charset="0"/>
                <a:ea typeface="Heebo Light" pitchFamily="34" charset="-122"/>
                <a:cs typeface="Heebo Light" pitchFamily="34" charset="-120"/>
              </a:rPr>
              <a:t>Android's architecture is built on a layered approach, where each layer provides specific services to the layer above it. This modular design enables flexibility, scalability, and efficient resource management across diverse hardware configurations.</a:t>
            </a:r>
            <a:endParaRPr lang="en-US" sz="1150" dirty="0"/>
          </a:p>
        </p:txBody>
      </p:sp>
      <p:sp>
        <p:nvSpPr>
          <p:cNvPr id="4" name="Shape 2"/>
          <p:cNvSpPr/>
          <p:nvPr/>
        </p:nvSpPr>
        <p:spPr>
          <a:xfrm>
            <a:off x="680799" y="2484715"/>
            <a:ext cx="151209" cy="680680"/>
          </a:xfrm>
          <a:prstGeom prst="roundRect">
            <a:avLst>
              <a:gd name="adj" fmla="val 42025"/>
            </a:avLst>
          </a:prstGeom>
          <a:solidFill>
            <a:srgbClr val="31136C"/>
          </a:solidFill>
          <a:ln w="7620">
            <a:solidFill>
              <a:srgbClr val="4A2C85"/>
            </a:solidFill>
            <a:prstDash val="solid"/>
          </a:ln>
        </p:spPr>
      </p:sp>
      <p:sp>
        <p:nvSpPr>
          <p:cNvPr id="5" name="Shape 3"/>
          <p:cNvSpPr/>
          <p:nvPr/>
        </p:nvSpPr>
        <p:spPr>
          <a:xfrm>
            <a:off x="529471" y="2385417"/>
            <a:ext cx="453866" cy="453866"/>
          </a:xfrm>
          <a:prstGeom prst="roundRect">
            <a:avLst>
              <a:gd name="adj" fmla="val 100735"/>
            </a:avLst>
          </a:prstGeom>
          <a:solidFill>
            <a:srgbClr val="31136C"/>
          </a:solidFill>
          <a:ln w="7620">
            <a:solidFill>
              <a:srgbClr val="4A2C85"/>
            </a:solidFill>
            <a:prstDash val="solid"/>
          </a:ln>
        </p:spPr>
      </p:sp>
      <p:pic>
        <p:nvPicPr>
          <p:cNvPr id="6" name="Image 0" descr="preencoded.png"/>
          <p:cNvPicPr>
            <a:picLocks noChangeAspect="1"/>
          </p:cNvPicPr>
          <p:nvPr/>
        </p:nvPicPr>
        <p:blipFill>
          <a:blip r:embed="rId3"/>
          <a:stretch>
            <a:fillRect/>
          </a:stretch>
        </p:blipFill>
        <p:spPr>
          <a:xfrm>
            <a:off x="642938" y="2470547"/>
            <a:ext cx="226933" cy="283607"/>
          </a:xfrm>
          <a:prstGeom prst="rect">
            <a:avLst/>
          </a:prstGeom>
        </p:spPr>
      </p:pic>
      <p:sp>
        <p:nvSpPr>
          <p:cNvPr id="7" name="Text 4"/>
          <p:cNvSpPr/>
          <p:nvPr/>
        </p:nvSpPr>
        <p:spPr>
          <a:xfrm>
            <a:off x="1134547" y="2408992"/>
            <a:ext cx="1891189" cy="236339"/>
          </a:xfrm>
          <a:prstGeom prst="rect">
            <a:avLst/>
          </a:prstGeom>
          <a:noFill/>
          <a:ln/>
        </p:spPr>
        <p:txBody>
          <a:bodyPr wrap="none" lIns="0" tIns="0" rIns="0" bIns="0" rtlCol="0" anchor="t"/>
          <a:lstStyle/>
          <a:p>
            <a:pPr marL="0" indent="0" algn="l">
              <a:lnSpc>
                <a:spcPts val="1850"/>
              </a:lnSpc>
              <a:buNone/>
            </a:pPr>
            <a:r>
              <a:rPr lang="en-US" sz="1450" dirty="0">
                <a:solidFill>
                  <a:srgbClr val="DCD7E5"/>
                </a:solidFill>
                <a:latin typeface="Montserrat" pitchFamily="34" charset="0"/>
                <a:ea typeface="Montserrat" pitchFamily="34" charset="-122"/>
                <a:cs typeface="Montserrat" pitchFamily="34" charset="-120"/>
              </a:rPr>
              <a:t>1. Linux Kernel</a:t>
            </a:r>
            <a:endParaRPr lang="en-US" sz="1450" dirty="0"/>
          </a:p>
        </p:txBody>
      </p:sp>
      <p:sp>
        <p:nvSpPr>
          <p:cNvPr id="8" name="Text 5"/>
          <p:cNvSpPr/>
          <p:nvPr/>
        </p:nvSpPr>
        <p:spPr>
          <a:xfrm>
            <a:off x="1134547" y="2736056"/>
            <a:ext cx="12966383" cy="242054"/>
          </a:xfrm>
          <a:prstGeom prst="rect">
            <a:avLst/>
          </a:prstGeom>
          <a:noFill/>
          <a:ln/>
        </p:spPr>
        <p:txBody>
          <a:bodyPr wrap="none" lIns="0" tIns="0" rIns="0" bIns="0" rtlCol="0" anchor="t"/>
          <a:lstStyle/>
          <a:p>
            <a:pPr marL="0" indent="0" algn="l">
              <a:lnSpc>
                <a:spcPts val="1900"/>
              </a:lnSpc>
              <a:buNone/>
            </a:pPr>
            <a:r>
              <a:rPr lang="en-US" sz="1150" dirty="0">
                <a:solidFill>
                  <a:srgbClr val="DCD7E5"/>
                </a:solidFill>
                <a:latin typeface="Heebo Light" pitchFamily="34" charset="0"/>
                <a:ea typeface="Heebo Light" pitchFamily="34" charset="-122"/>
                <a:cs typeface="Heebo Light" pitchFamily="34" charset="-120"/>
              </a:rPr>
              <a:t>Foundation layer providing core system services including process management, memory management, security, and hardware drivers for camera, display, audio, and connectivity.</a:t>
            </a:r>
            <a:endParaRPr lang="en-US" sz="1150" dirty="0"/>
          </a:p>
        </p:txBody>
      </p:sp>
      <p:sp>
        <p:nvSpPr>
          <p:cNvPr id="9" name="Shape 6"/>
          <p:cNvSpPr/>
          <p:nvPr/>
        </p:nvSpPr>
        <p:spPr>
          <a:xfrm>
            <a:off x="907733" y="3543657"/>
            <a:ext cx="151209" cy="680680"/>
          </a:xfrm>
          <a:prstGeom prst="roundRect">
            <a:avLst>
              <a:gd name="adj" fmla="val 42025"/>
            </a:avLst>
          </a:prstGeom>
          <a:solidFill>
            <a:srgbClr val="31136C"/>
          </a:solidFill>
          <a:ln w="7620">
            <a:solidFill>
              <a:srgbClr val="4A2C85"/>
            </a:solidFill>
            <a:prstDash val="solid"/>
          </a:ln>
        </p:spPr>
      </p:sp>
      <p:sp>
        <p:nvSpPr>
          <p:cNvPr id="10" name="Shape 7"/>
          <p:cNvSpPr/>
          <p:nvPr/>
        </p:nvSpPr>
        <p:spPr>
          <a:xfrm>
            <a:off x="756404" y="3444359"/>
            <a:ext cx="453866" cy="453866"/>
          </a:xfrm>
          <a:prstGeom prst="roundRect">
            <a:avLst>
              <a:gd name="adj" fmla="val 100735"/>
            </a:avLst>
          </a:prstGeom>
          <a:solidFill>
            <a:srgbClr val="31136C"/>
          </a:solidFill>
          <a:ln w="7620">
            <a:solidFill>
              <a:srgbClr val="4A2C85"/>
            </a:solidFill>
            <a:prstDash val="solid"/>
          </a:ln>
        </p:spPr>
      </p:sp>
      <p:pic>
        <p:nvPicPr>
          <p:cNvPr id="11" name="Image 1" descr="preencoded.png"/>
          <p:cNvPicPr>
            <a:picLocks noChangeAspect="1"/>
          </p:cNvPicPr>
          <p:nvPr/>
        </p:nvPicPr>
        <p:blipFill>
          <a:blip r:embed="rId4"/>
          <a:stretch>
            <a:fillRect/>
          </a:stretch>
        </p:blipFill>
        <p:spPr>
          <a:xfrm>
            <a:off x="869871" y="3529489"/>
            <a:ext cx="226933" cy="283607"/>
          </a:xfrm>
          <a:prstGeom prst="rect">
            <a:avLst/>
          </a:prstGeom>
        </p:spPr>
      </p:pic>
      <p:sp>
        <p:nvSpPr>
          <p:cNvPr id="12" name="Text 8"/>
          <p:cNvSpPr/>
          <p:nvPr/>
        </p:nvSpPr>
        <p:spPr>
          <a:xfrm>
            <a:off x="1361480" y="3467933"/>
            <a:ext cx="3401735" cy="236339"/>
          </a:xfrm>
          <a:prstGeom prst="rect">
            <a:avLst/>
          </a:prstGeom>
          <a:noFill/>
          <a:ln/>
        </p:spPr>
        <p:txBody>
          <a:bodyPr wrap="none" lIns="0" tIns="0" rIns="0" bIns="0" rtlCol="0" anchor="t"/>
          <a:lstStyle/>
          <a:p>
            <a:pPr marL="0" indent="0" algn="l">
              <a:lnSpc>
                <a:spcPts val="1850"/>
              </a:lnSpc>
              <a:buNone/>
            </a:pPr>
            <a:r>
              <a:rPr lang="en-US" sz="1450" dirty="0">
                <a:solidFill>
                  <a:srgbClr val="DCD7E5"/>
                </a:solidFill>
                <a:latin typeface="Montserrat" pitchFamily="34" charset="0"/>
                <a:ea typeface="Montserrat" pitchFamily="34" charset="-122"/>
                <a:cs typeface="Montserrat" pitchFamily="34" charset="-120"/>
              </a:rPr>
              <a:t>2. Hardware Abstraction Layer (HAL)</a:t>
            </a:r>
            <a:endParaRPr lang="en-US" sz="1450" dirty="0"/>
          </a:p>
        </p:txBody>
      </p:sp>
      <p:sp>
        <p:nvSpPr>
          <p:cNvPr id="13" name="Text 9"/>
          <p:cNvSpPr/>
          <p:nvPr/>
        </p:nvSpPr>
        <p:spPr>
          <a:xfrm>
            <a:off x="1361480" y="3794998"/>
            <a:ext cx="12739449" cy="242054"/>
          </a:xfrm>
          <a:prstGeom prst="rect">
            <a:avLst/>
          </a:prstGeom>
          <a:noFill/>
          <a:ln/>
        </p:spPr>
        <p:txBody>
          <a:bodyPr wrap="none" lIns="0" tIns="0" rIns="0" bIns="0" rtlCol="0" anchor="t"/>
          <a:lstStyle/>
          <a:p>
            <a:pPr marL="0" indent="0" algn="l">
              <a:lnSpc>
                <a:spcPts val="1900"/>
              </a:lnSpc>
              <a:buNone/>
            </a:pPr>
            <a:r>
              <a:rPr lang="en-US" sz="1150" dirty="0">
                <a:solidFill>
                  <a:srgbClr val="DCD7E5"/>
                </a:solidFill>
                <a:latin typeface="Heebo Light" pitchFamily="34" charset="0"/>
                <a:ea typeface="Heebo Light" pitchFamily="34" charset="-122"/>
                <a:cs typeface="Heebo Light" pitchFamily="34" charset="-120"/>
              </a:rPr>
              <a:t>Standardizes hardware access by providing interfaces that expose device capabilities to higher-level Java API frameworks without requiring modifications to lower-level drivers.</a:t>
            </a:r>
            <a:endParaRPr lang="en-US" sz="1150" dirty="0"/>
          </a:p>
        </p:txBody>
      </p:sp>
      <p:sp>
        <p:nvSpPr>
          <p:cNvPr id="14" name="Shape 10"/>
          <p:cNvSpPr/>
          <p:nvPr/>
        </p:nvSpPr>
        <p:spPr>
          <a:xfrm>
            <a:off x="1134666" y="4602599"/>
            <a:ext cx="151209" cy="680680"/>
          </a:xfrm>
          <a:prstGeom prst="roundRect">
            <a:avLst>
              <a:gd name="adj" fmla="val 42025"/>
            </a:avLst>
          </a:prstGeom>
          <a:solidFill>
            <a:srgbClr val="31136C"/>
          </a:solidFill>
          <a:ln w="7620">
            <a:solidFill>
              <a:srgbClr val="4A2C85"/>
            </a:solidFill>
            <a:prstDash val="solid"/>
          </a:ln>
        </p:spPr>
      </p:sp>
      <p:sp>
        <p:nvSpPr>
          <p:cNvPr id="15" name="Shape 11"/>
          <p:cNvSpPr/>
          <p:nvPr/>
        </p:nvSpPr>
        <p:spPr>
          <a:xfrm>
            <a:off x="983337" y="4503301"/>
            <a:ext cx="453866" cy="453866"/>
          </a:xfrm>
          <a:prstGeom prst="roundRect">
            <a:avLst>
              <a:gd name="adj" fmla="val 100735"/>
            </a:avLst>
          </a:prstGeom>
          <a:solidFill>
            <a:srgbClr val="31136C"/>
          </a:solidFill>
          <a:ln w="7620">
            <a:solidFill>
              <a:srgbClr val="4A2C85"/>
            </a:solidFill>
            <a:prstDash val="solid"/>
          </a:ln>
        </p:spPr>
      </p:sp>
      <p:pic>
        <p:nvPicPr>
          <p:cNvPr id="16" name="Image 2" descr="preencoded.png"/>
          <p:cNvPicPr>
            <a:picLocks noChangeAspect="1"/>
          </p:cNvPicPr>
          <p:nvPr/>
        </p:nvPicPr>
        <p:blipFill>
          <a:blip r:embed="rId5"/>
          <a:stretch>
            <a:fillRect/>
          </a:stretch>
        </p:blipFill>
        <p:spPr>
          <a:xfrm>
            <a:off x="1096804" y="4588431"/>
            <a:ext cx="226933" cy="283607"/>
          </a:xfrm>
          <a:prstGeom prst="rect">
            <a:avLst/>
          </a:prstGeom>
        </p:spPr>
      </p:pic>
      <p:sp>
        <p:nvSpPr>
          <p:cNvPr id="17" name="Text 12"/>
          <p:cNvSpPr/>
          <p:nvPr/>
        </p:nvSpPr>
        <p:spPr>
          <a:xfrm>
            <a:off x="1588413" y="4526875"/>
            <a:ext cx="3352800" cy="236339"/>
          </a:xfrm>
          <a:prstGeom prst="rect">
            <a:avLst/>
          </a:prstGeom>
          <a:noFill/>
          <a:ln/>
        </p:spPr>
        <p:txBody>
          <a:bodyPr wrap="none" lIns="0" tIns="0" rIns="0" bIns="0" rtlCol="0" anchor="t"/>
          <a:lstStyle/>
          <a:p>
            <a:pPr marL="0" indent="0" algn="l">
              <a:lnSpc>
                <a:spcPts val="1850"/>
              </a:lnSpc>
              <a:buNone/>
            </a:pPr>
            <a:r>
              <a:rPr lang="en-US" sz="1450" dirty="0">
                <a:solidFill>
                  <a:srgbClr val="DCD7E5"/>
                </a:solidFill>
                <a:latin typeface="Montserrat" pitchFamily="34" charset="0"/>
                <a:ea typeface="Montserrat" pitchFamily="34" charset="-122"/>
                <a:cs typeface="Montserrat" pitchFamily="34" charset="-120"/>
              </a:rPr>
              <a:t>3. Android Runtime &amp; Core Libraries</a:t>
            </a:r>
            <a:endParaRPr lang="en-US" sz="1450" dirty="0"/>
          </a:p>
        </p:txBody>
      </p:sp>
      <p:sp>
        <p:nvSpPr>
          <p:cNvPr id="18" name="Text 13"/>
          <p:cNvSpPr/>
          <p:nvPr/>
        </p:nvSpPr>
        <p:spPr>
          <a:xfrm>
            <a:off x="1588413" y="4853940"/>
            <a:ext cx="12512516" cy="242054"/>
          </a:xfrm>
          <a:prstGeom prst="rect">
            <a:avLst/>
          </a:prstGeom>
          <a:noFill/>
          <a:ln/>
        </p:spPr>
        <p:txBody>
          <a:bodyPr wrap="none" lIns="0" tIns="0" rIns="0" bIns="0" rtlCol="0" anchor="t"/>
          <a:lstStyle/>
          <a:p>
            <a:pPr marL="0" indent="0" algn="l">
              <a:lnSpc>
                <a:spcPts val="1900"/>
              </a:lnSpc>
              <a:buNone/>
            </a:pPr>
            <a:r>
              <a:rPr lang="en-US" sz="1150" dirty="0">
                <a:solidFill>
                  <a:srgbClr val="DCD7E5"/>
                </a:solidFill>
                <a:latin typeface="Heebo Light" pitchFamily="34" charset="0"/>
                <a:ea typeface="Heebo Light" pitchFamily="34" charset="-122"/>
                <a:cs typeface="Heebo Light" pitchFamily="34" charset="-120"/>
              </a:rPr>
              <a:t>ART (Android Runtime) executes apps using JIT (Just-In-Time) and AOT (Ahead-Of-Time) compilation. Includes core Java libraries for data structures, file I/O, and networking.</a:t>
            </a:r>
            <a:endParaRPr lang="en-US" sz="1150" dirty="0"/>
          </a:p>
        </p:txBody>
      </p:sp>
      <p:sp>
        <p:nvSpPr>
          <p:cNvPr id="19" name="Shape 14"/>
          <p:cNvSpPr/>
          <p:nvPr/>
        </p:nvSpPr>
        <p:spPr>
          <a:xfrm>
            <a:off x="1361599" y="5661541"/>
            <a:ext cx="151209" cy="680680"/>
          </a:xfrm>
          <a:prstGeom prst="roundRect">
            <a:avLst>
              <a:gd name="adj" fmla="val 42025"/>
            </a:avLst>
          </a:prstGeom>
          <a:solidFill>
            <a:srgbClr val="31136C"/>
          </a:solidFill>
          <a:ln w="7620">
            <a:solidFill>
              <a:srgbClr val="4A2C85"/>
            </a:solidFill>
            <a:prstDash val="solid"/>
          </a:ln>
        </p:spPr>
      </p:sp>
      <p:sp>
        <p:nvSpPr>
          <p:cNvPr id="20" name="Shape 15"/>
          <p:cNvSpPr/>
          <p:nvPr/>
        </p:nvSpPr>
        <p:spPr>
          <a:xfrm>
            <a:off x="1210270" y="5562243"/>
            <a:ext cx="453866" cy="453866"/>
          </a:xfrm>
          <a:prstGeom prst="roundRect">
            <a:avLst>
              <a:gd name="adj" fmla="val 100735"/>
            </a:avLst>
          </a:prstGeom>
          <a:solidFill>
            <a:srgbClr val="31136C"/>
          </a:solidFill>
          <a:ln w="7620">
            <a:solidFill>
              <a:srgbClr val="4A2C85"/>
            </a:solidFill>
            <a:prstDash val="solid"/>
          </a:ln>
        </p:spPr>
      </p:sp>
      <p:pic>
        <p:nvPicPr>
          <p:cNvPr id="21" name="Image 3" descr="preencoded.png"/>
          <p:cNvPicPr>
            <a:picLocks noChangeAspect="1"/>
          </p:cNvPicPr>
          <p:nvPr/>
        </p:nvPicPr>
        <p:blipFill>
          <a:blip r:embed="rId6"/>
          <a:stretch>
            <a:fillRect/>
          </a:stretch>
        </p:blipFill>
        <p:spPr>
          <a:xfrm>
            <a:off x="1323737" y="5647373"/>
            <a:ext cx="226933" cy="283607"/>
          </a:xfrm>
          <a:prstGeom prst="rect">
            <a:avLst/>
          </a:prstGeom>
        </p:spPr>
      </p:pic>
      <p:sp>
        <p:nvSpPr>
          <p:cNvPr id="22" name="Text 16"/>
          <p:cNvSpPr/>
          <p:nvPr/>
        </p:nvSpPr>
        <p:spPr>
          <a:xfrm>
            <a:off x="1815346" y="5585817"/>
            <a:ext cx="2269569" cy="236339"/>
          </a:xfrm>
          <a:prstGeom prst="rect">
            <a:avLst/>
          </a:prstGeom>
          <a:noFill/>
          <a:ln/>
        </p:spPr>
        <p:txBody>
          <a:bodyPr wrap="none" lIns="0" tIns="0" rIns="0" bIns="0" rtlCol="0" anchor="t"/>
          <a:lstStyle/>
          <a:p>
            <a:pPr marL="0" indent="0" algn="l">
              <a:lnSpc>
                <a:spcPts val="1850"/>
              </a:lnSpc>
              <a:buNone/>
            </a:pPr>
            <a:r>
              <a:rPr lang="en-US" sz="1450" dirty="0">
                <a:solidFill>
                  <a:srgbClr val="DCD7E5"/>
                </a:solidFill>
                <a:latin typeface="Montserrat" pitchFamily="34" charset="0"/>
                <a:ea typeface="Montserrat" pitchFamily="34" charset="-122"/>
                <a:cs typeface="Montserrat" pitchFamily="34" charset="-120"/>
              </a:rPr>
              <a:t>4. Native C/C++ Libraries</a:t>
            </a:r>
            <a:endParaRPr lang="en-US" sz="1450" dirty="0"/>
          </a:p>
        </p:txBody>
      </p:sp>
      <p:sp>
        <p:nvSpPr>
          <p:cNvPr id="23" name="Text 17"/>
          <p:cNvSpPr/>
          <p:nvPr/>
        </p:nvSpPr>
        <p:spPr>
          <a:xfrm>
            <a:off x="1815346" y="5912882"/>
            <a:ext cx="12285583" cy="242054"/>
          </a:xfrm>
          <a:prstGeom prst="rect">
            <a:avLst/>
          </a:prstGeom>
          <a:noFill/>
          <a:ln/>
        </p:spPr>
        <p:txBody>
          <a:bodyPr wrap="none" lIns="0" tIns="0" rIns="0" bIns="0" rtlCol="0" anchor="t"/>
          <a:lstStyle/>
          <a:p>
            <a:pPr marL="0" indent="0" algn="l">
              <a:lnSpc>
                <a:spcPts val="1900"/>
              </a:lnSpc>
              <a:buNone/>
            </a:pPr>
            <a:r>
              <a:rPr lang="en-US" sz="1150" dirty="0">
                <a:solidFill>
                  <a:srgbClr val="DCD7E5"/>
                </a:solidFill>
                <a:latin typeface="Heebo Light" pitchFamily="34" charset="0"/>
                <a:ea typeface="Heebo Light" pitchFamily="34" charset="-122"/>
                <a:cs typeface="Heebo Light" pitchFamily="34" charset="-120"/>
              </a:rPr>
              <a:t>High-performance libraries for graphics (OpenGL ES), media codecs, database (SQLite), SSL/TLS security, WebKit browser engine, and surface management.</a:t>
            </a:r>
            <a:endParaRPr lang="en-US" sz="1150" dirty="0"/>
          </a:p>
        </p:txBody>
      </p:sp>
      <p:sp>
        <p:nvSpPr>
          <p:cNvPr id="24" name="Shape 18"/>
          <p:cNvSpPr/>
          <p:nvPr/>
        </p:nvSpPr>
        <p:spPr>
          <a:xfrm>
            <a:off x="1134666" y="6720483"/>
            <a:ext cx="151209" cy="680680"/>
          </a:xfrm>
          <a:prstGeom prst="roundRect">
            <a:avLst>
              <a:gd name="adj" fmla="val 42025"/>
            </a:avLst>
          </a:prstGeom>
          <a:solidFill>
            <a:srgbClr val="31136C"/>
          </a:solidFill>
          <a:ln w="7620">
            <a:solidFill>
              <a:srgbClr val="4A2C85"/>
            </a:solidFill>
            <a:prstDash val="solid"/>
          </a:ln>
        </p:spPr>
      </p:sp>
      <p:sp>
        <p:nvSpPr>
          <p:cNvPr id="25" name="Shape 19"/>
          <p:cNvSpPr/>
          <p:nvPr/>
        </p:nvSpPr>
        <p:spPr>
          <a:xfrm>
            <a:off x="983337" y="6621185"/>
            <a:ext cx="453866" cy="453866"/>
          </a:xfrm>
          <a:prstGeom prst="roundRect">
            <a:avLst>
              <a:gd name="adj" fmla="val 100735"/>
            </a:avLst>
          </a:prstGeom>
          <a:solidFill>
            <a:srgbClr val="31136C"/>
          </a:solidFill>
          <a:ln w="7620">
            <a:solidFill>
              <a:srgbClr val="4A2C85"/>
            </a:solidFill>
            <a:prstDash val="solid"/>
          </a:ln>
        </p:spPr>
      </p:sp>
      <p:pic>
        <p:nvPicPr>
          <p:cNvPr id="26" name="Image 4" descr="preencoded.png"/>
          <p:cNvPicPr>
            <a:picLocks noChangeAspect="1"/>
          </p:cNvPicPr>
          <p:nvPr/>
        </p:nvPicPr>
        <p:blipFill>
          <a:blip r:embed="rId7"/>
          <a:stretch>
            <a:fillRect/>
          </a:stretch>
        </p:blipFill>
        <p:spPr>
          <a:xfrm>
            <a:off x="1096804" y="6706314"/>
            <a:ext cx="226933" cy="283607"/>
          </a:xfrm>
          <a:prstGeom prst="rect">
            <a:avLst/>
          </a:prstGeom>
        </p:spPr>
      </p:pic>
      <p:sp>
        <p:nvSpPr>
          <p:cNvPr id="27" name="Text 20"/>
          <p:cNvSpPr/>
          <p:nvPr/>
        </p:nvSpPr>
        <p:spPr>
          <a:xfrm>
            <a:off x="1588413" y="6644759"/>
            <a:ext cx="2409944" cy="236339"/>
          </a:xfrm>
          <a:prstGeom prst="rect">
            <a:avLst/>
          </a:prstGeom>
          <a:noFill/>
          <a:ln/>
        </p:spPr>
        <p:txBody>
          <a:bodyPr wrap="none" lIns="0" tIns="0" rIns="0" bIns="0" rtlCol="0" anchor="t"/>
          <a:lstStyle/>
          <a:p>
            <a:pPr marL="0" indent="0" algn="l">
              <a:lnSpc>
                <a:spcPts val="1850"/>
              </a:lnSpc>
              <a:buNone/>
            </a:pPr>
            <a:r>
              <a:rPr lang="en-US" sz="1450" dirty="0">
                <a:solidFill>
                  <a:srgbClr val="DCD7E5"/>
                </a:solidFill>
                <a:latin typeface="Montserrat" pitchFamily="34" charset="0"/>
                <a:ea typeface="Montserrat" pitchFamily="34" charset="-122"/>
                <a:cs typeface="Montserrat" pitchFamily="34" charset="-120"/>
              </a:rPr>
              <a:t>5. Application Framework</a:t>
            </a:r>
            <a:endParaRPr lang="en-US" sz="1450" dirty="0"/>
          </a:p>
        </p:txBody>
      </p:sp>
      <p:sp>
        <p:nvSpPr>
          <p:cNvPr id="28" name="Text 21"/>
          <p:cNvSpPr/>
          <p:nvPr/>
        </p:nvSpPr>
        <p:spPr>
          <a:xfrm>
            <a:off x="1588413" y="6971824"/>
            <a:ext cx="12512516" cy="242054"/>
          </a:xfrm>
          <a:prstGeom prst="rect">
            <a:avLst/>
          </a:prstGeom>
          <a:noFill/>
          <a:ln/>
        </p:spPr>
        <p:txBody>
          <a:bodyPr wrap="none" lIns="0" tIns="0" rIns="0" bIns="0" rtlCol="0" anchor="t"/>
          <a:lstStyle/>
          <a:p>
            <a:pPr marL="0" indent="0" algn="l">
              <a:lnSpc>
                <a:spcPts val="1900"/>
              </a:lnSpc>
              <a:buNone/>
            </a:pPr>
            <a:r>
              <a:rPr lang="en-US" sz="1150" dirty="0">
                <a:solidFill>
                  <a:srgbClr val="DCD7E5"/>
                </a:solidFill>
                <a:latin typeface="Heebo Light" pitchFamily="34" charset="0"/>
                <a:ea typeface="Heebo Light" pitchFamily="34" charset="-122"/>
                <a:cs typeface="Heebo Light" pitchFamily="34" charset="-120"/>
              </a:rPr>
              <a:t>Java API framework providing building blocks for apps: Activity Manager, Content Providers, Notification Manager, Package Manager, Resource Manager, and Location Manager.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246584"/>
            <a:ext cx="7796570" cy="708779"/>
          </a:xfrm>
          <a:prstGeom prst="rect">
            <a:avLst/>
          </a:prstGeom>
          <a:noFill/>
          <a:ln/>
        </p:spPr>
        <p:txBody>
          <a:bodyPr wrap="none" lIns="0" tIns="0" rIns="0" bIns="0" rtlCol="0" anchor="t"/>
          <a:lstStyle/>
          <a:p>
            <a:pPr marL="0" indent="0" algn="l">
              <a:lnSpc>
                <a:spcPts val="5550"/>
              </a:lnSpc>
              <a:buNone/>
            </a:pPr>
            <a:r>
              <a:rPr lang="en-US" sz="4450" dirty="0">
                <a:solidFill>
                  <a:srgbClr val="F2F0F4"/>
                </a:solidFill>
                <a:latin typeface="Montserrat" pitchFamily="34" charset="0"/>
                <a:ea typeface="Montserrat" pitchFamily="34" charset="-122"/>
                <a:cs typeface="Montserrat" pitchFamily="34" charset="-120"/>
              </a:rPr>
              <a:t>Android Architecture Visual</a:t>
            </a:r>
            <a:endParaRPr lang="en-US" sz="4450" dirty="0"/>
          </a:p>
        </p:txBody>
      </p:sp>
      <p:sp>
        <p:nvSpPr>
          <p:cNvPr id="3" name="Shape 1"/>
          <p:cNvSpPr/>
          <p:nvPr/>
        </p:nvSpPr>
        <p:spPr>
          <a:xfrm>
            <a:off x="793790" y="2408992"/>
            <a:ext cx="13042821" cy="2992041"/>
          </a:xfrm>
          <a:prstGeom prst="roundRect">
            <a:avLst>
              <a:gd name="adj" fmla="val 3184"/>
            </a:avLst>
          </a:prstGeom>
          <a:solidFill>
            <a:srgbClr val="31136C"/>
          </a:solidFill>
          <a:ln w="7620">
            <a:solidFill>
              <a:srgbClr val="4A2C85"/>
            </a:solidFill>
            <a:prstDash val="solid"/>
          </a:ln>
        </p:spPr>
      </p:sp>
      <p:sp>
        <p:nvSpPr>
          <p:cNvPr id="4" name="Shape 2"/>
          <p:cNvSpPr/>
          <p:nvPr/>
        </p:nvSpPr>
        <p:spPr>
          <a:xfrm>
            <a:off x="801410" y="2416612"/>
            <a:ext cx="4342448" cy="1669852"/>
          </a:xfrm>
          <a:prstGeom prst="roundRect">
            <a:avLst>
              <a:gd name="adj" fmla="val 5705"/>
            </a:avLst>
          </a:prstGeom>
          <a:solidFill>
            <a:srgbClr val="31136C"/>
          </a:solidFill>
          <a:ln/>
        </p:spPr>
      </p:sp>
      <p:sp>
        <p:nvSpPr>
          <p:cNvPr id="5" name="Text 3"/>
          <p:cNvSpPr/>
          <p:nvPr/>
        </p:nvSpPr>
        <p:spPr>
          <a:xfrm>
            <a:off x="1028224" y="264342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System &amp; User Apps</a:t>
            </a:r>
            <a:endParaRPr lang="en-US" sz="2200" dirty="0"/>
          </a:p>
        </p:txBody>
      </p:sp>
      <p:sp>
        <p:nvSpPr>
          <p:cNvPr id="6" name="Text 4"/>
          <p:cNvSpPr/>
          <p:nvPr/>
        </p:nvSpPr>
        <p:spPr>
          <a:xfrm>
            <a:off x="1028224" y="3133844"/>
            <a:ext cx="3888819" cy="725805"/>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Email, SMS, Calendar, Browser, Contacts, Phone</a:t>
            </a:r>
            <a:endParaRPr lang="en-US" sz="1750" dirty="0"/>
          </a:p>
        </p:txBody>
      </p:sp>
      <p:sp>
        <p:nvSpPr>
          <p:cNvPr id="7" name="Shape 5"/>
          <p:cNvSpPr/>
          <p:nvPr/>
        </p:nvSpPr>
        <p:spPr>
          <a:xfrm>
            <a:off x="5143857" y="2416612"/>
            <a:ext cx="4342567" cy="1669852"/>
          </a:xfrm>
          <a:prstGeom prst="rect">
            <a:avLst/>
          </a:prstGeom>
          <a:solidFill>
            <a:srgbClr val="31136C"/>
          </a:solidFill>
          <a:ln/>
        </p:spPr>
      </p:sp>
      <p:sp>
        <p:nvSpPr>
          <p:cNvPr id="8" name="Shape 6"/>
          <p:cNvSpPr/>
          <p:nvPr/>
        </p:nvSpPr>
        <p:spPr>
          <a:xfrm>
            <a:off x="5143857" y="2416612"/>
            <a:ext cx="30480" cy="1669852"/>
          </a:xfrm>
          <a:prstGeom prst="roundRect">
            <a:avLst>
              <a:gd name="adj" fmla="val 312558"/>
            </a:avLst>
          </a:prstGeom>
          <a:solidFill>
            <a:srgbClr val="4A2C85"/>
          </a:solidFill>
          <a:ln/>
        </p:spPr>
      </p:sp>
      <p:sp>
        <p:nvSpPr>
          <p:cNvPr id="9" name="Text 7"/>
          <p:cNvSpPr/>
          <p:nvPr/>
        </p:nvSpPr>
        <p:spPr>
          <a:xfrm>
            <a:off x="5370671" y="2643426"/>
            <a:ext cx="3319462"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Application Framework</a:t>
            </a:r>
            <a:endParaRPr lang="en-US" sz="2200" dirty="0"/>
          </a:p>
        </p:txBody>
      </p:sp>
      <p:sp>
        <p:nvSpPr>
          <p:cNvPr id="10" name="Text 8"/>
          <p:cNvSpPr/>
          <p:nvPr/>
        </p:nvSpPr>
        <p:spPr>
          <a:xfrm>
            <a:off x="5370671" y="3133844"/>
            <a:ext cx="3888938" cy="725805"/>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Activity Manager, Window Manager, Content Providers, View System</a:t>
            </a:r>
            <a:endParaRPr lang="en-US" sz="1750" dirty="0"/>
          </a:p>
        </p:txBody>
      </p:sp>
      <p:sp>
        <p:nvSpPr>
          <p:cNvPr id="11" name="Shape 9"/>
          <p:cNvSpPr/>
          <p:nvPr/>
        </p:nvSpPr>
        <p:spPr>
          <a:xfrm>
            <a:off x="9486424" y="2416612"/>
            <a:ext cx="4342567" cy="1669852"/>
          </a:xfrm>
          <a:prstGeom prst="rect">
            <a:avLst/>
          </a:prstGeom>
          <a:solidFill>
            <a:srgbClr val="31136C"/>
          </a:solidFill>
          <a:ln/>
        </p:spPr>
      </p:sp>
      <p:sp>
        <p:nvSpPr>
          <p:cNvPr id="12" name="Shape 10"/>
          <p:cNvSpPr/>
          <p:nvPr/>
        </p:nvSpPr>
        <p:spPr>
          <a:xfrm>
            <a:off x="9486424" y="2416612"/>
            <a:ext cx="30480" cy="1669852"/>
          </a:xfrm>
          <a:prstGeom prst="roundRect">
            <a:avLst>
              <a:gd name="adj" fmla="val 312558"/>
            </a:avLst>
          </a:prstGeom>
          <a:solidFill>
            <a:srgbClr val="4A2C85"/>
          </a:solidFill>
          <a:ln/>
        </p:spPr>
      </p:sp>
      <p:sp>
        <p:nvSpPr>
          <p:cNvPr id="13" name="Text 11"/>
          <p:cNvSpPr/>
          <p:nvPr/>
        </p:nvSpPr>
        <p:spPr>
          <a:xfrm>
            <a:off x="9713238" y="2643426"/>
            <a:ext cx="3773091"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Native Libraries &amp; Runtime</a:t>
            </a:r>
            <a:endParaRPr lang="en-US" sz="2200" dirty="0"/>
          </a:p>
        </p:txBody>
      </p:sp>
      <p:sp>
        <p:nvSpPr>
          <p:cNvPr id="14" name="Text 12"/>
          <p:cNvSpPr/>
          <p:nvPr/>
        </p:nvSpPr>
        <p:spPr>
          <a:xfrm>
            <a:off x="9713238" y="3133844"/>
            <a:ext cx="3888938" cy="725805"/>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SQLite, OpenGL, WebKit, Media Framework, ART</a:t>
            </a:r>
            <a:endParaRPr lang="en-US" sz="1750" dirty="0"/>
          </a:p>
        </p:txBody>
      </p:sp>
      <p:sp>
        <p:nvSpPr>
          <p:cNvPr id="15" name="Shape 13"/>
          <p:cNvSpPr/>
          <p:nvPr/>
        </p:nvSpPr>
        <p:spPr>
          <a:xfrm>
            <a:off x="801410" y="4086463"/>
            <a:ext cx="6513790" cy="1306949"/>
          </a:xfrm>
          <a:prstGeom prst="rect">
            <a:avLst/>
          </a:prstGeom>
          <a:solidFill>
            <a:srgbClr val="31136C"/>
          </a:solidFill>
          <a:ln/>
        </p:spPr>
      </p:sp>
      <p:sp>
        <p:nvSpPr>
          <p:cNvPr id="16" name="Shape 14"/>
          <p:cNvSpPr/>
          <p:nvPr/>
        </p:nvSpPr>
        <p:spPr>
          <a:xfrm>
            <a:off x="801410" y="4086463"/>
            <a:ext cx="6513790" cy="30480"/>
          </a:xfrm>
          <a:prstGeom prst="roundRect">
            <a:avLst>
              <a:gd name="adj" fmla="val 312558"/>
            </a:avLst>
          </a:prstGeom>
          <a:solidFill>
            <a:srgbClr val="4A2C85"/>
          </a:solidFill>
          <a:ln/>
        </p:spPr>
      </p:sp>
      <p:sp>
        <p:nvSpPr>
          <p:cNvPr id="17" name="Text 15"/>
          <p:cNvSpPr/>
          <p:nvPr/>
        </p:nvSpPr>
        <p:spPr>
          <a:xfrm>
            <a:off x="1028224" y="4313277"/>
            <a:ext cx="3942278"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Hardware Abstraction Layer</a:t>
            </a:r>
            <a:endParaRPr lang="en-US" sz="2200" dirty="0"/>
          </a:p>
        </p:txBody>
      </p:sp>
      <p:sp>
        <p:nvSpPr>
          <p:cNvPr id="18" name="Text 16"/>
          <p:cNvSpPr/>
          <p:nvPr/>
        </p:nvSpPr>
        <p:spPr>
          <a:xfrm>
            <a:off x="1028224" y="4803696"/>
            <a:ext cx="6060162" cy="362903"/>
          </a:xfrm>
          <a:prstGeom prst="rect">
            <a:avLst/>
          </a:prstGeom>
          <a:noFill/>
          <a:ln/>
        </p:spPr>
        <p:txBody>
          <a:bodyPr wrap="non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Camera HAL, Audio HAL, Bluetooth HAL, Sensor HAL</a:t>
            </a:r>
            <a:endParaRPr lang="en-US" sz="1750" dirty="0"/>
          </a:p>
        </p:txBody>
      </p:sp>
      <p:sp>
        <p:nvSpPr>
          <p:cNvPr id="19" name="Shape 17"/>
          <p:cNvSpPr/>
          <p:nvPr/>
        </p:nvSpPr>
        <p:spPr>
          <a:xfrm>
            <a:off x="7315200" y="4086463"/>
            <a:ext cx="6513790" cy="1306949"/>
          </a:xfrm>
          <a:prstGeom prst="rect">
            <a:avLst/>
          </a:prstGeom>
          <a:solidFill>
            <a:srgbClr val="31136C"/>
          </a:solidFill>
          <a:ln/>
        </p:spPr>
      </p:sp>
      <p:sp>
        <p:nvSpPr>
          <p:cNvPr id="20" name="Shape 18"/>
          <p:cNvSpPr/>
          <p:nvPr/>
        </p:nvSpPr>
        <p:spPr>
          <a:xfrm>
            <a:off x="7315200" y="4086463"/>
            <a:ext cx="30480" cy="1306949"/>
          </a:xfrm>
          <a:prstGeom prst="roundRect">
            <a:avLst>
              <a:gd name="adj" fmla="val 312558"/>
            </a:avLst>
          </a:prstGeom>
          <a:solidFill>
            <a:srgbClr val="4A2C85"/>
          </a:solidFill>
          <a:ln/>
        </p:spPr>
      </p:sp>
      <p:sp>
        <p:nvSpPr>
          <p:cNvPr id="21" name="Shape 19"/>
          <p:cNvSpPr/>
          <p:nvPr/>
        </p:nvSpPr>
        <p:spPr>
          <a:xfrm>
            <a:off x="7315200" y="4086463"/>
            <a:ext cx="6513790" cy="30480"/>
          </a:xfrm>
          <a:prstGeom prst="roundRect">
            <a:avLst>
              <a:gd name="adj" fmla="val 312558"/>
            </a:avLst>
          </a:prstGeom>
          <a:solidFill>
            <a:srgbClr val="4A2C85"/>
          </a:solidFill>
          <a:ln/>
        </p:spPr>
      </p:sp>
      <p:sp>
        <p:nvSpPr>
          <p:cNvPr id="22" name="Text 20"/>
          <p:cNvSpPr/>
          <p:nvPr/>
        </p:nvSpPr>
        <p:spPr>
          <a:xfrm>
            <a:off x="7542014" y="43132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CD7E5"/>
                </a:solidFill>
                <a:latin typeface="Montserrat" pitchFamily="34" charset="0"/>
                <a:ea typeface="Montserrat" pitchFamily="34" charset="-122"/>
                <a:cs typeface="Montserrat" pitchFamily="34" charset="-120"/>
              </a:rPr>
              <a:t>Linux Kernel</a:t>
            </a:r>
            <a:endParaRPr lang="en-US" sz="2200" dirty="0"/>
          </a:p>
        </p:txBody>
      </p:sp>
      <p:sp>
        <p:nvSpPr>
          <p:cNvPr id="23" name="Text 21"/>
          <p:cNvSpPr/>
          <p:nvPr/>
        </p:nvSpPr>
        <p:spPr>
          <a:xfrm>
            <a:off x="7542014" y="4803696"/>
            <a:ext cx="6060162" cy="362903"/>
          </a:xfrm>
          <a:prstGeom prst="rect">
            <a:avLst/>
          </a:prstGeom>
          <a:noFill/>
          <a:ln/>
        </p:spPr>
        <p:txBody>
          <a:bodyPr wrap="none" lIns="0" tIns="0" rIns="0" bIns="0" rtlCol="0" anchor="t"/>
          <a:lstStyle/>
          <a:p>
            <a:pPr marL="0" indent="0" algn="l">
              <a:lnSpc>
                <a:spcPts val="2850"/>
              </a:lnSpc>
              <a:buNone/>
            </a:pPr>
            <a:r>
              <a:rPr lang="en-US" sz="1750" dirty="0">
                <a:solidFill>
                  <a:srgbClr val="DCD7E5"/>
                </a:solidFill>
                <a:latin typeface="Heebo Light" pitchFamily="34" charset="0"/>
                <a:ea typeface="Heebo Light" pitchFamily="34" charset="-122"/>
                <a:cs typeface="Heebo Light" pitchFamily="34" charset="-120"/>
              </a:rPr>
              <a:t>Drivers, Power Management, Memory Management, Security</a:t>
            </a:r>
            <a:endParaRPr lang="en-US" sz="1750" dirty="0"/>
          </a:p>
        </p:txBody>
      </p:sp>
      <p:sp>
        <p:nvSpPr>
          <p:cNvPr id="24" name="Shape 22"/>
          <p:cNvSpPr/>
          <p:nvPr/>
        </p:nvSpPr>
        <p:spPr>
          <a:xfrm>
            <a:off x="793790" y="5656183"/>
            <a:ext cx="13042821" cy="1326713"/>
          </a:xfrm>
          <a:prstGeom prst="roundRect">
            <a:avLst>
              <a:gd name="adj" fmla="val 7181"/>
            </a:avLst>
          </a:prstGeom>
          <a:solidFill>
            <a:srgbClr val="1E0C41"/>
          </a:solidFill>
          <a:ln/>
        </p:spPr>
      </p:sp>
      <p:pic>
        <p:nvPicPr>
          <p:cNvPr id="25" name="Image 0" descr="preencoded.png"/>
          <p:cNvPicPr>
            <a:picLocks noChangeAspect="1"/>
          </p:cNvPicPr>
          <p:nvPr/>
        </p:nvPicPr>
        <p:blipFill>
          <a:blip r:embed="rId3"/>
          <a:stretch>
            <a:fillRect/>
          </a:stretch>
        </p:blipFill>
        <p:spPr>
          <a:xfrm>
            <a:off x="1020604" y="5985034"/>
            <a:ext cx="283488" cy="226814"/>
          </a:xfrm>
          <a:prstGeom prst="rect">
            <a:avLst/>
          </a:prstGeom>
        </p:spPr>
      </p:pic>
      <p:sp>
        <p:nvSpPr>
          <p:cNvPr id="26" name="Text 23"/>
          <p:cNvSpPr/>
          <p:nvPr/>
        </p:nvSpPr>
        <p:spPr>
          <a:xfrm>
            <a:off x="1530906" y="5939671"/>
            <a:ext cx="12078891" cy="725805"/>
          </a:xfrm>
          <a:prstGeom prst="rect">
            <a:avLst/>
          </a:prstGeom>
          <a:noFill/>
          <a:ln/>
        </p:spPr>
        <p:txBody>
          <a:bodyPr wrap="square" lIns="0" tIns="0" rIns="0" bIns="0" rtlCol="0" anchor="t"/>
          <a:lstStyle/>
          <a:p>
            <a:pPr marL="0" indent="0" algn="l">
              <a:lnSpc>
                <a:spcPts val="2850"/>
              </a:lnSpc>
              <a:buNone/>
            </a:pPr>
            <a:r>
              <a:rPr lang="en-US" sz="1750" b="1" dirty="0">
                <a:solidFill>
                  <a:srgbClr val="FFFFFF"/>
                </a:solidFill>
                <a:latin typeface="Heebo Light" pitchFamily="34" charset="0"/>
                <a:ea typeface="Heebo Light" pitchFamily="34" charset="-122"/>
                <a:cs typeface="Heebo Light" pitchFamily="34" charset="-120"/>
              </a:rPr>
              <a:t>Key Insight:</a:t>
            </a:r>
            <a:r>
              <a:rPr lang="en-US" sz="1750" dirty="0">
                <a:solidFill>
                  <a:srgbClr val="FFFFFF"/>
                </a:solidFill>
                <a:latin typeface="Heebo Light" pitchFamily="34" charset="0"/>
                <a:ea typeface="Heebo Light" pitchFamily="34" charset="-122"/>
                <a:cs typeface="Heebo Light" pitchFamily="34" charset="-120"/>
              </a:rPr>
              <a:t> Each layer in Android's architecture provides abstraction and services to the layer above, creating a robust and flexible platform that supports billions of devices with varying hardware specifications.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9253" y="684609"/>
            <a:ext cx="6470690" cy="615315"/>
          </a:xfrm>
          <a:prstGeom prst="rect">
            <a:avLst/>
          </a:prstGeom>
          <a:noFill/>
          <a:ln/>
        </p:spPr>
        <p:txBody>
          <a:bodyPr wrap="none" lIns="0" tIns="0" rIns="0" bIns="0" rtlCol="0" anchor="t"/>
          <a:lstStyle/>
          <a:p>
            <a:pPr marL="0" indent="0" algn="l">
              <a:lnSpc>
                <a:spcPts val="4800"/>
              </a:lnSpc>
              <a:buNone/>
            </a:pPr>
            <a:r>
              <a:rPr lang="en-US" sz="3850" dirty="0">
                <a:solidFill>
                  <a:srgbClr val="F2F0F4"/>
                </a:solidFill>
                <a:latin typeface="Montserrat" pitchFamily="34" charset="0"/>
                <a:ea typeface="Montserrat" pitchFamily="34" charset="-122"/>
                <a:cs typeface="Montserrat" pitchFamily="34" charset="-120"/>
              </a:rPr>
              <a:t>iOS Architecture Overview</a:t>
            </a:r>
            <a:endParaRPr lang="en-US" sz="3850" dirty="0"/>
          </a:p>
        </p:txBody>
      </p:sp>
      <p:sp>
        <p:nvSpPr>
          <p:cNvPr id="3" name="Text 1"/>
          <p:cNvSpPr/>
          <p:nvPr/>
        </p:nvSpPr>
        <p:spPr>
          <a:xfrm>
            <a:off x="689253" y="1693783"/>
            <a:ext cx="13251894" cy="630079"/>
          </a:xfrm>
          <a:prstGeom prst="rect">
            <a:avLst/>
          </a:prstGeom>
          <a:noFill/>
          <a:ln/>
        </p:spPr>
        <p:txBody>
          <a:bodyPr wrap="square" lIns="0" tIns="0" rIns="0" bIns="0" rtlCol="0" anchor="t"/>
          <a:lstStyle/>
          <a:p>
            <a:pPr marL="0" indent="0" algn="l">
              <a:lnSpc>
                <a:spcPts val="2450"/>
              </a:lnSpc>
              <a:buNone/>
            </a:pPr>
            <a:r>
              <a:rPr lang="en-US" sz="1550" dirty="0">
                <a:solidFill>
                  <a:srgbClr val="DCD7E5"/>
                </a:solidFill>
                <a:latin typeface="Heebo Light" pitchFamily="34" charset="0"/>
                <a:ea typeface="Heebo Light" pitchFamily="34" charset="-122"/>
                <a:cs typeface="Heebo Light" pitchFamily="34" charset="-120"/>
              </a:rPr>
              <a:t>iOS employs a sophisticated layered architecture built on the Darwin kernel (based on Unix). Each layer provides increasingly abstract services, from low-level system operations to high-level user interface components, enabling developers to build powerful applications efficiently.</a:t>
            </a:r>
            <a:endParaRPr lang="en-US" sz="1550" dirty="0"/>
          </a:p>
        </p:txBody>
      </p:sp>
      <p:sp>
        <p:nvSpPr>
          <p:cNvPr id="4" name="Shape 2"/>
          <p:cNvSpPr/>
          <p:nvPr/>
        </p:nvSpPr>
        <p:spPr>
          <a:xfrm>
            <a:off x="689253" y="2545318"/>
            <a:ext cx="6527482" cy="2401372"/>
          </a:xfrm>
          <a:prstGeom prst="roundRect">
            <a:avLst>
              <a:gd name="adj" fmla="val 3445"/>
            </a:avLst>
          </a:prstGeom>
          <a:solidFill>
            <a:srgbClr val="0D0A2C">
              <a:alpha val="95000"/>
            </a:srgbClr>
          </a:solidFill>
          <a:ln w="22860">
            <a:solidFill>
              <a:srgbClr val="4A2C85"/>
            </a:solidFill>
            <a:prstDash val="solid"/>
          </a:ln>
        </p:spPr>
      </p:sp>
      <p:sp>
        <p:nvSpPr>
          <p:cNvPr id="5" name="Shape 3"/>
          <p:cNvSpPr/>
          <p:nvPr/>
        </p:nvSpPr>
        <p:spPr>
          <a:xfrm>
            <a:off x="712113" y="2568178"/>
            <a:ext cx="6481762" cy="590788"/>
          </a:xfrm>
          <a:prstGeom prst="roundRect">
            <a:avLst>
              <a:gd name="adj" fmla="val 9358"/>
            </a:avLst>
          </a:prstGeom>
          <a:solidFill>
            <a:srgbClr val="31136C"/>
          </a:solidFill>
          <a:ln/>
        </p:spPr>
      </p:sp>
      <p:sp>
        <p:nvSpPr>
          <p:cNvPr id="6" name="Text 4"/>
          <p:cNvSpPr/>
          <p:nvPr/>
        </p:nvSpPr>
        <p:spPr>
          <a:xfrm>
            <a:off x="3805237" y="2675096"/>
            <a:ext cx="295394" cy="369213"/>
          </a:xfrm>
          <a:prstGeom prst="rect">
            <a:avLst/>
          </a:prstGeom>
          <a:noFill/>
          <a:ln/>
        </p:spPr>
        <p:txBody>
          <a:bodyPr wrap="none" lIns="0" tIns="0" rIns="0" bIns="0" rtlCol="0" anchor="t"/>
          <a:lstStyle/>
          <a:p>
            <a:pPr marL="0" indent="0" algn="l">
              <a:lnSpc>
                <a:spcPts val="2300"/>
              </a:lnSpc>
              <a:buNone/>
            </a:pPr>
            <a:r>
              <a:rPr lang="en-US" sz="2300" dirty="0">
                <a:solidFill>
                  <a:srgbClr val="DCD7E5"/>
                </a:solidFill>
                <a:latin typeface="Montserrat" pitchFamily="34" charset="0"/>
                <a:ea typeface="Montserrat" pitchFamily="34" charset="-122"/>
                <a:cs typeface="Montserrat" pitchFamily="34" charset="-120"/>
              </a:rPr>
              <a:t>1</a:t>
            </a:r>
            <a:endParaRPr lang="en-US" sz="2300" dirty="0"/>
          </a:p>
        </p:txBody>
      </p:sp>
      <p:sp>
        <p:nvSpPr>
          <p:cNvPr id="7" name="Text 5"/>
          <p:cNvSpPr/>
          <p:nvPr/>
        </p:nvSpPr>
        <p:spPr>
          <a:xfrm>
            <a:off x="909042" y="3355896"/>
            <a:ext cx="2461736" cy="307777"/>
          </a:xfrm>
          <a:prstGeom prst="rect">
            <a:avLst/>
          </a:prstGeom>
          <a:noFill/>
          <a:ln/>
        </p:spPr>
        <p:txBody>
          <a:bodyPr wrap="none" lIns="0" tIns="0" rIns="0" bIns="0" rtlCol="0" anchor="t"/>
          <a:lstStyle/>
          <a:p>
            <a:pPr marL="0" indent="0" algn="l">
              <a:lnSpc>
                <a:spcPts val="2400"/>
              </a:lnSpc>
              <a:buNone/>
            </a:pPr>
            <a:r>
              <a:rPr lang="en-US" sz="1900" dirty="0">
                <a:solidFill>
                  <a:srgbClr val="DCD7E5"/>
                </a:solidFill>
                <a:latin typeface="Montserrat" pitchFamily="34" charset="0"/>
                <a:ea typeface="Montserrat" pitchFamily="34" charset="-122"/>
                <a:cs typeface="Montserrat" pitchFamily="34" charset="-120"/>
              </a:rPr>
              <a:t>Core OS Layer</a:t>
            </a:r>
            <a:endParaRPr lang="en-US" sz="1900" dirty="0"/>
          </a:p>
        </p:txBody>
      </p:sp>
      <p:sp>
        <p:nvSpPr>
          <p:cNvPr id="8" name="Text 6"/>
          <p:cNvSpPr/>
          <p:nvPr/>
        </p:nvSpPr>
        <p:spPr>
          <a:xfrm>
            <a:off x="909042" y="3781782"/>
            <a:ext cx="6087904" cy="945118"/>
          </a:xfrm>
          <a:prstGeom prst="rect">
            <a:avLst/>
          </a:prstGeom>
          <a:noFill/>
          <a:ln/>
        </p:spPr>
        <p:txBody>
          <a:bodyPr wrap="square" lIns="0" tIns="0" rIns="0" bIns="0" rtlCol="0" anchor="t"/>
          <a:lstStyle/>
          <a:p>
            <a:pPr marL="0" indent="0" algn="l">
              <a:lnSpc>
                <a:spcPts val="2450"/>
              </a:lnSpc>
              <a:buNone/>
            </a:pPr>
            <a:r>
              <a:rPr lang="en-US" sz="1550" dirty="0">
                <a:solidFill>
                  <a:srgbClr val="DCD7E5"/>
                </a:solidFill>
                <a:latin typeface="Heebo Light" pitchFamily="34" charset="0"/>
                <a:ea typeface="Heebo Light" pitchFamily="34" charset="-122"/>
                <a:cs typeface="Heebo Light" pitchFamily="34" charset="-120"/>
              </a:rPr>
              <a:t>The foundation layer containing low-level features: 64-bit support, Bluetooth connectivity, accelerometer access, security services, power management, and kernel-level operations.</a:t>
            </a:r>
            <a:endParaRPr lang="en-US" sz="1550" dirty="0"/>
          </a:p>
        </p:txBody>
      </p:sp>
      <p:sp>
        <p:nvSpPr>
          <p:cNvPr id="9" name="Shape 7"/>
          <p:cNvSpPr/>
          <p:nvPr/>
        </p:nvSpPr>
        <p:spPr>
          <a:xfrm>
            <a:off x="7413665" y="2545318"/>
            <a:ext cx="6527482" cy="2401372"/>
          </a:xfrm>
          <a:prstGeom prst="roundRect">
            <a:avLst>
              <a:gd name="adj" fmla="val 3445"/>
            </a:avLst>
          </a:prstGeom>
          <a:solidFill>
            <a:srgbClr val="0D0A2C">
              <a:alpha val="95000"/>
            </a:srgbClr>
          </a:solidFill>
          <a:ln w="22860">
            <a:solidFill>
              <a:srgbClr val="4A2C85"/>
            </a:solidFill>
            <a:prstDash val="solid"/>
          </a:ln>
        </p:spPr>
      </p:sp>
      <p:sp>
        <p:nvSpPr>
          <p:cNvPr id="10" name="Shape 8"/>
          <p:cNvSpPr/>
          <p:nvPr/>
        </p:nvSpPr>
        <p:spPr>
          <a:xfrm>
            <a:off x="7436525" y="2568178"/>
            <a:ext cx="6481762" cy="590788"/>
          </a:xfrm>
          <a:prstGeom prst="roundRect">
            <a:avLst>
              <a:gd name="adj" fmla="val 9358"/>
            </a:avLst>
          </a:prstGeom>
          <a:solidFill>
            <a:srgbClr val="31136C"/>
          </a:solidFill>
          <a:ln/>
        </p:spPr>
      </p:sp>
      <p:sp>
        <p:nvSpPr>
          <p:cNvPr id="11" name="Text 9"/>
          <p:cNvSpPr/>
          <p:nvPr/>
        </p:nvSpPr>
        <p:spPr>
          <a:xfrm>
            <a:off x="10529649" y="2675096"/>
            <a:ext cx="295394" cy="369213"/>
          </a:xfrm>
          <a:prstGeom prst="rect">
            <a:avLst/>
          </a:prstGeom>
          <a:noFill/>
          <a:ln/>
        </p:spPr>
        <p:txBody>
          <a:bodyPr wrap="none" lIns="0" tIns="0" rIns="0" bIns="0" rtlCol="0" anchor="t"/>
          <a:lstStyle/>
          <a:p>
            <a:pPr marL="0" indent="0" algn="l">
              <a:lnSpc>
                <a:spcPts val="2300"/>
              </a:lnSpc>
              <a:buNone/>
            </a:pPr>
            <a:r>
              <a:rPr lang="en-US" sz="2300" dirty="0">
                <a:solidFill>
                  <a:srgbClr val="DCD7E5"/>
                </a:solidFill>
                <a:latin typeface="Montserrat" pitchFamily="34" charset="0"/>
                <a:ea typeface="Montserrat" pitchFamily="34" charset="-122"/>
                <a:cs typeface="Montserrat" pitchFamily="34" charset="-120"/>
              </a:rPr>
              <a:t>2</a:t>
            </a:r>
            <a:endParaRPr lang="en-US" sz="2300" dirty="0"/>
          </a:p>
        </p:txBody>
      </p:sp>
      <p:sp>
        <p:nvSpPr>
          <p:cNvPr id="12" name="Text 10"/>
          <p:cNvSpPr/>
          <p:nvPr/>
        </p:nvSpPr>
        <p:spPr>
          <a:xfrm>
            <a:off x="7633454" y="3355896"/>
            <a:ext cx="2461736" cy="307777"/>
          </a:xfrm>
          <a:prstGeom prst="rect">
            <a:avLst/>
          </a:prstGeom>
          <a:noFill/>
          <a:ln/>
        </p:spPr>
        <p:txBody>
          <a:bodyPr wrap="none" lIns="0" tIns="0" rIns="0" bIns="0" rtlCol="0" anchor="t"/>
          <a:lstStyle/>
          <a:p>
            <a:pPr marL="0" indent="0" algn="l">
              <a:lnSpc>
                <a:spcPts val="2400"/>
              </a:lnSpc>
              <a:buNone/>
            </a:pPr>
            <a:r>
              <a:rPr lang="en-US" sz="1900" dirty="0">
                <a:solidFill>
                  <a:srgbClr val="DCD7E5"/>
                </a:solidFill>
                <a:latin typeface="Montserrat" pitchFamily="34" charset="0"/>
                <a:ea typeface="Montserrat" pitchFamily="34" charset="-122"/>
                <a:cs typeface="Montserrat" pitchFamily="34" charset="-120"/>
              </a:rPr>
              <a:t>Core Services Layer</a:t>
            </a:r>
            <a:endParaRPr lang="en-US" sz="1900" dirty="0"/>
          </a:p>
        </p:txBody>
      </p:sp>
      <p:sp>
        <p:nvSpPr>
          <p:cNvPr id="13" name="Text 11"/>
          <p:cNvSpPr/>
          <p:nvPr/>
        </p:nvSpPr>
        <p:spPr>
          <a:xfrm>
            <a:off x="7633454" y="3781782"/>
            <a:ext cx="6087904" cy="945118"/>
          </a:xfrm>
          <a:prstGeom prst="rect">
            <a:avLst/>
          </a:prstGeom>
          <a:noFill/>
          <a:ln/>
        </p:spPr>
        <p:txBody>
          <a:bodyPr wrap="square" lIns="0" tIns="0" rIns="0" bIns="0" rtlCol="0" anchor="t"/>
          <a:lstStyle/>
          <a:p>
            <a:pPr marL="0" indent="0" algn="l">
              <a:lnSpc>
                <a:spcPts val="2450"/>
              </a:lnSpc>
              <a:buNone/>
            </a:pPr>
            <a:r>
              <a:rPr lang="en-US" sz="1550" dirty="0">
                <a:solidFill>
                  <a:srgbClr val="DCD7E5"/>
                </a:solidFill>
                <a:latin typeface="Heebo Light" pitchFamily="34" charset="0"/>
                <a:ea typeface="Heebo Light" pitchFamily="34" charset="-122"/>
                <a:cs typeface="Heebo Light" pitchFamily="34" charset="-120"/>
              </a:rPr>
              <a:t>Provides essential system services including CloudKit for iCloud integration, Core Data for data persistence, Core Location for GPS, HealthKit, HomeKit, and networking frameworks.</a:t>
            </a:r>
            <a:endParaRPr lang="en-US" sz="1550" dirty="0"/>
          </a:p>
        </p:txBody>
      </p:sp>
      <p:sp>
        <p:nvSpPr>
          <p:cNvPr id="14" name="Shape 12"/>
          <p:cNvSpPr/>
          <p:nvPr/>
        </p:nvSpPr>
        <p:spPr>
          <a:xfrm>
            <a:off x="689253" y="5143619"/>
            <a:ext cx="6527482" cy="2401372"/>
          </a:xfrm>
          <a:prstGeom prst="roundRect">
            <a:avLst>
              <a:gd name="adj" fmla="val 3445"/>
            </a:avLst>
          </a:prstGeom>
          <a:solidFill>
            <a:srgbClr val="0D0A2C">
              <a:alpha val="95000"/>
            </a:srgbClr>
          </a:solidFill>
          <a:ln w="22860">
            <a:solidFill>
              <a:srgbClr val="4A2C85"/>
            </a:solidFill>
            <a:prstDash val="solid"/>
          </a:ln>
        </p:spPr>
      </p:sp>
      <p:sp>
        <p:nvSpPr>
          <p:cNvPr id="15" name="Shape 13"/>
          <p:cNvSpPr/>
          <p:nvPr/>
        </p:nvSpPr>
        <p:spPr>
          <a:xfrm>
            <a:off x="712113" y="5166479"/>
            <a:ext cx="6481762" cy="590788"/>
          </a:xfrm>
          <a:prstGeom prst="roundRect">
            <a:avLst>
              <a:gd name="adj" fmla="val 9358"/>
            </a:avLst>
          </a:prstGeom>
          <a:solidFill>
            <a:srgbClr val="31136C"/>
          </a:solidFill>
          <a:ln/>
        </p:spPr>
      </p:sp>
      <p:sp>
        <p:nvSpPr>
          <p:cNvPr id="16" name="Text 14"/>
          <p:cNvSpPr/>
          <p:nvPr/>
        </p:nvSpPr>
        <p:spPr>
          <a:xfrm>
            <a:off x="3805237" y="5273397"/>
            <a:ext cx="295394" cy="369213"/>
          </a:xfrm>
          <a:prstGeom prst="rect">
            <a:avLst/>
          </a:prstGeom>
          <a:noFill/>
          <a:ln/>
        </p:spPr>
        <p:txBody>
          <a:bodyPr wrap="none" lIns="0" tIns="0" rIns="0" bIns="0" rtlCol="0" anchor="t"/>
          <a:lstStyle/>
          <a:p>
            <a:pPr marL="0" indent="0" algn="l">
              <a:lnSpc>
                <a:spcPts val="2300"/>
              </a:lnSpc>
              <a:buNone/>
            </a:pPr>
            <a:r>
              <a:rPr lang="en-US" sz="2300" dirty="0">
                <a:solidFill>
                  <a:srgbClr val="DCD7E5"/>
                </a:solidFill>
                <a:latin typeface="Montserrat" pitchFamily="34" charset="0"/>
                <a:ea typeface="Montserrat" pitchFamily="34" charset="-122"/>
                <a:cs typeface="Montserrat" pitchFamily="34" charset="-120"/>
              </a:rPr>
              <a:t>3</a:t>
            </a:r>
            <a:endParaRPr lang="en-US" sz="2300" dirty="0"/>
          </a:p>
        </p:txBody>
      </p:sp>
      <p:sp>
        <p:nvSpPr>
          <p:cNvPr id="17" name="Text 15"/>
          <p:cNvSpPr/>
          <p:nvPr/>
        </p:nvSpPr>
        <p:spPr>
          <a:xfrm>
            <a:off x="909042" y="5954197"/>
            <a:ext cx="2461736" cy="307777"/>
          </a:xfrm>
          <a:prstGeom prst="rect">
            <a:avLst/>
          </a:prstGeom>
          <a:noFill/>
          <a:ln/>
        </p:spPr>
        <p:txBody>
          <a:bodyPr wrap="none" lIns="0" tIns="0" rIns="0" bIns="0" rtlCol="0" anchor="t"/>
          <a:lstStyle/>
          <a:p>
            <a:pPr marL="0" indent="0" algn="l">
              <a:lnSpc>
                <a:spcPts val="2400"/>
              </a:lnSpc>
              <a:buNone/>
            </a:pPr>
            <a:r>
              <a:rPr lang="en-US" sz="1900" dirty="0">
                <a:solidFill>
                  <a:srgbClr val="DCD7E5"/>
                </a:solidFill>
                <a:latin typeface="Montserrat" pitchFamily="34" charset="0"/>
                <a:ea typeface="Montserrat" pitchFamily="34" charset="-122"/>
                <a:cs typeface="Montserrat" pitchFamily="34" charset="-120"/>
              </a:rPr>
              <a:t>Media Layer</a:t>
            </a:r>
            <a:endParaRPr lang="en-US" sz="1900" dirty="0"/>
          </a:p>
        </p:txBody>
      </p:sp>
      <p:sp>
        <p:nvSpPr>
          <p:cNvPr id="18" name="Text 16"/>
          <p:cNvSpPr/>
          <p:nvPr/>
        </p:nvSpPr>
        <p:spPr>
          <a:xfrm>
            <a:off x="909042" y="6380083"/>
            <a:ext cx="6087904" cy="945118"/>
          </a:xfrm>
          <a:prstGeom prst="rect">
            <a:avLst/>
          </a:prstGeom>
          <a:noFill/>
          <a:ln/>
        </p:spPr>
        <p:txBody>
          <a:bodyPr wrap="square" lIns="0" tIns="0" rIns="0" bIns="0" rtlCol="0" anchor="t"/>
          <a:lstStyle/>
          <a:p>
            <a:pPr marL="0" indent="0" algn="l">
              <a:lnSpc>
                <a:spcPts val="2450"/>
              </a:lnSpc>
              <a:buNone/>
            </a:pPr>
            <a:r>
              <a:rPr lang="en-US" sz="1550" dirty="0">
                <a:solidFill>
                  <a:srgbClr val="DCD7E5"/>
                </a:solidFill>
                <a:latin typeface="Heebo Light" pitchFamily="34" charset="0"/>
                <a:ea typeface="Heebo Light" pitchFamily="34" charset="-122"/>
                <a:cs typeface="Heebo Light" pitchFamily="34" charset="-120"/>
              </a:rPr>
              <a:t>Handles graphics, audio, and video with powerful frameworks: Core Graphics, Core Animation, AVFoundation, Metal for GPU programming, and Core Image for image processing.</a:t>
            </a:r>
            <a:endParaRPr lang="en-US" sz="1550" dirty="0"/>
          </a:p>
        </p:txBody>
      </p:sp>
      <p:sp>
        <p:nvSpPr>
          <p:cNvPr id="19" name="Shape 17"/>
          <p:cNvSpPr/>
          <p:nvPr/>
        </p:nvSpPr>
        <p:spPr>
          <a:xfrm>
            <a:off x="7413665" y="5143619"/>
            <a:ext cx="6527482" cy="2401372"/>
          </a:xfrm>
          <a:prstGeom prst="roundRect">
            <a:avLst>
              <a:gd name="adj" fmla="val 3445"/>
            </a:avLst>
          </a:prstGeom>
          <a:solidFill>
            <a:srgbClr val="0D0A2C">
              <a:alpha val="95000"/>
            </a:srgbClr>
          </a:solidFill>
          <a:ln w="22860">
            <a:solidFill>
              <a:srgbClr val="4A2C85"/>
            </a:solidFill>
            <a:prstDash val="solid"/>
          </a:ln>
        </p:spPr>
      </p:sp>
      <p:sp>
        <p:nvSpPr>
          <p:cNvPr id="20" name="Shape 18"/>
          <p:cNvSpPr/>
          <p:nvPr/>
        </p:nvSpPr>
        <p:spPr>
          <a:xfrm>
            <a:off x="7436525" y="5166479"/>
            <a:ext cx="6481762" cy="590788"/>
          </a:xfrm>
          <a:prstGeom prst="roundRect">
            <a:avLst>
              <a:gd name="adj" fmla="val 9358"/>
            </a:avLst>
          </a:prstGeom>
          <a:solidFill>
            <a:srgbClr val="31136C"/>
          </a:solidFill>
          <a:ln/>
        </p:spPr>
      </p:sp>
      <p:sp>
        <p:nvSpPr>
          <p:cNvPr id="21" name="Text 19"/>
          <p:cNvSpPr/>
          <p:nvPr/>
        </p:nvSpPr>
        <p:spPr>
          <a:xfrm>
            <a:off x="10529649" y="5273397"/>
            <a:ext cx="295394" cy="369213"/>
          </a:xfrm>
          <a:prstGeom prst="rect">
            <a:avLst/>
          </a:prstGeom>
          <a:noFill/>
          <a:ln/>
        </p:spPr>
        <p:txBody>
          <a:bodyPr wrap="none" lIns="0" tIns="0" rIns="0" bIns="0" rtlCol="0" anchor="t"/>
          <a:lstStyle/>
          <a:p>
            <a:pPr marL="0" indent="0" algn="l">
              <a:lnSpc>
                <a:spcPts val="2300"/>
              </a:lnSpc>
              <a:buNone/>
            </a:pPr>
            <a:r>
              <a:rPr lang="en-US" sz="2300" dirty="0">
                <a:solidFill>
                  <a:srgbClr val="DCD7E5"/>
                </a:solidFill>
                <a:latin typeface="Montserrat" pitchFamily="34" charset="0"/>
                <a:ea typeface="Montserrat" pitchFamily="34" charset="-122"/>
                <a:cs typeface="Montserrat" pitchFamily="34" charset="-120"/>
              </a:rPr>
              <a:t>4</a:t>
            </a:r>
            <a:endParaRPr lang="en-US" sz="2300" dirty="0"/>
          </a:p>
        </p:txBody>
      </p:sp>
      <p:sp>
        <p:nvSpPr>
          <p:cNvPr id="22" name="Text 20"/>
          <p:cNvSpPr/>
          <p:nvPr/>
        </p:nvSpPr>
        <p:spPr>
          <a:xfrm>
            <a:off x="7633454" y="5954197"/>
            <a:ext cx="2461736" cy="307777"/>
          </a:xfrm>
          <a:prstGeom prst="rect">
            <a:avLst/>
          </a:prstGeom>
          <a:noFill/>
          <a:ln/>
        </p:spPr>
        <p:txBody>
          <a:bodyPr wrap="none" lIns="0" tIns="0" rIns="0" bIns="0" rtlCol="0" anchor="t"/>
          <a:lstStyle/>
          <a:p>
            <a:pPr marL="0" indent="0" algn="l">
              <a:lnSpc>
                <a:spcPts val="2400"/>
              </a:lnSpc>
              <a:buNone/>
            </a:pPr>
            <a:r>
              <a:rPr lang="en-US" sz="1900" dirty="0">
                <a:solidFill>
                  <a:srgbClr val="DCD7E5"/>
                </a:solidFill>
                <a:latin typeface="Montserrat" pitchFamily="34" charset="0"/>
                <a:ea typeface="Montserrat" pitchFamily="34" charset="-122"/>
                <a:cs typeface="Montserrat" pitchFamily="34" charset="-120"/>
              </a:rPr>
              <a:t>Cocoa Touch Layer</a:t>
            </a:r>
            <a:endParaRPr lang="en-US" sz="1900" dirty="0"/>
          </a:p>
        </p:txBody>
      </p:sp>
      <p:sp>
        <p:nvSpPr>
          <p:cNvPr id="23" name="Text 21"/>
          <p:cNvSpPr/>
          <p:nvPr/>
        </p:nvSpPr>
        <p:spPr>
          <a:xfrm>
            <a:off x="7633454" y="6380083"/>
            <a:ext cx="6087904" cy="945118"/>
          </a:xfrm>
          <a:prstGeom prst="rect">
            <a:avLst/>
          </a:prstGeom>
          <a:noFill/>
          <a:ln/>
        </p:spPr>
        <p:txBody>
          <a:bodyPr wrap="square" lIns="0" tIns="0" rIns="0" bIns="0" rtlCol="0" anchor="t"/>
          <a:lstStyle/>
          <a:p>
            <a:pPr marL="0" indent="0" algn="l">
              <a:lnSpc>
                <a:spcPts val="2450"/>
              </a:lnSpc>
              <a:buNone/>
            </a:pPr>
            <a:r>
              <a:rPr lang="en-US" sz="1550" dirty="0">
                <a:solidFill>
                  <a:srgbClr val="DCD7E5"/>
                </a:solidFill>
                <a:latin typeface="Heebo Light" pitchFamily="34" charset="0"/>
                <a:ea typeface="Heebo Light" pitchFamily="34" charset="-122"/>
                <a:cs typeface="Heebo Light" pitchFamily="34" charset="-120"/>
              </a:rPr>
              <a:t>The topmost layer providing the application environment with UIKit for user interfaces, touch and gesture recognition, multitasking, notifications, and MapKit for location-based services.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794" y="503396"/>
            <a:ext cx="5234940" cy="572095"/>
          </a:xfrm>
          <a:prstGeom prst="rect">
            <a:avLst/>
          </a:prstGeom>
          <a:noFill/>
          <a:ln/>
        </p:spPr>
        <p:txBody>
          <a:bodyPr wrap="none" lIns="0" tIns="0" rIns="0" bIns="0" rtlCol="0" anchor="t"/>
          <a:lstStyle/>
          <a:p>
            <a:pPr marL="0" indent="0" algn="l">
              <a:lnSpc>
                <a:spcPts val="4500"/>
              </a:lnSpc>
              <a:buNone/>
            </a:pPr>
            <a:r>
              <a:rPr lang="en-US" sz="3600" dirty="0">
                <a:solidFill>
                  <a:srgbClr val="F2F0F4"/>
                </a:solidFill>
                <a:latin typeface="Montserrat" pitchFamily="34" charset="0"/>
                <a:ea typeface="Montserrat" pitchFamily="34" charset="-122"/>
                <a:cs typeface="Montserrat" pitchFamily="34" charset="-120"/>
              </a:rPr>
              <a:t>iOS Architecture Visual</a:t>
            </a:r>
            <a:endParaRPr lang="en-US" sz="3600" dirty="0"/>
          </a:p>
        </p:txBody>
      </p:sp>
      <p:pic>
        <p:nvPicPr>
          <p:cNvPr id="3" name="Image 0" descr="preencoded.png"/>
          <p:cNvPicPr>
            <a:picLocks noChangeAspect="1"/>
          </p:cNvPicPr>
          <p:nvPr/>
        </p:nvPicPr>
        <p:blipFill>
          <a:blip r:embed="rId3"/>
          <a:stretch>
            <a:fillRect/>
          </a:stretch>
        </p:blipFill>
        <p:spPr>
          <a:xfrm>
            <a:off x="3151942" y="1441609"/>
            <a:ext cx="1651873" cy="1054656"/>
          </a:xfrm>
          <a:prstGeom prst="rect">
            <a:avLst/>
          </a:prstGeom>
        </p:spPr>
      </p:pic>
      <p:sp>
        <p:nvSpPr>
          <p:cNvPr id="4" name="Text 1"/>
          <p:cNvSpPr/>
          <p:nvPr/>
        </p:nvSpPr>
        <p:spPr>
          <a:xfrm>
            <a:off x="3849052" y="1938695"/>
            <a:ext cx="257413" cy="321826"/>
          </a:xfrm>
          <a:prstGeom prst="rect">
            <a:avLst/>
          </a:prstGeom>
          <a:noFill/>
          <a:ln/>
        </p:spPr>
        <p:txBody>
          <a:bodyPr wrap="none" lIns="0" tIns="0" rIns="0" bIns="0" rtlCol="0" anchor="t"/>
          <a:lstStyle/>
          <a:p>
            <a:pPr marL="0" indent="0" algn="ctr">
              <a:lnSpc>
                <a:spcPts val="3200"/>
              </a:lnSpc>
              <a:buNone/>
            </a:pPr>
            <a:r>
              <a:rPr lang="en-US" sz="2000" dirty="0">
                <a:solidFill>
                  <a:srgbClr val="DCD7E5"/>
                </a:solidFill>
                <a:latin typeface="Montserrat" pitchFamily="34" charset="0"/>
                <a:ea typeface="Montserrat" pitchFamily="34" charset="-122"/>
                <a:cs typeface="Montserrat" pitchFamily="34" charset="-120"/>
              </a:rPr>
              <a:t>1</a:t>
            </a:r>
            <a:endParaRPr lang="en-US" sz="2000" dirty="0"/>
          </a:p>
        </p:txBody>
      </p:sp>
      <p:sp>
        <p:nvSpPr>
          <p:cNvPr id="5" name="Text 2"/>
          <p:cNvSpPr/>
          <p:nvPr/>
        </p:nvSpPr>
        <p:spPr>
          <a:xfrm>
            <a:off x="4986814" y="1624608"/>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DCD7E5"/>
                </a:solidFill>
                <a:latin typeface="Montserrat" pitchFamily="34" charset="0"/>
                <a:ea typeface="Montserrat" pitchFamily="34" charset="-122"/>
                <a:cs typeface="Montserrat" pitchFamily="34" charset="-120"/>
              </a:rPr>
              <a:t>Cocoa Touch</a:t>
            </a:r>
            <a:endParaRPr lang="en-US" sz="1800" dirty="0"/>
          </a:p>
        </p:txBody>
      </p:sp>
      <p:sp>
        <p:nvSpPr>
          <p:cNvPr id="6" name="Text 3"/>
          <p:cNvSpPr/>
          <p:nvPr/>
        </p:nvSpPr>
        <p:spPr>
          <a:xfrm>
            <a:off x="4986814" y="2020372"/>
            <a:ext cx="2649379" cy="292894"/>
          </a:xfrm>
          <a:prstGeom prst="rect">
            <a:avLst/>
          </a:prstGeom>
          <a:noFill/>
          <a:ln/>
        </p:spPr>
        <p:txBody>
          <a:bodyPr wrap="none" lIns="0" tIns="0" rIns="0" bIns="0" rtlCol="0" anchor="t"/>
          <a:lstStyle/>
          <a:p>
            <a:pPr marL="0" indent="0" algn="l">
              <a:lnSpc>
                <a:spcPts val="2300"/>
              </a:lnSpc>
              <a:buNone/>
            </a:pPr>
            <a:r>
              <a:rPr lang="en-US" sz="1400" dirty="0">
                <a:solidFill>
                  <a:srgbClr val="DCD7E5"/>
                </a:solidFill>
                <a:latin typeface="Heebo Light" pitchFamily="34" charset="0"/>
                <a:ea typeface="Heebo Light" pitchFamily="34" charset="-122"/>
                <a:cs typeface="Heebo Light" pitchFamily="34" charset="-120"/>
              </a:rPr>
              <a:t>UIKit, Touch Events, Notifications</a:t>
            </a:r>
            <a:endParaRPr lang="en-US" sz="1400" dirty="0"/>
          </a:p>
        </p:txBody>
      </p:sp>
      <p:sp>
        <p:nvSpPr>
          <p:cNvPr id="7" name="Shape 4"/>
          <p:cNvSpPr/>
          <p:nvPr/>
        </p:nvSpPr>
        <p:spPr>
          <a:xfrm>
            <a:off x="4849535" y="2509599"/>
            <a:ext cx="9094351" cy="11430"/>
          </a:xfrm>
          <a:prstGeom prst="roundRect">
            <a:avLst>
              <a:gd name="adj" fmla="val 672771"/>
            </a:avLst>
          </a:prstGeom>
          <a:solidFill>
            <a:srgbClr val="4A2C85"/>
          </a:solidFill>
          <a:ln/>
        </p:spPr>
      </p:sp>
      <p:pic>
        <p:nvPicPr>
          <p:cNvPr id="8" name="Image 1" descr="preencoded.png"/>
          <p:cNvPicPr>
            <a:picLocks noChangeAspect="1"/>
          </p:cNvPicPr>
          <p:nvPr/>
        </p:nvPicPr>
        <p:blipFill>
          <a:blip r:embed="rId4"/>
          <a:stretch>
            <a:fillRect/>
          </a:stretch>
        </p:blipFill>
        <p:spPr>
          <a:xfrm>
            <a:off x="2326005" y="2541984"/>
            <a:ext cx="3303746" cy="1054656"/>
          </a:xfrm>
          <a:prstGeom prst="rect">
            <a:avLst/>
          </a:prstGeom>
        </p:spPr>
      </p:pic>
      <p:sp>
        <p:nvSpPr>
          <p:cNvPr id="9" name="Text 5"/>
          <p:cNvSpPr/>
          <p:nvPr/>
        </p:nvSpPr>
        <p:spPr>
          <a:xfrm>
            <a:off x="3849052" y="2908340"/>
            <a:ext cx="257413" cy="321826"/>
          </a:xfrm>
          <a:prstGeom prst="rect">
            <a:avLst/>
          </a:prstGeom>
          <a:noFill/>
          <a:ln/>
        </p:spPr>
        <p:txBody>
          <a:bodyPr wrap="none" lIns="0" tIns="0" rIns="0" bIns="0" rtlCol="0" anchor="t"/>
          <a:lstStyle/>
          <a:p>
            <a:pPr marL="0" indent="0" algn="ctr">
              <a:lnSpc>
                <a:spcPts val="3200"/>
              </a:lnSpc>
              <a:buNone/>
            </a:pPr>
            <a:r>
              <a:rPr lang="en-US" sz="2000" dirty="0">
                <a:solidFill>
                  <a:srgbClr val="DCD7E5"/>
                </a:solidFill>
                <a:latin typeface="Montserrat" pitchFamily="34" charset="0"/>
                <a:ea typeface="Montserrat" pitchFamily="34" charset="-122"/>
                <a:cs typeface="Montserrat" pitchFamily="34" charset="-120"/>
              </a:rPr>
              <a:t>2</a:t>
            </a:r>
            <a:endParaRPr lang="en-US" sz="2000" dirty="0"/>
          </a:p>
        </p:txBody>
      </p:sp>
      <p:sp>
        <p:nvSpPr>
          <p:cNvPr id="10" name="Text 6"/>
          <p:cNvSpPr/>
          <p:nvPr/>
        </p:nvSpPr>
        <p:spPr>
          <a:xfrm>
            <a:off x="5812750" y="2724983"/>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DCD7E5"/>
                </a:solidFill>
                <a:latin typeface="Montserrat" pitchFamily="34" charset="0"/>
                <a:ea typeface="Montserrat" pitchFamily="34" charset="-122"/>
                <a:cs typeface="Montserrat" pitchFamily="34" charset="-120"/>
              </a:rPr>
              <a:t>Media Layer</a:t>
            </a:r>
            <a:endParaRPr lang="en-US" sz="1800" dirty="0"/>
          </a:p>
        </p:txBody>
      </p:sp>
      <p:sp>
        <p:nvSpPr>
          <p:cNvPr id="11" name="Text 7"/>
          <p:cNvSpPr/>
          <p:nvPr/>
        </p:nvSpPr>
        <p:spPr>
          <a:xfrm>
            <a:off x="5812750" y="3120747"/>
            <a:ext cx="2886789" cy="292894"/>
          </a:xfrm>
          <a:prstGeom prst="rect">
            <a:avLst/>
          </a:prstGeom>
          <a:noFill/>
          <a:ln/>
        </p:spPr>
        <p:txBody>
          <a:bodyPr wrap="none" lIns="0" tIns="0" rIns="0" bIns="0" rtlCol="0" anchor="t"/>
          <a:lstStyle/>
          <a:p>
            <a:pPr marL="0" indent="0" algn="l">
              <a:lnSpc>
                <a:spcPts val="2300"/>
              </a:lnSpc>
              <a:buNone/>
            </a:pPr>
            <a:r>
              <a:rPr lang="en-US" sz="1400" dirty="0">
                <a:solidFill>
                  <a:srgbClr val="DCD7E5"/>
                </a:solidFill>
                <a:latin typeface="Heebo Light" pitchFamily="34" charset="0"/>
                <a:ea typeface="Heebo Light" pitchFamily="34" charset="-122"/>
                <a:cs typeface="Heebo Light" pitchFamily="34" charset="-120"/>
              </a:rPr>
              <a:t>Core Graphics, AVFoundation, Metal</a:t>
            </a:r>
            <a:endParaRPr lang="en-US" sz="1400" dirty="0"/>
          </a:p>
        </p:txBody>
      </p:sp>
      <p:sp>
        <p:nvSpPr>
          <p:cNvPr id="12" name="Shape 8"/>
          <p:cNvSpPr/>
          <p:nvPr/>
        </p:nvSpPr>
        <p:spPr>
          <a:xfrm>
            <a:off x="5675471" y="3609975"/>
            <a:ext cx="8268414" cy="11430"/>
          </a:xfrm>
          <a:prstGeom prst="roundRect">
            <a:avLst>
              <a:gd name="adj" fmla="val 672771"/>
            </a:avLst>
          </a:prstGeom>
          <a:solidFill>
            <a:srgbClr val="4A2C85"/>
          </a:solidFill>
          <a:ln/>
        </p:spPr>
      </p:sp>
      <p:pic>
        <p:nvPicPr>
          <p:cNvPr id="13" name="Image 2" descr="preencoded.png"/>
          <p:cNvPicPr>
            <a:picLocks noChangeAspect="1"/>
          </p:cNvPicPr>
          <p:nvPr/>
        </p:nvPicPr>
        <p:blipFill>
          <a:blip r:embed="rId5"/>
          <a:stretch>
            <a:fillRect/>
          </a:stretch>
        </p:blipFill>
        <p:spPr>
          <a:xfrm>
            <a:off x="1500068" y="3642360"/>
            <a:ext cx="4955738" cy="1054656"/>
          </a:xfrm>
          <a:prstGeom prst="rect">
            <a:avLst/>
          </a:prstGeom>
        </p:spPr>
      </p:pic>
      <p:sp>
        <p:nvSpPr>
          <p:cNvPr id="14" name="Text 9"/>
          <p:cNvSpPr/>
          <p:nvPr/>
        </p:nvSpPr>
        <p:spPr>
          <a:xfrm>
            <a:off x="3849172" y="4008715"/>
            <a:ext cx="257413" cy="321826"/>
          </a:xfrm>
          <a:prstGeom prst="rect">
            <a:avLst/>
          </a:prstGeom>
          <a:noFill/>
          <a:ln/>
        </p:spPr>
        <p:txBody>
          <a:bodyPr wrap="none" lIns="0" tIns="0" rIns="0" bIns="0" rtlCol="0" anchor="t"/>
          <a:lstStyle/>
          <a:p>
            <a:pPr marL="0" indent="0" algn="ctr">
              <a:lnSpc>
                <a:spcPts val="3200"/>
              </a:lnSpc>
              <a:buNone/>
            </a:pPr>
            <a:r>
              <a:rPr lang="en-US" sz="2000" dirty="0">
                <a:solidFill>
                  <a:srgbClr val="DCD7E5"/>
                </a:solidFill>
                <a:latin typeface="Montserrat" pitchFamily="34" charset="0"/>
                <a:ea typeface="Montserrat" pitchFamily="34" charset="-122"/>
                <a:cs typeface="Montserrat" pitchFamily="34" charset="-120"/>
              </a:rPr>
              <a:t>3</a:t>
            </a:r>
            <a:endParaRPr lang="en-US" sz="2000" dirty="0"/>
          </a:p>
        </p:txBody>
      </p:sp>
      <p:sp>
        <p:nvSpPr>
          <p:cNvPr id="15" name="Text 10"/>
          <p:cNvSpPr/>
          <p:nvPr/>
        </p:nvSpPr>
        <p:spPr>
          <a:xfrm>
            <a:off x="6638806" y="3825359"/>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DCD7E5"/>
                </a:solidFill>
                <a:latin typeface="Montserrat" pitchFamily="34" charset="0"/>
                <a:ea typeface="Montserrat" pitchFamily="34" charset="-122"/>
                <a:cs typeface="Montserrat" pitchFamily="34" charset="-120"/>
              </a:rPr>
              <a:t>Core Services</a:t>
            </a:r>
            <a:endParaRPr lang="en-US" sz="1800" dirty="0"/>
          </a:p>
        </p:txBody>
      </p:sp>
      <p:sp>
        <p:nvSpPr>
          <p:cNvPr id="16" name="Text 11"/>
          <p:cNvSpPr/>
          <p:nvPr/>
        </p:nvSpPr>
        <p:spPr>
          <a:xfrm>
            <a:off x="6638806" y="4221123"/>
            <a:ext cx="2767013" cy="292894"/>
          </a:xfrm>
          <a:prstGeom prst="rect">
            <a:avLst/>
          </a:prstGeom>
          <a:noFill/>
          <a:ln/>
        </p:spPr>
        <p:txBody>
          <a:bodyPr wrap="none" lIns="0" tIns="0" rIns="0" bIns="0" rtlCol="0" anchor="t"/>
          <a:lstStyle/>
          <a:p>
            <a:pPr marL="0" indent="0" algn="l">
              <a:lnSpc>
                <a:spcPts val="2300"/>
              </a:lnSpc>
              <a:buNone/>
            </a:pPr>
            <a:r>
              <a:rPr lang="en-US" sz="1400" dirty="0">
                <a:solidFill>
                  <a:srgbClr val="DCD7E5"/>
                </a:solidFill>
                <a:latin typeface="Heebo Light" pitchFamily="34" charset="0"/>
                <a:ea typeface="Heebo Light" pitchFamily="34" charset="-122"/>
                <a:cs typeface="Heebo Light" pitchFamily="34" charset="-120"/>
              </a:rPr>
              <a:t>Core Data, CloudKit, Core Location</a:t>
            </a:r>
            <a:endParaRPr lang="en-US" sz="1400" dirty="0"/>
          </a:p>
        </p:txBody>
      </p:sp>
      <p:sp>
        <p:nvSpPr>
          <p:cNvPr id="17" name="Shape 12"/>
          <p:cNvSpPr/>
          <p:nvPr/>
        </p:nvSpPr>
        <p:spPr>
          <a:xfrm>
            <a:off x="6501527" y="4710351"/>
            <a:ext cx="7442359" cy="11430"/>
          </a:xfrm>
          <a:prstGeom prst="roundRect">
            <a:avLst>
              <a:gd name="adj" fmla="val 672771"/>
            </a:avLst>
          </a:prstGeom>
          <a:solidFill>
            <a:srgbClr val="4A2C85"/>
          </a:solidFill>
          <a:ln/>
        </p:spPr>
      </p:sp>
      <p:pic>
        <p:nvPicPr>
          <p:cNvPr id="18" name="Image 3" descr="preencoded.png"/>
          <p:cNvPicPr>
            <a:picLocks noChangeAspect="1"/>
          </p:cNvPicPr>
          <p:nvPr/>
        </p:nvPicPr>
        <p:blipFill>
          <a:blip r:embed="rId6"/>
          <a:stretch>
            <a:fillRect/>
          </a:stretch>
        </p:blipFill>
        <p:spPr>
          <a:xfrm>
            <a:off x="674132" y="4742736"/>
            <a:ext cx="6607612" cy="1054656"/>
          </a:xfrm>
          <a:prstGeom prst="rect">
            <a:avLst/>
          </a:prstGeom>
        </p:spPr>
      </p:pic>
      <p:sp>
        <p:nvSpPr>
          <p:cNvPr id="19" name="Text 13"/>
          <p:cNvSpPr/>
          <p:nvPr/>
        </p:nvSpPr>
        <p:spPr>
          <a:xfrm>
            <a:off x="3849172" y="5109091"/>
            <a:ext cx="257413" cy="321826"/>
          </a:xfrm>
          <a:prstGeom prst="rect">
            <a:avLst/>
          </a:prstGeom>
          <a:noFill/>
          <a:ln/>
        </p:spPr>
        <p:txBody>
          <a:bodyPr wrap="none" lIns="0" tIns="0" rIns="0" bIns="0" rtlCol="0" anchor="t"/>
          <a:lstStyle/>
          <a:p>
            <a:pPr marL="0" indent="0" algn="ctr">
              <a:lnSpc>
                <a:spcPts val="3200"/>
              </a:lnSpc>
              <a:buNone/>
            </a:pPr>
            <a:r>
              <a:rPr lang="en-US" sz="2000" dirty="0">
                <a:solidFill>
                  <a:srgbClr val="DCD7E5"/>
                </a:solidFill>
                <a:latin typeface="Montserrat" pitchFamily="34" charset="0"/>
                <a:ea typeface="Montserrat" pitchFamily="34" charset="-122"/>
                <a:cs typeface="Montserrat" pitchFamily="34" charset="-120"/>
              </a:rPr>
              <a:t>4</a:t>
            </a:r>
            <a:endParaRPr lang="en-US" sz="2000" dirty="0"/>
          </a:p>
        </p:txBody>
      </p:sp>
      <p:sp>
        <p:nvSpPr>
          <p:cNvPr id="20" name="Text 14"/>
          <p:cNvSpPr/>
          <p:nvPr/>
        </p:nvSpPr>
        <p:spPr>
          <a:xfrm>
            <a:off x="7464743" y="4925735"/>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DCD7E5"/>
                </a:solidFill>
                <a:latin typeface="Montserrat" pitchFamily="34" charset="0"/>
                <a:ea typeface="Montserrat" pitchFamily="34" charset="-122"/>
                <a:cs typeface="Montserrat" pitchFamily="34" charset="-120"/>
              </a:rPr>
              <a:t>Core OS</a:t>
            </a:r>
            <a:endParaRPr lang="en-US" sz="1800" dirty="0"/>
          </a:p>
        </p:txBody>
      </p:sp>
      <p:sp>
        <p:nvSpPr>
          <p:cNvPr id="21" name="Text 15"/>
          <p:cNvSpPr/>
          <p:nvPr/>
        </p:nvSpPr>
        <p:spPr>
          <a:xfrm>
            <a:off x="7464743" y="5321498"/>
            <a:ext cx="2701171" cy="292894"/>
          </a:xfrm>
          <a:prstGeom prst="rect">
            <a:avLst/>
          </a:prstGeom>
          <a:noFill/>
          <a:ln/>
        </p:spPr>
        <p:txBody>
          <a:bodyPr wrap="none" lIns="0" tIns="0" rIns="0" bIns="0" rtlCol="0" anchor="t"/>
          <a:lstStyle/>
          <a:p>
            <a:pPr marL="0" indent="0" algn="l">
              <a:lnSpc>
                <a:spcPts val="2300"/>
              </a:lnSpc>
              <a:buNone/>
            </a:pPr>
            <a:r>
              <a:rPr lang="en-US" sz="1400" dirty="0">
                <a:solidFill>
                  <a:srgbClr val="DCD7E5"/>
                </a:solidFill>
                <a:latin typeface="Heebo Light" pitchFamily="34" charset="0"/>
                <a:ea typeface="Heebo Light" pitchFamily="34" charset="-122"/>
                <a:cs typeface="Heebo Light" pitchFamily="34" charset="-120"/>
              </a:rPr>
              <a:t>Darwin Kernel, Security, Bluetooth</a:t>
            </a:r>
            <a:endParaRPr lang="en-US" sz="1400" dirty="0"/>
          </a:p>
        </p:txBody>
      </p:sp>
      <p:sp>
        <p:nvSpPr>
          <p:cNvPr id="22" name="Text 16"/>
          <p:cNvSpPr/>
          <p:nvPr/>
        </p:nvSpPr>
        <p:spPr>
          <a:xfrm>
            <a:off x="640794" y="6186249"/>
            <a:ext cx="3049548" cy="285988"/>
          </a:xfrm>
          <a:prstGeom prst="rect">
            <a:avLst/>
          </a:prstGeom>
          <a:noFill/>
          <a:ln/>
        </p:spPr>
        <p:txBody>
          <a:bodyPr wrap="none" lIns="0" tIns="0" rIns="0" bIns="0" rtlCol="0" anchor="t"/>
          <a:lstStyle/>
          <a:p>
            <a:pPr marL="0" indent="0" algn="l">
              <a:lnSpc>
                <a:spcPts val="2250"/>
              </a:lnSpc>
              <a:buNone/>
            </a:pPr>
            <a:r>
              <a:rPr lang="en-US" sz="1800" dirty="0">
                <a:solidFill>
                  <a:srgbClr val="F2F0F4"/>
                </a:solidFill>
                <a:latin typeface="Montserrat" pitchFamily="34" charset="0"/>
                <a:ea typeface="Montserrat" pitchFamily="34" charset="-122"/>
                <a:cs typeface="Montserrat" pitchFamily="34" charset="-120"/>
              </a:rPr>
              <a:t>Framework Characteristics</a:t>
            </a:r>
            <a:endParaRPr lang="en-US" sz="1800" dirty="0"/>
          </a:p>
        </p:txBody>
      </p:sp>
      <p:sp>
        <p:nvSpPr>
          <p:cNvPr id="23" name="Text 17"/>
          <p:cNvSpPr/>
          <p:nvPr/>
        </p:nvSpPr>
        <p:spPr>
          <a:xfrm>
            <a:off x="640794" y="6655237"/>
            <a:ext cx="6451044" cy="292894"/>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DCD7E5"/>
                </a:solidFill>
                <a:latin typeface="Heebo Light" pitchFamily="34" charset="0"/>
                <a:ea typeface="Heebo Light" pitchFamily="34" charset="-122"/>
                <a:cs typeface="Heebo Light" pitchFamily="34" charset="-120"/>
              </a:rPr>
              <a:t>Highly optimized for Apple Silicon processors</a:t>
            </a:r>
            <a:endParaRPr lang="en-US" sz="1400" dirty="0"/>
          </a:p>
        </p:txBody>
      </p:sp>
      <p:sp>
        <p:nvSpPr>
          <p:cNvPr id="24" name="Text 18"/>
          <p:cNvSpPr/>
          <p:nvPr/>
        </p:nvSpPr>
        <p:spPr>
          <a:xfrm>
            <a:off x="640794" y="7012186"/>
            <a:ext cx="6451044" cy="292894"/>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DCD7E5"/>
                </a:solidFill>
                <a:latin typeface="Heebo Light" pitchFamily="34" charset="0"/>
                <a:ea typeface="Heebo Light" pitchFamily="34" charset="-122"/>
                <a:cs typeface="Heebo Light" pitchFamily="34" charset="-120"/>
              </a:rPr>
              <a:t>Seamless integration across Apple ecosystem</a:t>
            </a:r>
            <a:endParaRPr lang="en-US" sz="1400" dirty="0"/>
          </a:p>
        </p:txBody>
      </p:sp>
      <p:sp>
        <p:nvSpPr>
          <p:cNvPr id="25" name="Text 19"/>
          <p:cNvSpPr/>
          <p:nvPr/>
        </p:nvSpPr>
        <p:spPr>
          <a:xfrm>
            <a:off x="640794" y="7369135"/>
            <a:ext cx="6451044" cy="292894"/>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DCD7E5"/>
                </a:solidFill>
                <a:latin typeface="Heebo Light" pitchFamily="34" charset="0"/>
                <a:ea typeface="Heebo Light" pitchFamily="34" charset="-122"/>
                <a:cs typeface="Heebo Light" pitchFamily="34" charset="-120"/>
              </a:rPr>
              <a:t>Strong emphasis on privacy and security</a:t>
            </a:r>
            <a:endParaRPr lang="en-US" sz="1400" dirty="0"/>
          </a:p>
        </p:txBody>
      </p:sp>
      <p:sp>
        <p:nvSpPr>
          <p:cNvPr id="26" name="Text 20"/>
          <p:cNvSpPr/>
          <p:nvPr/>
        </p:nvSpPr>
        <p:spPr>
          <a:xfrm>
            <a:off x="7546181" y="6186249"/>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F2F0F4"/>
                </a:solidFill>
                <a:latin typeface="Montserrat" pitchFamily="34" charset="0"/>
                <a:ea typeface="Montserrat" pitchFamily="34" charset="-122"/>
                <a:cs typeface="Montserrat" pitchFamily="34" charset="-120"/>
              </a:rPr>
              <a:t>Developer Benefits</a:t>
            </a:r>
            <a:endParaRPr lang="en-US" sz="1800" dirty="0"/>
          </a:p>
        </p:txBody>
      </p:sp>
      <p:sp>
        <p:nvSpPr>
          <p:cNvPr id="27" name="Text 21"/>
          <p:cNvSpPr/>
          <p:nvPr/>
        </p:nvSpPr>
        <p:spPr>
          <a:xfrm>
            <a:off x="7546181" y="6655237"/>
            <a:ext cx="6451044" cy="292894"/>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DCD7E5"/>
                </a:solidFill>
                <a:latin typeface="Heebo Light" pitchFamily="34" charset="0"/>
                <a:ea typeface="Heebo Light" pitchFamily="34" charset="-122"/>
                <a:cs typeface="Heebo Light" pitchFamily="34" charset="-120"/>
              </a:rPr>
              <a:t>Consistent APIs across iOS, iPadOS, and macOS</a:t>
            </a:r>
            <a:endParaRPr lang="en-US" sz="1400" dirty="0"/>
          </a:p>
        </p:txBody>
      </p:sp>
      <p:sp>
        <p:nvSpPr>
          <p:cNvPr id="28" name="Text 22"/>
          <p:cNvSpPr/>
          <p:nvPr/>
        </p:nvSpPr>
        <p:spPr>
          <a:xfrm>
            <a:off x="7546181" y="7012186"/>
            <a:ext cx="6451044" cy="292894"/>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DCD7E5"/>
                </a:solidFill>
                <a:latin typeface="Heebo Light" pitchFamily="34" charset="0"/>
                <a:ea typeface="Heebo Light" pitchFamily="34" charset="-122"/>
                <a:cs typeface="Heebo Light" pitchFamily="34" charset="-120"/>
              </a:rPr>
              <a:t>Powerful declarative UI with SwiftUI</a:t>
            </a:r>
            <a:endParaRPr lang="en-US" sz="1400" dirty="0"/>
          </a:p>
        </p:txBody>
      </p:sp>
      <p:sp>
        <p:nvSpPr>
          <p:cNvPr id="29" name="Text 23"/>
          <p:cNvSpPr/>
          <p:nvPr/>
        </p:nvSpPr>
        <p:spPr>
          <a:xfrm>
            <a:off x="7546181" y="7369135"/>
            <a:ext cx="6451044" cy="292894"/>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DCD7E5"/>
                </a:solidFill>
                <a:latin typeface="Heebo Light" pitchFamily="34" charset="0"/>
                <a:ea typeface="Heebo Light" pitchFamily="34" charset="-122"/>
                <a:cs typeface="Heebo Light" pitchFamily="34" charset="-120"/>
              </a:rPr>
              <a:t>Comprehensive documentation and tooling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666" y="596146"/>
            <a:ext cx="10404753" cy="677466"/>
          </a:xfrm>
          <a:prstGeom prst="rect">
            <a:avLst/>
          </a:prstGeom>
          <a:noFill/>
          <a:ln/>
        </p:spPr>
        <p:txBody>
          <a:bodyPr wrap="none" lIns="0" tIns="0" rIns="0" bIns="0" rtlCol="0" anchor="t"/>
          <a:lstStyle/>
          <a:p>
            <a:pPr marL="0" indent="0" algn="l">
              <a:lnSpc>
                <a:spcPts val="5300"/>
              </a:lnSpc>
              <a:buNone/>
            </a:pPr>
            <a:r>
              <a:rPr lang="en-US" sz="4250" dirty="0">
                <a:solidFill>
                  <a:srgbClr val="F2F0F4"/>
                </a:solidFill>
                <a:latin typeface="Montserrat" pitchFamily="34" charset="0"/>
                <a:ea typeface="Montserrat" pitchFamily="34" charset="-122"/>
                <a:cs typeface="Montserrat" pitchFamily="34" charset="-120"/>
              </a:rPr>
              <a:t>Android vs iOS Architecture: Summary</a:t>
            </a:r>
            <a:endParaRPr lang="en-US" sz="4250" dirty="0"/>
          </a:p>
        </p:txBody>
      </p:sp>
      <p:sp>
        <p:nvSpPr>
          <p:cNvPr id="3" name="Text 1"/>
          <p:cNvSpPr/>
          <p:nvPr/>
        </p:nvSpPr>
        <p:spPr>
          <a:xfrm>
            <a:off x="758666" y="1923812"/>
            <a:ext cx="2849880" cy="338733"/>
          </a:xfrm>
          <a:prstGeom prst="rect">
            <a:avLst/>
          </a:prstGeom>
          <a:noFill/>
          <a:ln/>
        </p:spPr>
        <p:txBody>
          <a:bodyPr wrap="none" lIns="0" tIns="0" rIns="0" bIns="0" rtlCol="0" anchor="t"/>
          <a:lstStyle/>
          <a:p>
            <a:pPr marL="0" indent="0" algn="l">
              <a:lnSpc>
                <a:spcPts val="2650"/>
              </a:lnSpc>
              <a:buNone/>
            </a:pPr>
            <a:r>
              <a:rPr lang="en-US" sz="2100" dirty="0">
                <a:solidFill>
                  <a:srgbClr val="DCD7E5"/>
                </a:solidFill>
                <a:latin typeface="Montserrat" pitchFamily="34" charset="0"/>
                <a:ea typeface="Montserrat" pitchFamily="34" charset="-122"/>
                <a:cs typeface="Montserrat" pitchFamily="34" charset="-120"/>
              </a:rPr>
              <a:t>Android Architecture</a:t>
            </a:r>
            <a:endParaRPr lang="en-US" sz="2100" dirty="0"/>
          </a:p>
        </p:txBody>
      </p:sp>
      <p:sp>
        <p:nvSpPr>
          <p:cNvPr id="4" name="Text 2"/>
          <p:cNvSpPr/>
          <p:nvPr/>
        </p:nvSpPr>
        <p:spPr>
          <a:xfrm>
            <a:off x="758666" y="2392561"/>
            <a:ext cx="6421041" cy="1040487"/>
          </a:xfrm>
          <a:prstGeom prst="rect">
            <a:avLst/>
          </a:prstGeom>
          <a:noFill/>
          <a:ln/>
        </p:spPr>
        <p:txBody>
          <a:bodyPr wrap="square" lIns="0" tIns="0" rIns="0" bIns="0" rtlCol="0" anchor="t"/>
          <a:lstStyle/>
          <a:p>
            <a:pPr marL="0" indent="0" algn="l">
              <a:lnSpc>
                <a:spcPts val="2700"/>
              </a:lnSpc>
              <a:buNone/>
            </a:pPr>
            <a:r>
              <a:rPr lang="en-US" sz="1700" dirty="0">
                <a:solidFill>
                  <a:srgbClr val="DCD7E5"/>
                </a:solidFill>
                <a:latin typeface="Heebo Light" pitchFamily="34" charset="0"/>
                <a:ea typeface="Heebo Light" pitchFamily="34" charset="-122"/>
                <a:cs typeface="Heebo Light" pitchFamily="34" charset="-120"/>
              </a:rPr>
              <a:t>Built on </a:t>
            </a:r>
            <a:r>
              <a:rPr lang="en-US" sz="1700" b="1" dirty="0">
                <a:solidFill>
                  <a:srgbClr val="DCD7E5"/>
                </a:solidFill>
                <a:latin typeface="Heebo Light" pitchFamily="34" charset="0"/>
                <a:ea typeface="Heebo Light" pitchFamily="34" charset="-122"/>
                <a:cs typeface="Heebo Light" pitchFamily="34" charset="-120"/>
              </a:rPr>
              <a:t>Linux Kernel</a:t>
            </a:r>
            <a:r>
              <a:rPr lang="en-US" sz="1700" dirty="0">
                <a:solidFill>
                  <a:srgbClr val="DCD7E5"/>
                </a:solidFill>
                <a:latin typeface="Heebo Light" pitchFamily="34" charset="0"/>
                <a:ea typeface="Heebo Light" pitchFamily="34" charset="-122"/>
                <a:cs typeface="Heebo Light" pitchFamily="34" charset="-120"/>
              </a:rPr>
              <a:t> with ART virtual machine for app execution. Offers extensive hardware diversity and customization options across thousands of device models.</a:t>
            </a:r>
            <a:endParaRPr lang="en-US" sz="1700" dirty="0"/>
          </a:p>
        </p:txBody>
      </p:sp>
      <p:sp>
        <p:nvSpPr>
          <p:cNvPr id="5" name="Text 3"/>
          <p:cNvSpPr/>
          <p:nvPr/>
        </p:nvSpPr>
        <p:spPr>
          <a:xfrm>
            <a:off x="7450693" y="1923812"/>
            <a:ext cx="2709863" cy="338733"/>
          </a:xfrm>
          <a:prstGeom prst="rect">
            <a:avLst/>
          </a:prstGeom>
          <a:noFill/>
          <a:ln/>
        </p:spPr>
        <p:txBody>
          <a:bodyPr wrap="none" lIns="0" tIns="0" rIns="0" bIns="0" rtlCol="0" anchor="t"/>
          <a:lstStyle/>
          <a:p>
            <a:pPr marL="0" indent="0" algn="l">
              <a:lnSpc>
                <a:spcPts val="2650"/>
              </a:lnSpc>
              <a:buNone/>
            </a:pPr>
            <a:r>
              <a:rPr lang="en-US" sz="2100" dirty="0">
                <a:solidFill>
                  <a:srgbClr val="DCD7E5"/>
                </a:solidFill>
                <a:latin typeface="Montserrat" pitchFamily="34" charset="0"/>
                <a:ea typeface="Montserrat" pitchFamily="34" charset="-122"/>
                <a:cs typeface="Montserrat" pitchFamily="34" charset="-120"/>
              </a:rPr>
              <a:t>iOS Architecture</a:t>
            </a:r>
            <a:endParaRPr lang="en-US" sz="2100" dirty="0"/>
          </a:p>
        </p:txBody>
      </p:sp>
      <p:sp>
        <p:nvSpPr>
          <p:cNvPr id="6" name="Text 4"/>
          <p:cNvSpPr/>
          <p:nvPr/>
        </p:nvSpPr>
        <p:spPr>
          <a:xfrm>
            <a:off x="7450693" y="2392561"/>
            <a:ext cx="6421041" cy="1040487"/>
          </a:xfrm>
          <a:prstGeom prst="rect">
            <a:avLst/>
          </a:prstGeom>
          <a:noFill/>
          <a:ln/>
        </p:spPr>
        <p:txBody>
          <a:bodyPr wrap="square" lIns="0" tIns="0" rIns="0" bIns="0" rtlCol="0" anchor="t"/>
          <a:lstStyle/>
          <a:p>
            <a:pPr marL="0" indent="0" algn="l">
              <a:lnSpc>
                <a:spcPts val="2700"/>
              </a:lnSpc>
              <a:buNone/>
            </a:pPr>
            <a:r>
              <a:rPr lang="en-US" sz="1700" dirty="0">
                <a:solidFill>
                  <a:srgbClr val="DCD7E5"/>
                </a:solidFill>
                <a:latin typeface="Heebo Light" pitchFamily="34" charset="0"/>
                <a:ea typeface="Heebo Light" pitchFamily="34" charset="-122"/>
                <a:cs typeface="Heebo Light" pitchFamily="34" charset="-120"/>
              </a:rPr>
              <a:t>Built on </a:t>
            </a:r>
            <a:r>
              <a:rPr lang="en-US" sz="1700" b="1" dirty="0">
                <a:solidFill>
                  <a:srgbClr val="DCD7E5"/>
                </a:solidFill>
                <a:latin typeface="Heebo Light" pitchFamily="34" charset="0"/>
                <a:ea typeface="Heebo Light" pitchFamily="34" charset="-122"/>
                <a:cs typeface="Heebo Light" pitchFamily="34" charset="-120"/>
              </a:rPr>
              <a:t>Darwin kernel</a:t>
            </a:r>
            <a:r>
              <a:rPr lang="en-US" sz="1700" dirty="0">
                <a:solidFill>
                  <a:srgbClr val="DCD7E5"/>
                </a:solidFill>
                <a:latin typeface="Heebo Light" pitchFamily="34" charset="0"/>
                <a:ea typeface="Heebo Light" pitchFamily="34" charset="-122"/>
                <a:cs typeface="Heebo Light" pitchFamily="34" charset="-120"/>
              </a:rPr>
              <a:t> with layered frameworks and no virtual machine. Provides tighter hardware-software integration and optimized performance on Apple devices.</a:t>
            </a:r>
            <a:endParaRPr lang="en-US" sz="1700" dirty="0"/>
          </a:p>
        </p:txBody>
      </p:sp>
      <p:sp>
        <p:nvSpPr>
          <p:cNvPr id="7" name="Shape 5"/>
          <p:cNvSpPr/>
          <p:nvPr/>
        </p:nvSpPr>
        <p:spPr>
          <a:xfrm>
            <a:off x="758666" y="3785259"/>
            <a:ext cx="13113068" cy="34647"/>
          </a:xfrm>
          <a:prstGeom prst="rect">
            <a:avLst/>
          </a:prstGeom>
          <a:solidFill>
            <a:srgbClr val="DCD7E5">
              <a:alpha val="50000"/>
            </a:srgbClr>
          </a:solidFill>
          <a:ln/>
        </p:spPr>
      </p:sp>
      <p:sp>
        <p:nvSpPr>
          <p:cNvPr id="8" name="Text 6"/>
          <p:cNvSpPr/>
          <p:nvPr/>
        </p:nvSpPr>
        <p:spPr>
          <a:xfrm>
            <a:off x="758666" y="4280416"/>
            <a:ext cx="4709279" cy="406360"/>
          </a:xfrm>
          <a:prstGeom prst="rect">
            <a:avLst/>
          </a:prstGeom>
          <a:noFill/>
          <a:ln/>
        </p:spPr>
        <p:txBody>
          <a:bodyPr wrap="none" lIns="0" tIns="0" rIns="0" bIns="0" rtlCol="0" anchor="t"/>
          <a:lstStyle/>
          <a:p>
            <a:pPr marL="0" indent="0" algn="l">
              <a:lnSpc>
                <a:spcPts val="3200"/>
              </a:lnSpc>
              <a:buNone/>
            </a:pPr>
            <a:r>
              <a:rPr lang="en-US" sz="2550" dirty="0">
                <a:solidFill>
                  <a:srgbClr val="481C9E"/>
                </a:solidFill>
                <a:latin typeface="Montserrat" pitchFamily="34" charset="0"/>
                <a:ea typeface="Montserrat" pitchFamily="34" charset="-122"/>
                <a:cs typeface="Montserrat" pitchFamily="34" charset="-120"/>
              </a:rPr>
              <a:t>Key Architectural Differences</a:t>
            </a:r>
            <a:endParaRPr lang="en-US" sz="2550" dirty="0"/>
          </a:p>
        </p:txBody>
      </p:sp>
      <p:sp>
        <p:nvSpPr>
          <p:cNvPr id="9" name="Text 7"/>
          <p:cNvSpPr/>
          <p:nvPr/>
        </p:nvSpPr>
        <p:spPr>
          <a:xfrm>
            <a:off x="758666" y="4903470"/>
            <a:ext cx="6292096" cy="693658"/>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DCD7E5"/>
                </a:solidFill>
                <a:latin typeface="Heebo Light" pitchFamily="34" charset="0"/>
                <a:ea typeface="Heebo Light" pitchFamily="34" charset="-122"/>
                <a:cs typeface="Heebo Light" pitchFamily="34" charset="-120"/>
              </a:rPr>
              <a:t>Runtime:</a:t>
            </a:r>
            <a:r>
              <a:rPr lang="en-US" sz="1700" dirty="0">
                <a:solidFill>
                  <a:srgbClr val="DCD7E5"/>
                </a:solidFill>
                <a:latin typeface="Heebo Light" pitchFamily="34" charset="0"/>
                <a:ea typeface="Heebo Light" pitchFamily="34" charset="-122"/>
                <a:cs typeface="Heebo Light" pitchFamily="34" charset="-120"/>
              </a:rPr>
              <a:t> Android uses ART VM; iOS compiles directly to machine code</a:t>
            </a:r>
            <a:endParaRPr lang="en-US" sz="1700" dirty="0"/>
          </a:p>
        </p:txBody>
      </p:sp>
      <p:sp>
        <p:nvSpPr>
          <p:cNvPr id="10" name="Text 8"/>
          <p:cNvSpPr/>
          <p:nvPr/>
        </p:nvSpPr>
        <p:spPr>
          <a:xfrm>
            <a:off x="758666" y="5672971"/>
            <a:ext cx="6292096" cy="346829"/>
          </a:xfrm>
          <a:prstGeom prst="rect">
            <a:avLst/>
          </a:prstGeom>
          <a:noFill/>
          <a:ln/>
        </p:spPr>
        <p:txBody>
          <a:bodyPr wrap="none" lIns="0" tIns="0" rIns="0" bIns="0" rtlCol="0" anchor="t"/>
          <a:lstStyle/>
          <a:p>
            <a:pPr marL="342900" indent="-342900" algn="l">
              <a:lnSpc>
                <a:spcPts val="2700"/>
              </a:lnSpc>
              <a:buSzPct val="100000"/>
              <a:buChar char="•"/>
            </a:pPr>
            <a:r>
              <a:rPr lang="en-US" sz="1700" b="1" dirty="0">
                <a:solidFill>
                  <a:srgbClr val="DCD7E5"/>
                </a:solidFill>
                <a:latin typeface="Heebo Light" pitchFamily="34" charset="0"/>
                <a:ea typeface="Heebo Light" pitchFamily="34" charset="-122"/>
                <a:cs typeface="Heebo Light" pitchFamily="34" charset="-120"/>
              </a:rPr>
              <a:t>Kernel:</a:t>
            </a:r>
            <a:r>
              <a:rPr lang="en-US" sz="1700" dirty="0">
                <a:solidFill>
                  <a:srgbClr val="DCD7E5"/>
                </a:solidFill>
                <a:latin typeface="Heebo Light" pitchFamily="34" charset="0"/>
                <a:ea typeface="Heebo Light" pitchFamily="34" charset="-122"/>
                <a:cs typeface="Heebo Light" pitchFamily="34" charset="-120"/>
              </a:rPr>
              <a:t> Android uses Linux; iOS uses Darwin (Unix-based)</a:t>
            </a:r>
            <a:endParaRPr lang="en-US" sz="1700" dirty="0"/>
          </a:p>
        </p:txBody>
      </p:sp>
      <p:sp>
        <p:nvSpPr>
          <p:cNvPr id="11" name="Text 9"/>
          <p:cNvSpPr/>
          <p:nvPr/>
        </p:nvSpPr>
        <p:spPr>
          <a:xfrm>
            <a:off x="758666" y="6095643"/>
            <a:ext cx="6292096" cy="693658"/>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DCD7E5"/>
                </a:solidFill>
                <a:latin typeface="Heebo Light" pitchFamily="34" charset="0"/>
                <a:ea typeface="Heebo Light" pitchFamily="34" charset="-122"/>
                <a:cs typeface="Heebo Light" pitchFamily="34" charset="-120"/>
              </a:rPr>
              <a:t>API Design:</a:t>
            </a:r>
            <a:r>
              <a:rPr lang="en-US" sz="1700" dirty="0">
                <a:solidFill>
                  <a:srgbClr val="DCD7E5"/>
                </a:solidFill>
                <a:latin typeface="Heebo Light" pitchFamily="34" charset="0"/>
                <a:ea typeface="Heebo Light" pitchFamily="34" charset="-122"/>
                <a:cs typeface="Heebo Light" pitchFamily="34" charset="-120"/>
              </a:rPr>
              <a:t> Android favors flexibility; iOS emphasizes consistency</a:t>
            </a:r>
            <a:endParaRPr lang="en-US" sz="1700" dirty="0"/>
          </a:p>
        </p:txBody>
      </p:sp>
      <p:sp>
        <p:nvSpPr>
          <p:cNvPr id="12" name="Text 10"/>
          <p:cNvSpPr/>
          <p:nvPr/>
        </p:nvSpPr>
        <p:spPr>
          <a:xfrm>
            <a:off x="758666" y="6865144"/>
            <a:ext cx="6292096" cy="693658"/>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DCD7E5"/>
                </a:solidFill>
                <a:latin typeface="Heebo Light" pitchFamily="34" charset="0"/>
                <a:ea typeface="Heebo Light" pitchFamily="34" charset="-122"/>
                <a:cs typeface="Heebo Light" pitchFamily="34" charset="-120"/>
              </a:rPr>
              <a:t>Memory Management:</a:t>
            </a:r>
            <a:r>
              <a:rPr lang="en-US" sz="1700" dirty="0">
                <a:solidFill>
                  <a:srgbClr val="DCD7E5"/>
                </a:solidFill>
                <a:latin typeface="Heebo Light" pitchFamily="34" charset="0"/>
                <a:ea typeface="Heebo Light" pitchFamily="34" charset="-122"/>
                <a:cs typeface="Heebo Light" pitchFamily="34" charset="-120"/>
              </a:rPr>
              <a:t> Both use garbage collection, but with different approaches</a:t>
            </a:r>
            <a:endParaRPr lang="en-US" sz="1700" dirty="0"/>
          </a:p>
        </p:txBody>
      </p:sp>
      <p:sp>
        <p:nvSpPr>
          <p:cNvPr id="13" name="Text 11"/>
          <p:cNvSpPr/>
          <p:nvPr/>
        </p:nvSpPr>
        <p:spPr>
          <a:xfrm>
            <a:off x="7587258" y="4280416"/>
            <a:ext cx="3767257" cy="406360"/>
          </a:xfrm>
          <a:prstGeom prst="rect">
            <a:avLst/>
          </a:prstGeom>
          <a:noFill/>
          <a:ln/>
        </p:spPr>
        <p:txBody>
          <a:bodyPr wrap="none" lIns="0" tIns="0" rIns="0" bIns="0" rtlCol="0" anchor="t"/>
          <a:lstStyle/>
          <a:p>
            <a:pPr marL="0" indent="0" algn="l">
              <a:lnSpc>
                <a:spcPts val="3200"/>
              </a:lnSpc>
              <a:buNone/>
            </a:pPr>
            <a:r>
              <a:rPr lang="en-US" sz="2550" dirty="0">
                <a:solidFill>
                  <a:srgbClr val="481C9E"/>
                </a:solidFill>
                <a:latin typeface="Montserrat" pitchFamily="34" charset="0"/>
                <a:ea typeface="Montserrat" pitchFamily="34" charset="-122"/>
                <a:cs typeface="Montserrat" pitchFamily="34" charset="-120"/>
              </a:rPr>
              <a:t>Developer Implications</a:t>
            </a:r>
            <a:endParaRPr lang="en-US" sz="2550" dirty="0"/>
          </a:p>
        </p:txBody>
      </p:sp>
      <p:sp>
        <p:nvSpPr>
          <p:cNvPr id="14" name="Text 12"/>
          <p:cNvSpPr/>
          <p:nvPr/>
        </p:nvSpPr>
        <p:spPr>
          <a:xfrm>
            <a:off x="7587258" y="4903470"/>
            <a:ext cx="6292096" cy="693658"/>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DCD7E5"/>
                </a:solidFill>
                <a:latin typeface="Heebo Light" pitchFamily="34" charset="0"/>
                <a:ea typeface="Heebo Light" pitchFamily="34" charset="-122"/>
                <a:cs typeface="Heebo Light" pitchFamily="34" charset="-120"/>
              </a:rPr>
              <a:t>Android:</a:t>
            </a:r>
            <a:r>
              <a:rPr lang="en-US" sz="1700" dirty="0">
                <a:solidFill>
                  <a:srgbClr val="DCD7E5"/>
                </a:solidFill>
                <a:latin typeface="Heebo Light" pitchFamily="34" charset="0"/>
                <a:ea typeface="Heebo Light" pitchFamily="34" charset="-122"/>
                <a:cs typeface="Heebo Light" pitchFamily="34" charset="-120"/>
              </a:rPr>
              <a:t> Rich APIs, extensive device testing needed, more fragmentation challenges</a:t>
            </a:r>
            <a:endParaRPr lang="en-US" sz="1700" dirty="0"/>
          </a:p>
        </p:txBody>
      </p:sp>
      <p:sp>
        <p:nvSpPr>
          <p:cNvPr id="15" name="Text 13"/>
          <p:cNvSpPr/>
          <p:nvPr/>
        </p:nvSpPr>
        <p:spPr>
          <a:xfrm>
            <a:off x="7587258" y="5672971"/>
            <a:ext cx="6292096" cy="693658"/>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DCD7E5"/>
                </a:solidFill>
                <a:latin typeface="Heebo Light" pitchFamily="34" charset="0"/>
                <a:ea typeface="Heebo Light" pitchFamily="34" charset="-122"/>
                <a:cs typeface="Heebo Light" pitchFamily="34" charset="-120"/>
              </a:rPr>
              <a:t>iOS:</a:t>
            </a:r>
            <a:r>
              <a:rPr lang="en-US" sz="1700" dirty="0">
                <a:solidFill>
                  <a:srgbClr val="DCD7E5"/>
                </a:solidFill>
                <a:latin typeface="Heebo Light" pitchFamily="34" charset="0"/>
                <a:ea typeface="Heebo Light" pitchFamily="34" charset="-122"/>
                <a:cs typeface="Heebo Light" pitchFamily="34" charset="-120"/>
              </a:rPr>
              <a:t> Consistent behavior, limited device variations, strict App Store guidelines</a:t>
            </a:r>
            <a:endParaRPr lang="en-US" sz="1700" dirty="0"/>
          </a:p>
        </p:txBody>
      </p:sp>
      <p:sp>
        <p:nvSpPr>
          <p:cNvPr id="16" name="Text 14"/>
          <p:cNvSpPr/>
          <p:nvPr/>
        </p:nvSpPr>
        <p:spPr>
          <a:xfrm>
            <a:off x="7587258" y="6442472"/>
            <a:ext cx="6292096" cy="693658"/>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DCD7E5"/>
                </a:solidFill>
                <a:latin typeface="Heebo Light" pitchFamily="34" charset="0"/>
                <a:ea typeface="Heebo Light" pitchFamily="34" charset="-122"/>
                <a:cs typeface="Heebo Light" pitchFamily="34" charset="-120"/>
              </a:rPr>
              <a:t>Both:</a:t>
            </a:r>
            <a:r>
              <a:rPr lang="en-US" sz="1700" dirty="0">
                <a:solidFill>
                  <a:srgbClr val="DCD7E5"/>
                </a:solidFill>
                <a:latin typeface="Heebo Light" pitchFamily="34" charset="0"/>
                <a:ea typeface="Heebo Light" pitchFamily="34" charset="-122"/>
                <a:cs typeface="Heebo Light" pitchFamily="34" charset="-120"/>
              </a:rPr>
              <a:t> Robust frameworks, strong developer communities, comprehensive documentation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4256" y="646033"/>
            <a:ext cx="6159460" cy="637818"/>
          </a:xfrm>
          <a:prstGeom prst="rect">
            <a:avLst/>
          </a:prstGeom>
          <a:noFill/>
          <a:ln/>
        </p:spPr>
        <p:txBody>
          <a:bodyPr wrap="none" lIns="0" tIns="0" rIns="0" bIns="0" rtlCol="0" anchor="t"/>
          <a:lstStyle/>
          <a:p>
            <a:pPr marL="0" indent="0" algn="l">
              <a:lnSpc>
                <a:spcPts val="5000"/>
              </a:lnSpc>
              <a:buNone/>
            </a:pPr>
            <a:r>
              <a:rPr lang="en-US" sz="4000" dirty="0">
                <a:solidFill>
                  <a:srgbClr val="F2F0F4"/>
                </a:solidFill>
                <a:latin typeface="Montserrat" pitchFamily="34" charset="0"/>
                <a:ea typeface="Montserrat" pitchFamily="34" charset="-122"/>
                <a:cs typeface="Montserrat" pitchFamily="34" charset="-120"/>
              </a:rPr>
              <a:t>Conclusion &amp; Takeaways</a:t>
            </a:r>
            <a:endParaRPr lang="en-US" sz="4000" dirty="0"/>
          </a:p>
        </p:txBody>
      </p:sp>
      <p:sp>
        <p:nvSpPr>
          <p:cNvPr id="3" name="Shape 1"/>
          <p:cNvSpPr/>
          <p:nvPr/>
        </p:nvSpPr>
        <p:spPr>
          <a:xfrm>
            <a:off x="714256" y="1691997"/>
            <a:ext cx="459224" cy="459224"/>
          </a:xfrm>
          <a:prstGeom prst="roundRect">
            <a:avLst>
              <a:gd name="adj" fmla="val 18667"/>
            </a:avLst>
          </a:prstGeom>
          <a:solidFill>
            <a:srgbClr val="31136C"/>
          </a:solidFill>
          <a:ln w="7620">
            <a:solidFill>
              <a:srgbClr val="4A2C85"/>
            </a:solidFill>
            <a:prstDash val="solid"/>
          </a:ln>
        </p:spPr>
      </p:sp>
      <p:sp>
        <p:nvSpPr>
          <p:cNvPr id="4" name="Text 2"/>
          <p:cNvSpPr/>
          <p:nvPr/>
        </p:nvSpPr>
        <p:spPr>
          <a:xfrm>
            <a:off x="1377553" y="1730216"/>
            <a:ext cx="3115032" cy="382548"/>
          </a:xfrm>
          <a:prstGeom prst="rect">
            <a:avLst/>
          </a:prstGeom>
          <a:noFill/>
          <a:ln/>
        </p:spPr>
        <p:txBody>
          <a:bodyPr wrap="none" lIns="0" tIns="0" rIns="0" bIns="0" rtlCol="0" anchor="t"/>
          <a:lstStyle/>
          <a:p>
            <a:pPr marL="0" indent="0" algn="l">
              <a:lnSpc>
                <a:spcPts val="3000"/>
              </a:lnSpc>
              <a:buNone/>
            </a:pPr>
            <a:r>
              <a:rPr lang="en-US" sz="2400" dirty="0">
                <a:solidFill>
                  <a:srgbClr val="DCD7E5"/>
                </a:solidFill>
                <a:latin typeface="Montserrat" pitchFamily="34" charset="0"/>
                <a:ea typeface="Montserrat" pitchFamily="34" charset="-122"/>
                <a:cs typeface="Montserrat" pitchFamily="34" charset="-120"/>
              </a:rPr>
              <a:t>Robust Foundations</a:t>
            </a:r>
            <a:endParaRPr lang="en-US" sz="2400" dirty="0"/>
          </a:p>
        </p:txBody>
      </p:sp>
      <p:sp>
        <p:nvSpPr>
          <p:cNvPr id="5" name="Text 3"/>
          <p:cNvSpPr/>
          <p:nvPr/>
        </p:nvSpPr>
        <p:spPr>
          <a:xfrm>
            <a:off x="1377553" y="2235160"/>
            <a:ext cx="5810131" cy="979408"/>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Mobile apps rely on sophisticated OS architectures to deliver seamless, responsive experiences. Understanding these foundations is essential for building high-quality applications.</a:t>
            </a:r>
            <a:endParaRPr lang="en-US" sz="1600" dirty="0"/>
          </a:p>
        </p:txBody>
      </p:sp>
      <p:sp>
        <p:nvSpPr>
          <p:cNvPr id="6" name="Shape 4"/>
          <p:cNvSpPr/>
          <p:nvPr/>
        </p:nvSpPr>
        <p:spPr>
          <a:xfrm>
            <a:off x="7442716" y="1691997"/>
            <a:ext cx="459224" cy="459224"/>
          </a:xfrm>
          <a:prstGeom prst="roundRect">
            <a:avLst>
              <a:gd name="adj" fmla="val 18667"/>
            </a:avLst>
          </a:prstGeom>
          <a:solidFill>
            <a:srgbClr val="31136C"/>
          </a:solidFill>
          <a:ln w="7620">
            <a:solidFill>
              <a:srgbClr val="4A2C85"/>
            </a:solidFill>
            <a:prstDash val="solid"/>
          </a:ln>
        </p:spPr>
      </p:sp>
      <p:sp>
        <p:nvSpPr>
          <p:cNvPr id="7" name="Text 5"/>
          <p:cNvSpPr/>
          <p:nvPr/>
        </p:nvSpPr>
        <p:spPr>
          <a:xfrm>
            <a:off x="8106013" y="1730216"/>
            <a:ext cx="3266837" cy="382548"/>
          </a:xfrm>
          <a:prstGeom prst="rect">
            <a:avLst/>
          </a:prstGeom>
          <a:noFill/>
          <a:ln/>
        </p:spPr>
        <p:txBody>
          <a:bodyPr wrap="none" lIns="0" tIns="0" rIns="0" bIns="0" rtlCol="0" anchor="t"/>
          <a:lstStyle/>
          <a:p>
            <a:pPr marL="0" indent="0" algn="l">
              <a:lnSpc>
                <a:spcPts val="3000"/>
              </a:lnSpc>
              <a:buNone/>
            </a:pPr>
            <a:r>
              <a:rPr lang="en-US" sz="2400" dirty="0">
                <a:solidFill>
                  <a:srgbClr val="DCD7E5"/>
                </a:solidFill>
                <a:latin typeface="Montserrat" pitchFamily="34" charset="0"/>
                <a:ea typeface="Montserrat" pitchFamily="34" charset="-122"/>
                <a:cs typeface="Montserrat" pitchFamily="34" charset="-120"/>
              </a:rPr>
              <a:t>Architectural Mastery</a:t>
            </a:r>
            <a:endParaRPr lang="en-US" sz="2400" dirty="0"/>
          </a:p>
        </p:txBody>
      </p:sp>
      <p:sp>
        <p:nvSpPr>
          <p:cNvPr id="8" name="Text 6"/>
          <p:cNvSpPr/>
          <p:nvPr/>
        </p:nvSpPr>
        <p:spPr>
          <a:xfrm>
            <a:off x="8106013" y="2235160"/>
            <a:ext cx="5810131" cy="979408"/>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Deep knowledge of Android and iOS architectures enables developers to optimize app performance, troubleshoot issues effectively, and leverage platform-specific capabilities.</a:t>
            </a:r>
            <a:endParaRPr lang="en-US" sz="1600" dirty="0"/>
          </a:p>
        </p:txBody>
      </p:sp>
      <p:sp>
        <p:nvSpPr>
          <p:cNvPr id="9" name="Shape 7"/>
          <p:cNvSpPr/>
          <p:nvPr/>
        </p:nvSpPr>
        <p:spPr>
          <a:xfrm>
            <a:off x="714256" y="3622715"/>
            <a:ext cx="459224" cy="459224"/>
          </a:xfrm>
          <a:prstGeom prst="roundRect">
            <a:avLst>
              <a:gd name="adj" fmla="val 18667"/>
            </a:avLst>
          </a:prstGeom>
          <a:solidFill>
            <a:srgbClr val="31136C"/>
          </a:solidFill>
          <a:ln w="7620">
            <a:solidFill>
              <a:srgbClr val="4A2C85"/>
            </a:solidFill>
            <a:prstDash val="solid"/>
          </a:ln>
        </p:spPr>
      </p:sp>
      <p:sp>
        <p:nvSpPr>
          <p:cNvPr id="10" name="Text 8"/>
          <p:cNvSpPr/>
          <p:nvPr/>
        </p:nvSpPr>
        <p:spPr>
          <a:xfrm>
            <a:off x="1377553" y="3660934"/>
            <a:ext cx="3379708" cy="382548"/>
          </a:xfrm>
          <a:prstGeom prst="rect">
            <a:avLst/>
          </a:prstGeom>
          <a:noFill/>
          <a:ln/>
        </p:spPr>
        <p:txBody>
          <a:bodyPr wrap="none" lIns="0" tIns="0" rIns="0" bIns="0" rtlCol="0" anchor="t"/>
          <a:lstStyle/>
          <a:p>
            <a:pPr marL="0" indent="0" algn="l">
              <a:lnSpc>
                <a:spcPts val="3000"/>
              </a:lnSpc>
              <a:buNone/>
            </a:pPr>
            <a:r>
              <a:rPr lang="en-US" sz="2400" dirty="0">
                <a:solidFill>
                  <a:srgbClr val="DCD7E5"/>
                </a:solidFill>
                <a:latin typeface="Montserrat" pitchFamily="34" charset="0"/>
                <a:ea typeface="Montserrat" pitchFamily="34" charset="-122"/>
                <a:cs typeface="Montserrat" pitchFamily="34" charset="-120"/>
              </a:rPr>
              <a:t>Platform Philosophies</a:t>
            </a:r>
            <a:endParaRPr lang="en-US" sz="2400" dirty="0"/>
          </a:p>
        </p:txBody>
      </p:sp>
      <p:sp>
        <p:nvSpPr>
          <p:cNvPr id="11" name="Text 9"/>
          <p:cNvSpPr/>
          <p:nvPr/>
        </p:nvSpPr>
        <p:spPr>
          <a:xfrm>
            <a:off x="1377553" y="4165878"/>
            <a:ext cx="5810131" cy="979408"/>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Android's open-source model promotes innovation and diversity, while iOS's closed ecosystem ensures consistency and security. Both approaches have distinct advantages.</a:t>
            </a:r>
            <a:endParaRPr lang="en-US" sz="1600" dirty="0"/>
          </a:p>
        </p:txBody>
      </p:sp>
      <p:sp>
        <p:nvSpPr>
          <p:cNvPr id="12" name="Shape 10"/>
          <p:cNvSpPr/>
          <p:nvPr/>
        </p:nvSpPr>
        <p:spPr>
          <a:xfrm>
            <a:off x="7442716" y="3622715"/>
            <a:ext cx="459224" cy="459224"/>
          </a:xfrm>
          <a:prstGeom prst="roundRect">
            <a:avLst>
              <a:gd name="adj" fmla="val 18667"/>
            </a:avLst>
          </a:prstGeom>
          <a:solidFill>
            <a:srgbClr val="31136C"/>
          </a:solidFill>
          <a:ln w="7620">
            <a:solidFill>
              <a:srgbClr val="4A2C85"/>
            </a:solidFill>
            <a:prstDash val="solid"/>
          </a:ln>
        </p:spPr>
      </p:sp>
      <p:sp>
        <p:nvSpPr>
          <p:cNvPr id="13" name="Text 11"/>
          <p:cNvSpPr/>
          <p:nvPr/>
        </p:nvSpPr>
        <p:spPr>
          <a:xfrm>
            <a:off x="8106013" y="3660934"/>
            <a:ext cx="3061454" cy="382548"/>
          </a:xfrm>
          <a:prstGeom prst="rect">
            <a:avLst/>
          </a:prstGeom>
          <a:noFill/>
          <a:ln/>
        </p:spPr>
        <p:txBody>
          <a:bodyPr wrap="none" lIns="0" tIns="0" rIns="0" bIns="0" rtlCol="0" anchor="t"/>
          <a:lstStyle/>
          <a:p>
            <a:pPr marL="0" indent="0" algn="l">
              <a:lnSpc>
                <a:spcPts val="3000"/>
              </a:lnSpc>
              <a:buNone/>
            </a:pPr>
            <a:r>
              <a:rPr lang="en-US" sz="2400" dirty="0">
                <a:solidFill>
                  <a:srgbClr val="DCD7E5"/>
                </a:solidFill>
                <a:latin typeface="Montserrat" pitchFamily="34" charset="0"/>
                <a:ea typeface="Montserrat" pitchFamily="34" charset="-122"/>
                <a:cs typeface="Montserrat" pitchFamily="34" charset="-120"/>
              </a:rPr>
              <a:t>Career Foundation</a:t>
            </a:r>
            <a:endParaRPr lang="en-US" sz="2400" dirty="0"/>
          </a:p>
        </p:txBody>
      </p:sp>
      <p:sp>
        <p:nvSpPr>
          <p:cNvPr id="14" name="Text 12"/>
          <p:cNvSpPr/>
          <p:nvPr/>
        </p:nvSpPr>
        <p:spPr>
          <a:xfrm>
            <a:off x="8106013" y="4165878"/>
            <a:ext cx="5810131" cy="979408"/>
          </a:xfrm>
          <a:prstGeom prst="rect">
            <a:avLst/>
          </a:prstGeom>
          <a:noFill/>
          <a:ln/>
        </p:spPr>
        <p:txBody>
          <a:bodyPr wrap="square" lIns="0" tIns="0" rIns="0" bIns="0" rtlCol="0" anchor="t"/>
          <a:lstStyle/>
          <a:p>
            <a:pPr marL="0" indent="0" algn="l">
              <a:lnSpc>
                <a:spcPts val="2550"/>
              </a:lnSpc>
              <a:buNone/>
            </a:pPr>
            <a:r>
              <a:rPr lang="en-US" sz="1600" dirty="0">
                <a:solidFill>
                  <a:srgbClr val="DCD7E5"/>
                </a:solidFill>
                <a:latin typeface="Heebo Light" pitchFamily="34" charset="0"/>
                <a:ea typeface="Heebo Light" pitchFamily="34" charset="-122"/>
                <a:cs typeface="Heebo Light" pitchFamily="34" charset="-120"/>
              </a:rPr>
              <a:t>For BSCS students, mastering these architectural concepts is fundamental to success in mobile software engineering, system design, and cross-platform development.</a:t>
            </a:r>
            <a:endParaRPr lang="en-US" sz="1600" dirty="0"/>
          </a:p>
        </p:txBody>
      </p:sp>
      <p:sp>
        <p:nvSpPr>
          <p:cNvPr id="15" name="Text 13"/>
          <p:cNvSpPr/>
          <p:nvPr/>
        </p:nvSpPr>
        <p:spPr>
          <a:xfrm>
            <a:off x="1020366" y="5604391"/>
            <a:ext cx="12895778" cy="326469"/>
          </a:xfrm>
          <a:prstGeom prst="rect">
            <a:avLst/>
          </a:prstGeom>
          <a:noFill/>
          <a:ln/>
        </p:spPr>
        <p:txBody>
          <a:bodyPr wrap="none" lIns="0" tIns="0" rIns="0" bIns="0" rtlCol="0" anchor="t"/>
          <a:lstStyle/>
          <a:p>
            <a:pPr marL="0" indent="0" algn="l">
              <a:lnSpc>
                <a:spcPts val="2550"/>
              </a:lnSpc>
              <a:buNone/>
            </a:pPr>
            <a:r>
              <a:rPr lang="en-US" sz="1600" i="1" dirty="0">
                <a:solidFill>
                  <a:srgbClr val="DCD7E5"/>
                </a:solidFill>
                <a:latin typeface="Heebo Light" pitchFamily="34" charset="0"/>
                <a:ea typeface="Heebo Light" pitchFamily="34" charset="-122"/>
                <a:cs typeface="Heebo Light" pitchFamily="34" charset="-120"/>
              </a:rPr>
              <a:t>"The best mobile applications are built on a solid understanding of the underlying operating system architecture."</a:t>
            </a:r>
            <a:endParaRPr lang="en-US" sz="1600" dirty="0"/>
          </a:p>
        </p:txBody>
      </p:sp>
      <p:sp>
        <p:nvSpPr>
          <p:cNvPr id="16" name="Shape 14"/>
          <p:cNvSpPr/>
          <p:nvPr/>
        </p:nvSpPr>
        <p:spPr>
          <a:xfrm>
            <a:off x="714256" y="5374838"/>
            <a:ext cx="22860" cy="785574"/>
          </a:xfrm>
          <a:prstGeom prst="rect">
            <a:avLst/>
          </a:prstGeom>
          <a:solidFill>
            <a:srgbClr val="481C9E"/>
          </a:solidFill>
          <a:ln/>
        </p:spPr>
      </p:sp>
      <p:sp>
        <p:nvSpPr>
          <p:cNvPr id="17" name="Shape 15"/>
          <p:cNvSpPr/>
          <p:nvPr/>
        </p:nvSpPr>
        <p:spPr>
          <a:xfrm>
            <a:off x="714256" y="6389965"/>
            <a:ext cx="13201888" cy="1193602"/>
          </a:xfrm>
          <a:prstGeom prst="roundRect">
            <a:avLst>
              <a:gd name="adj" fmla="val 7182"/>
            </a:avLst>
          </a:prstGeom>
          <a:solidFill>
            <a:srgbClr val="1E0C41"/>
          </a:solidFill>
          <a:ln/>
        </p:spPr>
      </p:sp>
      <p:pic>
        <p:nvPicPr>
          <p:cNvPr id="18" name="Image 0" descr="preencoded.png"/>
          <p:cNvPicPr>
            <a:picLocks noChangeAspect="1"/>
          </p:cNvPicPr>
          <p:nvPr/>
        </p:nvPicPr>
        <p:blipFill>
          <a:blip r:embed="rId3"/>
          <a:stretch>
            <a:fillRect/>
          </a:stretch>
        </p:blipFill>
        <p:spPr>
          <a:xfrm>
            <a:off x="918329" y="6687383"/>
            <a:ext cx="255032" cy="204073"/>
          </a:xfrm>
          <a:prstGeom prst="rect">
            <a:avLst/>
          </a:prstGeom>
        </p:spPr>
      </p:pic>
      <p:sp>
        <p:nvSpPr>
          <p:cNvPr id="19" name="Text 16"/>
          <p:cNvSpPr/>
          <p:nvPr/>
        </p:nvSpPr>
        <p:spPr>
          <a:xfrm>
            <a:off x="1377434" y="6644997"/>
            <a:ext cx="12334637" cy="652939"/>
          </a:xfrm>
          <a:prstGeom prst="rect">
            <a:avLst/>
          </a:prstGeom>
          <a:noFill/>
          <a:ln/>
        </p:spPr>
        <p:txBody>
          <a:bodyPr wrap="square" lIns="0" tIns="0" rIns="0" bIns="0" rtlCol="0" anchor="t"/>
          <a:lstStyle/>
          <a:p>
            <a:pPr marL="0" indent="0" algn="l">
              <a:lnSpc>
                <a:spcPts val="2550"/>
              </a:lnSpc>
              <a:buNone/>
            </a:pPr>
            <a:r>
              <a:rPr lang="en-US" sz="1600" b="1" dirty="0">
                <a:solidFill>
                  <a:srgbClr val="FFFFFF"/>
                </a:solidFill>
                <a:latin typeface="Heebo Light" pitchFamily="34" charset="0"/>
                <a:ea typeface="Heebo Light" pitchFamily="34" charset="-122"/>
                <a:cs typeface="Heebo Light" pitchFamily="34" charset="-120"/>
              </a:rPr>
              <a:t>Questions? Let's discuss!</a:t>
            </a:r>
            <a:r>
              <a:rPr lang="en-US" sz="1600" dirty="0">
                <a:solidFill>
                  <a:srgbClr val="FFFFFF"/>
                </a:solidFill>
                <a:latin typeface="Heebo Light" pitchFamily="34" charset="0"/>
                <a:ea typeface="Heebo Light" pitchFamily="34" charset="-122"/>
                <a:cs typeface="Heebo Light" pitchFamily="34" charset="-120"/>
              </a:rPr>
              <a:t> This is your opportunity to explore mobile OS architectures further and clarify any concepts covered in today's lecture.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1247</Words>
  <Application>Microsoft Office PowerPoint</Application>
  <PresentationFormat>Custom</PresentationFormat>
  <Paragraphs>146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Montserrat</vt:lpstr>
      <vt:lpstr>Heebo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Hp</cp:lastModifiedBy>
  <cp:revision>2</cp:revision>
  <dcterms:created xsi:type="dcterms:W3CDTF">2025-10-09T08:15:32Z</dcterms:created>
  <dcterms:modified xsi:type="dcterms:W3CDTF">2025-10-09T09:06:42Z</dcterms:modified>
</cp:coreProperties>
</file>