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789E-43C0-E969-0B9F-2ABF05033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C4A02-35D2-01E2-7ACA-EBAC26F79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AC063-32A0-85D0-90FB-98FA20C7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31D10-5089-DAEF-F660-84228E0C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A9393-B35F-E2D0-6177-B90853A2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2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74CC-DEC5-4870-4D26-8D14194CA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B65A4-2322-888E-BE74-6F6969EFD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7E0C-BA0E-0AC1-1EE6-BD30B9B9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505EC-455D-349A-90F4-F8C8E73F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29C7E-C3F1-0513-39A2-C583A16D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6305-78AD-F5F5-7389-5D24858F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C297C-2F50-C5AC-D4BC-7AEEE45B1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7AAC8-44FE-456B-828B-D2EF114D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6343C-F392-943E-8DF2-2BD253D8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43F5C-8D19-8E05-127B-2F7532B4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1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E0BF-7B1E-F06D-682D-996079CD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62F84-FB9D-3C35-5DBA-2E6F5C4CA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4506A-0F82-FC99-C6D1-5F4D63D53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CB565-C9A5-1689-6061-A2522F3D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BC365-252B-4080-22A3-4E784D9F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FCC64-95FC-DC5B-03C2-F515B904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5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231A-8A7B-23BA-D133-647C1478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F7023-78B1-AEC6-417C-F8F782E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3A732-96FD-2E6C-221D-F879EE69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DBB07-7E00-CC5D-BAA4-AE312A87E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6F14F-2D4B-1CDC-C7E5-A86D01792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67C091-B423-5F3C-D860-93C86BD8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E191A-66F9-99EB-9C9C-9FAFB95E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9035E-5256-83FD-86B1-34100686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0AD0-A993-B210-808C-914EF843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06DCB-BB9F-28AA-934A-BE6912C7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2E1BD-BCB6-6D05-C62A-A7DF76D5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BD118-8E68-C3DD-801C-A365F48C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4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8015B-94F0-B006-4045-FABC76EB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F2B19-F593-A8F9-BEC7-028B0CDD4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C1F5E-B4B8-F426-1A98-4DC27144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7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B692-4D24-4E2E-2190-0229516F8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A3E2-19C0-658D-2396-03BF8D4F1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7295C-50D4-875B-7903-5F170D3EA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286F0-E414-CEC7-C858-F156BF6E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A03FB-B147-86F8-778F-AB34E1A8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7A040-6062-B558-970D-ADCC465E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4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170B-F44A-02E9-FB07-FC61BACB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048C5-69E2-C4D0-DFB1-226418D28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A9F20-AD32-C76A-8496-E420BD767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969EA-C754-B4FE-18D3-24A23BDF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F0F5C-FA42-B2AA-0494-1240061B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841-A518-4DBC-EBC6-207BDAAF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9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E713-2D3B-7C32-2A40-B305936D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BE55F-D027-37F9-2830-CC628D5C1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349F5-395D-FB49-20EF-A64B2F6F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FE6CA-403A-68D8-F6FA-08425E07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2D5C7-2B0A-C288-A6D7-BADB6968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7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4D6C8-4F61-95BA-AB61-9DC9F309E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0F90A-64D0-B247-D73A-4388820EC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A7380-DE88-433A-F3AF-EE9B5405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3737-6562-74CF-4467-63677AFA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09628-888B-89E4-9DEE-8CBBBC1A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4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FB16C-F126-8E8A-C816-870E216A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64134-65CD-29CD-9AC0-D4F0ACC60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814E-8FD8-9430-2621-EEF5F13AE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CC13C-292F-4E6A-A76F-2BB463ED994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2007-2CE5-6830-7C0D-02FAFC4BB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1598F-9430-CEBA-F9B2-FDD974059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31DC7-CB05-4EB4-A735-7A4AA968F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B62E-BB11-6EF3-5BA5-EB46C8E09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sz="4400" dirty="0"/>
              <a:t>User Input Handling &amp; Form Controls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D44E9-81AB-2F03-DC4E-B5FD89026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</p:spTree>
    <p:extLst>
      <p:ext uri="{BB962C8B-B14F-4D97-AF65-F5344CB8AC3E}">
        <p14:creationId xmlns:p14="http://schemas.microsoft.com/office/powerpoint/2010/main" val="1960633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F526-9CE5-58AE-FAA9-E248D772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08F1-0BA3-BE11-9F96-CC2CB5923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input handling allows mobile applications to receive data from users through </a:t>
            </a:r>
            <a:r>
              <a:rPr lang="en-US" b="1" dirty="0"/>
              <a:t>forms, buttons, text fields, and interactive controls</a:t>
            </a:r>
            <a:r>
              <a:rPr lang="en-US" dirty="0"/>
              <a:t>. Proper input handling ensures </a:t>
            </a:r>
            <a:r>
              <a:rPr lang="en-US" b="1" dirty="0"/>
              <a:t>usability, data accuracy, and security</a:t>
            </a:r>
            <a:r>
              <a:rPr lang="en-US" dirty="0"/>
              <a:t> in mobile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7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6F6E-03E5-F46E-CAA4-518385D8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Types of User Input in Mobile Apps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E86CE-1296-E9C7-F46E-F53A2297C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forms of user input include:</a:t>
            </a:r>
          </a:p>
          <a:p>
            <a:r>
              <a:rPr lang="en-US" dirty="0"/>
              <a:t>Text input (names, emails, passwords)</a:t>
            </a:r>
          </a:p>
          <a:p>
            <a:r>
              <a:rPr lang="en-US" dirty="0"/>
              <a:t>Numeric input (age, phone number)</a:t>
            </a:r>
          </a:p>
          <a:p>
            <a:r>
              <a:rPr lang="en-US" dirty="0"/>
              <a:t>Selection input (checkboxes, radio buttons)</a:t>
            </a:r>
          </a:p>
          <a:p>
            <a:r>
              <a:rPr lang="en-US" dirty="0"/>
              <a:t>Date and time input</a:t>
            </a:r>
          </a:p>
          <a:p>
            <a:r>
              <a:rPr lang="en-US" dirty="0"/>
              <a:t>Touch gestures (tap, swipe, long press)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64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62CC-0165-EFC9-C602-72689217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Form Controls in Mobile Applications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50BD2-B7E6-A199-A852-46B66905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3.1 Text-Based Controls</a:t>
            </a:r>
          </a:p>
          <a:p>
            <a:r>
              <a:rPr lang="en-US" b="1" dirty="0" err="1"/>
              <a:t>EditText</a:t>
            </a:r>
            <a:r>
              <a:rPr lang="en-US" b="1" dirty="0"/>
              <a:t> (Android)</a:t>
            </a:r>
            <a:r>
              <a:rPr lang="en-US" dirty="0"/>
              <a:t> / </a:t>
            </a:r>
            <a:r>
              <a:rPr lang="en-US" b="1" dirty="0" err="1"/>
              <a:t>TextField</a:t>
            </a:r>
            <a:r>
              <a:rPr lang="en-US" b="1" dirty="0"/>
              <a:t> (Flutter)</a:t>
            </a:r>
            <a:endParaRPr lang="en-US" dirty="0"/>
          </a:p>
          <a:p>
            <a:r>
              <a:rPr lang="en-US" dirty="0"/>
              <a:t>Used to accept text, email, number, or password</a:t>
            </a:r>
          </a:p>
          <a:p>
            <a:r>
              <a:rPr lang="en-US" dirty="0"/>
              <a:t>Input types: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/>
              <a:t>password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39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8E3D-107A-74E3-DC17-258B0915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3.2 Button Controls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6AAE5-CBEE-2AF8-5E19-38C44A766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Button / </a:t>
            </a:r>
            <a:r>
              <a:rPr lang="en-US" b="1" dirty="0" err="1"/>
              <a:t>ElevatedButton</a:t>
            </a:r>
            <a:endParaRPr lang="en-US" dirty="0"/>
          </a:p>
          <a:p>
            <a:r>
              <a:rPr lang="en-US" dirty="0"/>
              <a:t>Used to submit forms or trigger actions</a:t>
            </a:r>
          </a:p>
          <a:p>
            <a:r>
              <a:rPr lang="en-US" dirty="0"/>
              <a:t>Common actions:</a:t>
            </a:r>
          </a:p>
          <a:p>
            <a:pPr lvl="1"/>
            <a:r>
              <a:rPr lang="en-US" dirty="0"/>
              <a:t>Submit</a:t>
            </a:r>
          </a:p>
          <a:p>
            <a:pPr lvl="1"/>
            <a:r>
              <a:rPr lang="en-US" dirty="0"/>
              <a:t>Reset</a:t>
            </a:r>
          </a:p>
          <a:p>
            <a:pPr lvl="1"/>
            <a:r>
              <a:rPr lang="en-US" dirty="0"/>
              <a:t>Navigate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60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5DBD-D3BB-2BB6-C2B0-ECF4F6E7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3.3 Selection Controls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49A20-2EE0-A849-DADB-3176C220E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a) </a:t>
            </a:r>
            <a:r>
              <a:rPr lang="en-US" b="1" dirty="0" err="1"/>
              <a:t>CheckBox</a:t>
            </a:r>
            <a:endParaRPr lang="en-US" b="1" dirty="0"/>
          </a:p>
          <a:p>
            <a:r>
              <a:rPr lang="en-US" dirty="0"/>
              <a:t>Allows </a:t>
            </a:r>
            <a:r>
              <a:rPr lang="en-US" b="1" dirty="0"/>
              <a:t>multiple selections</a:t>
            </a:r>
            <a:endParaRPr lang="en-US" dirty="0"/>
          </a:p>
          <a:p>
            <a:r>
              <a:rPr lang="en-US" dirty="0"/>
              <a:t>Example: Select interests or preferences</a:t>
            </a:r>
          </a:p>
          <a:p>
            <a:r>
              <a:rPr lang="en-US" b="1" dirty="0"/>
              <a:t>b) </a:t>
            </a:r>
            <a:r>
              <a:rPr lang="en-US" b="1" dirty="0" err="1"/>
              <a:t>RadioButton</a:t>
            </a:r>
            <a:endParaRPr lang="en-US" b="1" dirty="0"/>
          </a:p>
          <a:p>
            <a:r>
              <a:rPr lang="en-US" dirty="0"/>
              <a:t>Allows </a:t>
            </a:r>
            <a:r>
              <a:rPr lang="en-US" b="1" dirty="0"/>
              <a:t>single selection</a:t>
            </a:r>
            <a:r>
              <a:rPr lang="en-US" dirty="0"/>
              <a:t> from a group</a:t>
            </a:r>
          </a:p>
          <a:p>
            <a:r>
              <a:rPr lang="en-US" dirty="0"/>
              <a:t>Example: Gender selection</a:t>
            </a:r>
          </a:p>
          <a:p>
            <a:r>
              <a:rPr lang="en-US" b="1" dirty="0"/>
              <a:t>c) Spinner / Dropdown</a:t>
            </a:r>
          </a:p>
          <a:p>
            <a:r>
              <a:rPr lang="en-US" dirty="0"/>
              <a:t>Displays a list of options</a:t>
            </a:r>
          </a:p>
          <a:p>
            <a:r>
              <a:rPr lang="en-US" dirty="0"/>
              <a:t>Example: Country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94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6C6D-B815-7D37-2539-9B412119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3.4 Date and Time Controls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CF76-1B20-E4DA-A967-6572350E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DatePicker</a:t>
            </a:r>
            <a:endParaRPr lang="en-US" dirty="0"/>
          </a:p>
          <a:p>
            <a:r>
              <a:rPr lang="en-US" b="1" dirty="0" err="1"/>
              <a:t>TimePicker</a:t>
            </a:r>
            <a:endParaRPr lang="en-US" dirty="0"/>
          </a:p>
          <a:p>
            <a:r>
              <a:rPr lang="en-US" dirty="0"/>
              <a:t>Used for:</a:t>
            </a:r>
          </a:p>
          <a:p>
            <a:pPr lvl="1"/>
            <a:r>
              <a:rPr lang="en-US" dirty="0"/>
              <a:t>Booking systems</a:t>
            </a:r>
          </a:p>
          <a:p>
            <a:pPr lvl="1"/>
            <a:r>
              <a:rPr lang="en-US" dirty="0"/>
              <a:t>Scheduling apps</a:t>
            </a:r>
          </a:p>
          <a:p>
            <a:pPr lvl="1"/>
            <a:r>
              <a:rPr lang="en-US" dirty="0"/>
              <a:t>Reminders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7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C6A8-2FD4-C004-AE0F-F71EAB29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Handling User Input (Event Handling)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19AF-0798-632C-0366-2E1CE492F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4.1 Event Listeners</a:t>
            </a:r>
          </a:p>
          <a:p>
            <a:r>
              <a:rPr lang="en-US" dirty="0"/>
              <a:t>Event listeners detect user interactions:</a:t>
            </a:r>
          </a:p>
          <a:p>
            <a:r>
              <a:rPr lang="en-US" dirty="0"/>
              <a:t>Button click</a:t>
            </a:r>
          </a:p>
          <a:p>
            <a:r>
              <a:rPr lang="en-US" dirty="0"/>
              <a:t>Text change</a:t>
            </a:r>
          </a:p>
          <a:p>
            <a:r>
              <a:rPr lang="en-US" dirty="0"/>
              <a:t>Selection change</a:t>
            </a:r>
          </a:p>
          <a:p>
            <a:r>
              <a:rPr lang="en-US" dirty="0"/>
              <a:t>📌 Examples:</a:t>
            </a:r>
          </a:p>
          <a:p>
            <a:r>
              <a:rPr lang="en-US" dirty="0" err="1"/>
              <a:t>OnClickListener</a:t>
            </a:r>
            <a:endParaRPr lang="en-US" dirty="0"/>
          </a:p>
          <a:p>
            <a:r>
              <a:rPr lang="en-US" dirty="0" err="1"/>
              <a:t>OnTextChanged</a:t>
            </a:r>
            <a:endParaRPr lang="en-US" dirty="0"/>
          </a:p>
          <a:p>
            <a:r>
              <a:rPr lang="en-US" dirty="0" err="1"/>
              <a:t>OnItemSelectedListener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14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9DC8-7AF3-EDA3-ECF6-5276BB98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4.2 Retrieving Input Values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EF37-8718-99FD-DBAB-72C5D84D6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r>
              <a:rPr lang="en-US" dirty="0"/>
              <a:t>Capture input from control</a:t>
            </a:r>
          </a:p>
          <a:p>
            <a:r>
              <a:rPr lang="en-US" dirty="0"/>
              <a:t>Convert input to required data type</a:t>
            </a:r>
          </a:p>
          <a:p>
            <a:r>
              <a:rPr lang="en-US" dirty="0"/>
              <a:t>Store or process the data</a:t>
            </a:r>
          </a:p>
          <a:p>
            <a:r>
              <a:rPr lang="en-US" dirty="0"/>
              <a:t>📌 Example:</a:t>
            </a:r>
          </a:p>
          <a:p>
            <a:r>
              <a:rPr lang="en-US" dirty="0"/>
              <a:t>Getting text from input field</a:t>
            </a:r>
          </a:p>
          <a:p>
            <a:r>
              <a:rPr lang="en-US" dirty="0"/>
              <a:t>Reading checkbox state (true/false)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88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8A79-020B-096E-A049-D5175C5B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Form Validation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2DF7-8040-FBCB-F678-E243A679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5.1 Importance of Validation</a:t>
            </a:r>
          </a:p>
          <a:p>
            <a:r>
              <a:rPr lang="en-US" dirty="0"/>
              <a:t>Prevents incorrect data entry</a:t>
            </a:r>
          </a:p>
          <a:p>
            <a:r>
              <a:rPr lang="en-US" dirty="0"/>
              <a:t>Improves data quality</a:t>
            </a:r>
          </a:p>
          <a:p>
            <a:r>
              <a:rPr lang="en-US" dirty="0"/>
              <a:t>Enhances user experience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0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CCEC-5594-12E7-C75C-6005AE89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5.2 Common Validation Techniques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8DBE-72C3-5537-0296-3A558434D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Required field validation</a:t>
            </a:r>
          </a:p>
          <a:p>
            <a:r>
              <a:rPr lang="en-US" dirty="0"/>
              <a:t>Email format validation</a:t>
            </a:r>
          </a:p>
          <a:p>
            <a:r>
              <a:rPr lang="en-US" dirty="0"/>
              <a:t>Password length validation</a:t>
            </a:r>
          </a:p>
          <a:p>
            <a:r>
              <a:rPr lang="en-US" dirty="0"/>
              <a:t>Numeric range validation</a:t>
            </a:r>
          </a:p>
          <a:p>
            <a:r>
              <a:rPr lang="en-US" dirty="0"/>
              <a:t>📌 Validation can be:</a:t>
            </a:r>
          </a:p>
          <a:p>
            <a:r>
              <a:rPr lang="en-US" b="1" dirty="0"/>
              <a:t>Client-side</a:t>
            </a:r>
            <a:r>
              <a:rPr lang="en-US" dirty="0"/>
              <a:t> (within app)</a:t>
            </a:r>
          </a:p>
          <a:p>
            <a:r>
              <a:rPr lang="en-US" b="1" dirty="0"/>
              <a:t>Server-side</a:t>
            </a:r>
            <a:r>
              <a:rPr lang="en-US" dirty="0"/>
              <a:t> (backend)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48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88C-D923-5D51-1B5D-C777DF09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Error Handling and User Feedback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F51D6-F15F-1D60-7728-66926537D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error messages near fields</a:t>
            </a:r>
          </a:p>
          <a:p>
            <a:r>
              <a:rPr lang="en-US" dirty="0"/>
              <a:t>Use Toasts, </a:t>
            </a:r>
            <a:r>
              <a:rPr lang="en-US" dirty="0" err="1"/>
              <a:t>Snackbars</a:t>
            </a:r>
            <a:r>
              <a:rPr lang="en-US" dirty="0"/>
              <a:t>, or Dialogs</a:t>
            </a:r>
          </a:p>
          <a:p>
            <a:r>
              <a:rPr lang="en-US" dirty="0"/>
              <a:t>Highlight invalid fields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65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04AB-1475-56EE-1970-BB1A3A2B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Security Considerations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30786-380D-F203-D813-CAD4E17F9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Mask sensitive inputs (passwords)</a:t>
            </a:r>
          </a:p>
          <a:p>
            <a:r>
              <a:rPr lang="en-US" dirty="0"/>
              <a:t>Avoid storing plain-text passwords</a:t>
            </a:r>
          </a:p>
          <a:p>
            <a:r>
              <a:rPr lang="en-US" dirty="0"/>
              <a:t>Validate input to prevent injection attacks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789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DF6E-F065-61D7-72FB-9856DBA6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10. Summary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6793C-7C81-6B11-4C57-9841926CB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input handling and form controls are essential for </a:t>
            </a:r>
            <a:r>
              <a:rPr lang="en-US" b="1" dirty="0"/>
              <a:t>interactive mobile applications</a:t>
            </a:r>
            <a:r>
              <a:rPr lang="en-US" dirty="0"/>
              <a:t>. Proper implementation improves </a:t>
            </a:r>
            <a:r>
              <a:rPr lang="en-US" b="1" dirty="0"/>
              <a:t>usability, data accuracy, and security</a:t>
            </a:r>
            <a:r>
              <a:rPr lang="en-US" dirty="0"/>
              <a:t>, making apps more reliable and user-friendly.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36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0996-D675-4ED2-EA3E-0B44F8B4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Layout (activity_main.xml)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4620-3DE9-54E7-B4E9-59D639AFF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="20dp"&gt;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etName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Name"</a:t>
            </a:r>
          </a:p>
          <a:p>
            <a:r>
              <a:rPr lang="en-US" dirty="0"/>
              <a:t>        </a:t>
            </a:r>
            <a:r>
              <a:rPr lang="en-US" dirty="0" err="1"/>
              <a:t>android:inputType</a:t>
            </a:r>
            <a:r>
              <a:rPr lang="en-US" dirty="0"/>
              <a:t>="</a:t>
            </a:r>
            <a:r>
              <a:rPr lang="en-US" dirty="0" err="1"/>
              <a:t>textPersonName</a:t>
            </a:r>
            <a:r>
              <a:rPr lang="en-US" dirty="0"/>
              <a:t>" /&gt;</a:t>
            </a:r>
          </a:p>
        </p:txBody>
      </p:sp>
    </p:spTree>
    <p:extLst>
      <p:ext uri="{BB962C8B-B14F-4D97-AF65-F5344CB8AC3E}">
        <p14:creationId xmlns:p14="http://schemas.microsoft.com/office/powerpoint/2010/main" val="11695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A397-0BB4-B4D6-CB8C-CD84B6FA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E4C9-6A3C-EB38-9BBD-7272C7664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etEmail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Email"</a:t>
            </a:r>
          </a:p>
          <a:p>
            <a:r>
              <a:rPr lang="en-US" dirty="0"/>
              <a:t>        </a:t>
            </a:r>
            <a:r>
              <a:rPr lang="en-US" dirty="0" err="1"/>
              <a:t>android:inputType</a:t>
            </a:r>
            <a:r>
              <a:rPr lang="en-US" dirty="0"/>
              <a:t>="</a:t>
            </a:r>
            <a:r>
              <a:rPr lang="en-US" dirty="0" err="1"/>
              <a:t>textEmailAddress</a:t>
            </a:r>
            <a:r>
              <a:rPr lang="en-US" dirty="0"/>
              <a:t>" /&gt;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etPassword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Password"</a:t>
            </a:r>
          </a:p>
          <a:p>
            <a:r>
              <a:rPr lang="en-US" dirty="0"/>
              <a:t>        </a:t>
            </a:r>
            <a:r>
              <a:rPr lang="en-US" dirty="0" err="1"/>
              <a:t>android:inputType</a:t>
            </a:r>
            <a:r>
              <a:rPr lang="en-US" dirty="0"/>
              <a:t>="</a:t>
            </a:r>
            <a:r>
              <a:rPr lang="en-US" dirty="0" err="1"/>
              <a:t>textPassword</a:t>
            </a:r>
            <a:r>
              <a:rPr lang="en-US" dirty="0"/>
              <a:t>" /&gt;</a:t>
            </a:r>
          </a:p>
        </p:txBody>
      </p:sp>
    </p:spTree>
    <p:extLst>
      <p:ext uri="{BB962C8B-B14F-4D97-AF65-F5344CB8AC3E}">
        <p14:creationId xmlns:p14="http://schemas.microsoft.com/office/powerpoint/2010/main" val="418494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0479-6B40-C2CC-3573-184AB250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B3FE-2552-431B-B665-9D2C23C55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CheckBox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cbAgree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="I agree to terms &amp; conditions" /&gt;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RadioGroup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rgGender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"&gt;</a:t>
            </a:r>
          </a:p>
          <a:p>
            <a:endParaRPr lang="en-US" dirty="0"/>
          </a:p>
          <a:p>
            <a:r>
              <a:rPr lang="en-US" dirty="0"/>
              <a:t>        &lt;</a:t>
            </a:r>
            <a:r>
              <a:rPr lang="en-US" dirty="0" err="1"/>
              <a:t>RadioButton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rbMale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</a:t>
            </a:r>
            <a:r>
              <a:rPr lang="en-US" dirty="0"/>
              <a:t>="Male"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24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BAD5-496B-4CD1-C6B6-481088BB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CFE7-CEB2-80F4-239C-06B7294AD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&lt;</a:t>
            </a:r>
            <a:r>
              <a:rPr lang="en-US" dirty="0" err="1"/>
              <a:t>RadioButton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rbFemale</a:t>
            </a:r>
            <a:r>
              <a:rPr lang="en-US" dirty="0"/>
              <a:t>"</a:t>
            </a:r>
          </a:p>
          <a:p>
            <a:r>
              <a:rPr lang="en-US" dirty="0"/>
              <a:t>            </a:t>
            </a:r>
            <a:r>
              <a:rPr lang="en-US" dirty="0" err="1"/>
              <a:t>android:text</a:t>
            </a:r>
            <a:r>
              <a:rPr lang="en-US" dirty="0"/>
              <a:t>="Female" /&gt;</a:t>
            </a:r>
          </a:p>
          <a:p>
            <a:r>
              <a:rPr lang="en-US" dirty="0"/>
              <a:t>    &lt;/</a:t>
            </a:r>
            <a:r>
              <a:rPr lang="en-US" dirty="0" err="1"/>
              <a:t>RadioGroup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btnSubmit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="Submit" /&gt;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26869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10BA-B82F-0FF0-7820-8567AEA8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Code (MainActivity.java)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CE34-DCC7-EABA-54B1-F4DA2E619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com.example.userinput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android.view.View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</a:t>
            </a:r>
            <a:r>
              <a:rPr lang="en-US" dirty="0"/>
              <a:t>.*;</a:t>
            </a:r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etName</a:t>
            </a:r>
            <a:r>
              <a:rPr lang="en-US" dirty="0"/>
              <a:t>, </a:t>
            </a:r>
            <a:r>
              <a:rPr lang="en-US" dirty="0" err="1"/>
              <a:t>etEmail</a:t>
            </a:r>
            <a:r>
              <a:rPr lang="en-US" dirty="0"/>
              <a:t>, </a:t>
            </a:r>
            <a:r>
              <a:rPr lang="en-US" dirty="0" err="1"/>
              <a:t>etPassword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CheckBox</a:t>
            </a:r>
            <a:r>
              <a:rPr lang="en-US" dirty="0"/>
              <a:t> </a:t>
            </a:r>
            <a:r>
              <a:rPr lang="en-US" dirty="0" err="1"/>
              <a:t>cbAgree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RadioGroup</a:t>
            </a:r>
            <a:r>
              <a:rPr lang="en-US" dirty="0"/>
              <a:t> </a:t>
            </a:r>
            <a:r>
              <a:rPr lang="en-US" dirty="0" err="1"/>
              <a:t>rgGender</a:t>
            </a:r>
            <a:r>
              <a:rPr lang="en-US" dirty="0"/>
              <a:t>;</a:t>
            </a:r>
          </a:p>
          <a:p>
            <a:r>
              <a:rPr lang="en-US" dirty="0"/>
              <a:t>    Button </a:t>
            </a:r>
            <a:r>
              <a:rPr lang="en-US" dirty="0" err="1"/>
              <a:t>btnSubmit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0479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ACAA-8A34-7C1D-CD5C-A98BD6A7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958DC-EC3B-DF77-F2F0-6342DFC83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etName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R.id.etName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etEmail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R.id.etEmail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etPassword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R.id.etPassword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cbAgree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R.id.cbAgree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rgGender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R.id.rgGender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btnSubmit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R.id.btnSubmit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96846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3864-9BB5-C14A-C2E6-F1F301A1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00865-BC81-96D3-33DB-4B2538B5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btnSubmit.setOnClickListener</a:t>
            </a:r>
            <a:r>
              <a:rPr lang="en-US" dirty="0"/>
              <a:t>(new </a:t>
            </a:r>
            <a:r>
              <a:rPr lang="en-US" dirty="0" err="1"/>
              <a:t>View.OnClickListener</a:t>
            </a:r>
            <a:r>
              <a:rPr lang="en-US" dirty="0"/>
              <a:t>() {</a:t>
            </a:r>
          </a:p>
          <a:p>
            <a:r>
              <a:rPr lang="en-US" dirty="0"/>
              <a:t>            @Override</a:t>
            </a:r>
          </a:p>
          <a:p>
            <a:r>
              <a:rPr lang="en-US" dirty="0"/>
              <a:t>            public void </a:t>
            </a:r>
            <a:r>
              <a:rPr lang="en-US" dirty="0" err="1"/>
              <a:t>onClick</a:t>
            </a:r>
            <a:r>
              <a:rPr lang="en-US" dirty="0"/>
              <a:t>(View view) {</a:t>
            </a:r>
          </a:p>
          <a:p>
            <a:r>
              <a:rPr lang="en-US" dirty="0"/>
              <a:t>                </a:t>
            </a:r>
            <a:r>
              <a:rPr lang="en-US" dirty="0" err="1"/>
              <a:t>handleForm</a:t>
            </a:r>
            <a:r>
              <a:rPr lang="en-US" dirty="0"/>
              <a:t>();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05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FAFC-A1D1-68BD-CAC2-128BAF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C6A9-2876-BFB5-1D10-313C16D9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private void </a:t>
            </a:r>
            <a:r>
              <a:rPr lang="en-US" dirty="0" err="1"/>
              <a:t>handleForm</a:t>
            </a:r>
            <a:r>
              <a:rPr lang="en-US" dirty="0"/>
              <a:t>() {</a:t>
            </a:r>
          </a:p>
          <a:p>
            <a:endParaRPr lang="en-US" dirty="0"/>
          </a:p>
          <a:p>
            <a:r>
              <a:rPr lang="en-US" dirty="0"/>
              <a:t>        String name = </a:t>
            </a:r>
            <a:r>
              <a:rPr lang="en-US" dirty="0" err="1"/>
              <a:t>etName.getText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().trim();</a:t>
            </a:r>
          </a:p>
          <a:p>
            <a:r>
              <a:rPr lang="en-US" dirty="0"/>
              <a:t>        String email = </a:t>
            </a:r>
            <a:r>
              <a:rPr lang="en-US" dirty="0" err="1"/>
              <a:t>etEmail.getText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().trim();</a:t>
            </a:r>
          </a:p>
          <a:p>
            <a:r>
              <a:rPr lang="en-US" dirty="0"/>
              <a:t>        String password = </a:t>
            </a:r>
            <a:r>
              <a:rPr lang="en-US" dirty="0" err="1"/>
              <a:t>etPassword.getText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name.isEmpty</a:t>
            </a:r>
            <a:r>
              <a:rPr lang="en-US" dirty="0"/>
              <a:t>()) {</a:t>
            </a:r>
          </a:p>
          <a:p>
            <a:r>
              <a:rPr lang="en-US" dirty="0"/>
              <a:t>            </a:t>
            </a:r>
            <a:r>
              <a:rPr lang="en-US" dirty="0" err="1"/>
              <a:t>etName.setError</a:t>
            </a:r>
            <a:r>
              <a:rPr lang="en-US" dirty="0"/>
              <a:t>("Name required");</a:t>
            </a:r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email.isEmpty</a:t>
            </a:r>
            <a:r>
              <a:rPr lang="en-US" dirty="0"/>
              <a:t>()) {</a:t>
            </a:r>
          </a:p>
          <a:p>
            <a:r>
              <a:rPr lang="en-US" dirty="0"/>
              <a:t>            </a:t>
            </a:r>
            <a:r>
              <a:rPr lang="en-US" dirty="0" err="1"/>
              <a:t>etEmail.setError</a:t>
            </a:r>
            <a:r>
              <a:rPr lang="en-US" dirty="0"/>
              <a:t>("Email required");</a:t>
            </a:r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014238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C742-9C55-A43C-3395-90179DCA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AFBC-AC31-1213-4847-47E2DAD0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if (</a:t>
            </a:r>
            <a:r>
              <a:rPr lang="en-US" dirty="0" err="1"/>
              <a:t>password.length</a:t>
            </a:r>
            <a:r>
              <a:rPr lang="en-US" dirty="0"/>
              <a:t>() &lt; 6) {</a:t>
            </a:r>
          </a:p>
          <a:p>
            <a:r>
              <a:rPr lang="en-US" dirty="0"/>
              <a:t>            </a:t>
            </a:r>
            <a:r>
              <a:rPr lang="en-US" dirty="0" err="1"/>
              <a:t>etPassword.setError</a:t>
            </a:r>
            <a:r>
              <a:rPr lang="en-US" dirty="0"/>
              <a:t>("Password must be at least 6 characters");</a:t>
            </a:r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if (!</a:t>
            </a:r>
            <a:r>
              <a:rPr lang="en-US" dirty="0" err="1"/>
              <a:t>cbAgree.isChecked</a:t>
            </a:r>
            <a:r>
              <a:rPr lang="en-US" dirty="0"/>
              <a:t>()) {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"Please agree to terms",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int </a:t>
            </a:r>
            <a:r>
              <a:rPr lang="en-US" dirty="0" err="1"/>
              <a:t>selectedGenderId</a:t>
            </a:r>
            <a:r>
              <a:rPr lang="en-US" dirty="0"/>
              <a:t> = </a:t>
            </a:r>
            <a:r>
              <a:rPr lang="en-US" dirty="0" err="1"/>
              <a:t>rgGender.getCheckedRadioButtonId</a:t>
            </a:r>
            <a:r>
              <a:rPr lang="en-US" dirty="0"/>
              <a:t>();</a:t>
            </a:r>
          </a:p>
          <a:p>
            <a:r>
              <a:rPr lang="en-US" dirty="0"/>
              <a:t>        if (</a:t>
            </a:r>
            <a:r>
              <a:rPr lang="en-US" dirty="0" err="1"/>
              <a:t>selectedGenderId</a:t>
            </a:r>
            <a:r>
              <a:rPr lang="en-US" dirty="0"/>
              <a:t> == -1) {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"Select gender",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    return;</a:t>
            </a:r>
          </a:p>
        </p:txBody>
      </p:sp>
    </p:spTree>
    <p:extLst>
      <p:ext uri="{BB962C8B-B14F-4D97-AF65-F5344CB8AC3E}">
        <p14:creationId xmlns:p14="http://schemas.microsoft.com/office/powerpoint/2010/main" val="366220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D0AB-C888-7EE9-660E-6AB05C5A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C461-E484-E95E-06CC-F5609CFB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RadioButton</a:t>
            </a:r>
            <a:r>
              <a:rPr lang="en-US" dirty="0"/>
              <a:t> </a:t>
            </a:r>
            <a:r>
              <a:rPr lang="en-US" dirty="0" err="1"/>
              <a:t>rbGender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selectedGenderId</a:t>
            </a:r>
            <a:r>
              <a:rPr lang="en-US" dirty="0"/>
              <a:t>);</a:t>
            </a:r>
          </a:p>
          <a:p>
            <a:r>
              <a:rPr lang="en-US" dirty="0"/>
              <a:t>        String gender = </a:t>
            </a:r>
            <a:r>
              <a:rPr lang="en-US" dirty="0" err="1"/>
              <a:t>rbGender.getText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Toast.makeText</a:t>
            </a:r>
            <a:r>
              <a:rPr lang="en-US" dirty="0"/>
              <a:t>(this,</a:t>
            </a:r>
          </a:p>
          <a:p>
            <a:r>
              <a:rPr lang="en-US" dirty="0"/>
              <a:t>                "Name: " + name +</a:t>
            </a:r>
          </a:p>
          <a:p>
            <a:r>
              <a:rPr lang="en-US" dirty="0"/>
              <a:t>                "\</a:t>
            </a:r>
            <a:r>
              <a:rPr lang="en-US" dirty="0" err="1"/>
              <a:t>nEmail</a:t>
            </a:r>
            <a:r>
              <a:rPr lang="en-US" dirty="0"/>
              <a:t>: " + email +</a:t>
            </a:r>
          </a:p>
          <a:p>
            <a:r>
              <a:rPr lang="en-US" dirty="0"/>
              <a:t>                "\</a:t>
            </a:r>
            <a:r>
              <a:rPr lang="en-US" dirty="0" err="1"/>
              <a:t>nGender</a:t>
            </a:r>
            <a:r>
              <a:rPr lang="en-US" dirty="0"/>
              <a:t>: " + gender,</a:t>
            </a:r>
          </a:p>
          <a:p>
            <a:r>
              <a:rPr lang="en-US" dirty="0"/>
              <a:t>                </a:t>
            </a:r>
            <a:r>
              <a:rPr lang="en-US" dirty="0" err="1"/>
              <a:t>Toast.LENGTH_LONG</a:t>
            </a:r>
            <a:r>
              <a:rPr lang="en-US" dirty="0"/>
              <a:t>).show();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8208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AB28-AEA5-6EB3-1CFE-6B25C31B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87C96-41E1-4B0F-95EE-E442F3796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Concepts Covered (Exam + Lab)</a:t>
            </a:r>
          </a:p>
          <a:p>
            <a:r>
              <a:rPr lang="en-US" dirty="0"/>
              <a:t>✔ </a:t>
            </a:r>
            <a:r>
              <a:rPr lang="en-US" dirty="0" err="1"/>
              <a:t>EditText</a:t>
            </a:r>
            <a:r>
              <a:rPr lang="en-US" dirty="0"/>
              <a:t> input handling</a:t>
            </a:r>
            <a:br>
              <a:rPr lang="en-US" dirty="0"/>
            </a:br>
            <a:r>
              <a:rPr lang="en-US" dirty="0"/>
              <a:t>✔ Button click events</a:t>
            </a:r>
            <a:br>
              <a:rPr lang="en-US" dirty="0"/>
            </a:br>
            <a:r>
              <a:rPr lang="en-US" dirty="0"/>
              <a:t>✔ Checkbox validation</a:t>
            </a: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RadioButton</a:t>
            </a:r>
            <a:r>
              <a:rPr lang="en-US" dirty="0"/>
              <a:t> selection</a:t>
            </a:r>
            <a:br>
              <a:rPr lang="en-US" dirty="0"/>
            </a:br>
            <a:r>
              <a:rPr lang="en-US" dirty="0"/>
              <a:t>✔ Form validation</a:t>
            </a:r>
            <a:br>
              <a:rPr lang="en-US" dirty="0"/>
            </a:br>
            <a:r>
              <a:rPr lang="en-US" dirty="0"/>
              <a:t>✔ Toast user feedback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55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9A24-3815-8259-E009-808CE5A1E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A283D-718D-82C8-B723-7D1AB89A4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🧪 Suggested Lab Task</a:t>
            </a:r>
          </a:p>
          <a:p>
            <a:r>
              <a:rPr lang="en-US" dirty="0"/>
              <a:t>Create a </a:t>
            </a:r>
            <a:r>
              <a:rPr lang="en-US" b="1" dirty="0"/>
              <a:t>Student Registration Form</a:t>
            </a:r>
            <a:r>
              <a:rPr lang="en-US" dirty="0"/>
              <a:t> with:</a:t>
            </a:r>
          </a:p>
          <a:p>
            <a:r>
              <a:rPr lang="en-US" dirty="0"/>
              <a:t>Name, Roll No, Email</a:t>
            </a:r>
          </a:p>
          <a:p>
            <a:r>
              <a:rPr lang="en-US" dirty="0"/>
              <a:t>Gender (</a:t>
            </a:r>
            <a:r>
              <a:rPr lang="en-US" dirty="0" err="1"/>
              <a:t>RadioButton</a:t>
            </a:r>
            <a:r>
              <a:rPr lang="en-US" dirty="0"/>
              <a:t>)</a:t>
            </a:r>
          </a:p>
          <a:p>
            <a:r>
              <a:rPr lang="en-US" dirty="0"/>
              <a:t>Subjects (Checkbox)</a:t>
            </a:r>
          </a:p>
          <a:p>
            <a:r>
              <a:rPr lang="en-US"/>
              <a:t>Submit button with validation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3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1322</Words>
  <Application>Microsoft Office PowerPoint</Application>
  <PresentationFormat>Widescreen</PresentationFormat>
  <Paragraphs>220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User Input Handling &amp; Form Controls</vt:lpstr>
      <vt:lpstr>1. Introduction </vt:lpstr>
      <vt:lpstr>2. Types of User Input in Mobile Apps </vt:lpstr>
      <vt:lpstr>3. Form Controls in Mobile Applications </vt:lpstr>
      <vt:lpstr>3.2 Button Controls </vt:lpstr>
      <vt:lpstr>3.3 Selection Controls </vt:lpstr>
      <vt:lpstr>3.4 Date and Time Controls </vt:lpstr>
      <vt:lpstr>4. Handling User Input (Event Handling) </vt:lpstr>
      <vt:lpstr>4.2 Retrieving Input Values </vt:lpstr>
      <vt:lpstr>5. Form Validation </vt:lpstr>
      <vt:lpstr>5.2 Common Validation Techniques </vt:lpstr>
      <vt:lpstr>6. Error Handling and User Feedback </vt:lpstr>
      <vt:lpstr>7. Security Considerations </vt:lpstr>
      <vt:lpstr>10. Summary </vt:lpstr>
      <vt:lpstr>XML Layout (activity_main.xml)</vt:lpstr>
      <vt:lpstr>PowerPoint Presentation</vt:lpstr>
      <vt:lpstr>PowerPoint Presentation</vt:lpstr>
      <vt:lpstr>PowerPoint Presentation</vt:lpstr>
      <vt:lpstr>Java Code (MainActivity.java)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38</cp:revision>
  <dcterms:created xsi:type="dcterms:W3CDTF">2026-01-20T05:22:18Z</dcterms:created>
  <dcterms:modified xsi:type="dcterms:W3CDTF">2026-01-20T05:41:29Z</dcterms:modified>
</cp:coreProperties>
</file>